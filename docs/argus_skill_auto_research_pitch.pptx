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6583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37630"/>
                </a:solidFill>
                <a:latin typeface="Aptos"/>
              </a:rPr>
              <a:t>Argus-Skill Auto-Research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42416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1C2024"/>
                </a:solidFill>
                <a:latin typeface="Aptos"/>
              </a:rPr>
              <a:t>From long-horizon agent to paper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87168"/>
            <a:ext cx="932688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86270"/>
                </a:solidFill>
                <a:latin typeface="Aptos"/>
              </a:rPr>
              <a:t>A supervised autonomous pipeline for EMNLP-style research: discover, test, write, review, and iterate with artifact-level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1874519" cy="621792"/>
          </a:xfrm>
          <a:prstGeom prst="round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63240" y="4892040"/>
            <a:ext cx="1874519" cy="621792"/>
          </a:xfrm>
          <a:prstGeom prst="roundRect">
            <a:avLst/>
          </a:prstGeom>
          <a:solidFill>
            <a:srgbClr val="257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0" y="4892040"/>
            <a:ext cx="1874519" cy="621792"/>
          </a:xfrm>
          <a:prstGeom prst="round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4892040"/>
            <a:ext cx="1874519" cy="621792"/>
          </a:xfrm>
          <a:prstGeom prst="roundRect">
            <a:avLst/>
          </a:prstGeom>
          <a:solidFill>
            <a:srgbClr val="705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5047488"/>
            <a:ext cx="1371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Daemon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5047488"/>
            <a:ext cx="1371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047488"/>
            <a:ext cx="1371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5047488"/>
            <a:ext cx="1371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28232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86270"/>
                </a:solidFill>
                <a:latin typeface="Aptos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C2024"/>
                </a:solidFill>
                <a:latin typeface="Aptos"/>
              </a:rPr>
              <a:t>The gap is the last 30%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7280" cy="45720"/>
          </a:xfrm>
          <a:prstGeom prst="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789920" cy="4023360"/>
          </a:xfrm>
          <a:prstGeom prst="rect">
            <a:avLst/>
          </a:prstGeom>
          <a:noFill/>
        </p:spPr>
        <p:txBody>
          <a:bodyPr wrap="square" lIns="50800" rIns="50800" tIns="0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Most research agents can draft an idea, run a toy experiment, and produce a plausible PDF.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Reviewers reject the hard part: weak grounding, thin experiments, unsupported claims, bad citations, fake figures, stale artifacts, and bad page flow.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Argus-Skill is built to make that hard 30% explicit, testable, and repeatable.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5641848"/>
            <a:ext cx="1083564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52400"/>
          <a:lstStyle/>
          <a:p>
            <a:pPr algn="ctr">
              <a:defRPr sz="1800" b="1">
                <a:solidFill>
                  <a:srgbClr val="2B5DB3"/>
                </a:solidFill>
                <a:latin typeface="Aptos"/>
              </a:defRPr>
            </a:pPr>
            <a:r>
              <a:t>Target: not just a paper-shaped PDF, but a reviewable evidence package.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28232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86270"/>
                </a:solidFill>
                <a:latin typeface="Aptos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C2024"/>
                </a:solidFill>
                <a:latin typeface="Aptos"/>
              </a:rPr>
              <a:t>What exists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7280" cy="45720"/>
          </a:xfrm>
          <a:prstGeom prst="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109728" cy="1600200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160020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B5DB3"/>
                </a:solidFill>
                <a:latin typeface="Aptos"/>
              </a:rPr>
              <a:t>7x24 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029968"/>
            <a:ext cx="443484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2024"/>
                </a:solidFill>
                <a:latin typeface="Aptos"/>
              </a:rPr>
              <a:t>Continuous planner, engineer, reviewer, critic loop with resumable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109728" cy="1600200"/>
          </a:xfrm>
          <a:prstGeom prst="rect">
            <a:avLst/>
          </a:prstGeom>
          <a:solidFill>
            <a:srgbClr val="257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60020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57F5D"/>
                </a:solidFill>
                <a:latin typeface="Aptos"/>
              </a:rPr>
              <a:t>34 built-in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2029968"/>
            <a:ext cx="443484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2024"/>
                </a:solidFill>
                <a:latin typeface="Aptos"/>
              </a:rPr>
              <a:t>Domain router plus ideation, grounding, benchmark runs, ablations, claims, figures, drafting, review, assurance.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03320"/>
            <a:ext cx="109728" cy="1600200"/>
          </a:xfrm>
          <a:prstGeom prst="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388620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37630"/>
                </a:solidFill>
                <a:latin typeface="Aptos"/>
              </a:rPr>
              <a:t>Official entrypoint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4315968"/>
            <a:ext cx="443484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2024"/>
                </a:solidFill>
                <a:latin typeface="Aptos"/>
              </a:rPr>
              <a:t>Initializes AGENTS.md, built-in skills, and reusable LLM/image helper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0332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703320"/>
            <a:ext cx="109728" cy="1600200"/>
          </a:xfrm>
          <a:prstGeom prst="rect">
            <a:avLst/>
          </a:prstGeom>
          <a:solidFill>
            <a:srgbClr val="705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5976" y="388620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058B0"/>
                </a:solidFill>
                <a:latin typeface="Aptos"/>
              </a:rPr>
              <a:t>CI-backed codebase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4315968"/>
            <a:ext cx="443484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2024"/>
                </a:solidFill>
                <a:latin typeface="Aptos"/>
              </a:rPr>
              <a:t>Latest merged tree passes pytest, ruff, and mypy locally.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28232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86270"/>
                </a:solidFill>
                <a:latin typeface="Aptos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C2024"/>
                </a:solidFill>
                <a:latin typeface="Aptos"/>
              </a:rPr>
              <a:t>Evidence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7280" cy="45720"/>
          </a:xfrm>
          <a:prstGeom prst="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072" y="2331720"/>
            <a:ext cx="1572768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2B5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514600"/>
            <a:ext cx="12801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B5DB3"/>
                </a:solidFill>
                <a:latin typeface="Aptos"/>
              </a:rPr>
              <a:t>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898648"/>
            <a:ext cx="133502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86270"/>
                </a:solidFill>
                <a:latin typeface="Aptos"/>
              </a:rPr>
              <a:t>literature + novelty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6272" y="2770632"/>
            <a:ext cx="265176" cy="292608"/>
          </a:xfrm>
          <a:prstGeom prst="rightArrow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59736" y="2331720"/>
            <a:ext cx="1572768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257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2514600"/>
            <a:ext cx="12801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57F5D"/>
                </a:solidFill>
                <a:latin typeface="Aptos"/>
              </a:rPr>
              <a:t>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898648"/>
            <a:ext cx="133502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86270"/>
                </a:solidFill>
                <a:latin typeface="Aptos"/>
              </a:rPr>
              <a:t>tasks + baselines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59936" y="2770632"/>
            <a:ext cx="265176" cy="292608"/>
          </a:xfrm>
          <a:prstGeom prst="rightArrow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2331720"/>
            <a:ext cx="1572768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37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514600"/>
            <a:ext cx="12801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37630"/>
                </a:solidFill>
                <a:latin typeface="Aptos"/>
              </a:rPr>
              <a:t>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898648"/>
            <a:ext cx="133502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86270"/>
                </a:solidFill>
                <a:latin typeface="Aptos"/>
              </a:rPr>
              <a:t>raw scored rows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3600" y="2770632"/>
            <a:ext cx="265176" cy="292608"/>
          </a:xfrm>
          <a:prstGeom prst="rightArrow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7064" y="2331720"/>
            <a:ext cx="1572768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705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514600"/>
            <a:ext cx="12801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7058B0"/>
                </a:solidFill>
                <a:latin typeface="Aptos"/>
              </a:rPr>
              <a:t>Claims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898648"/>
            <a:ext cx="133502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86270"/>
                </a:solidFill>
                <a:latin typeface="Aptos"/>
              </a:rPr>
              <a:t>result-to-claim audit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27263" y="2770632"/>
            <a:ext cx="265176" cy="292608"/>
          </a:xfrm>
          <a:prstGeom prst="rightArrow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0728" y="2331720"/>
            <a:ext cx="1572768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2B5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2514600"/>
            <a:ext cx="12801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B5DB3"/>
                </a:solidFill>
                <a:latin typeface="Aptos"/>
              </a:rPr>
              <a:t>Paper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898648"/>
            <a:ext cx="133502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86270"/>
                </a:solidFill>
                <a:latin typeface="Aptos"/>
              </a:rPr>
              <a:t>figures + LaTeX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10928" y="2770632"/>
            <a:ext cx="265176" cy="292608"/>
          </a:xfrm>
          <a:prstGeom prst="rightArrow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94392" y="2331720"/>
            <a:ext cx="1572768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257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0696" y="2514600"/>
            <a:ext cx="12801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57F5D"/>
                </a:solidFill>
                <a:latin typeface="Aptos"/>
              </a:rPr>
              <a:t>Assurance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3264" y="2898648"/>
            <a:ext cx="133502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86270"/>
                </a:solidFill>
                <a:latin typeface="Aptos"/>
              </a:rPr>
              <a:t>reviews + final gate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5074920"/>
            <a:ext cx="1083564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52400"/>
          <a:lstStyle/>
          <a:p>
            <a:pPr algn="ctr">
              <a:defRPr sz="1800" b="1">
                <a:solidFill>
                  <a:srgbClr val="2B5DB3"/>
                </a:solidFill>
                <a:latin typeface="Aptos"/>
              </a:defRPr>
            </a:pPr>
            <a:r>
              <a:t>Each stage leaves machine-checkable artifacts, so the next agent round repairs the real blocker instead of guessing.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28232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86270"/>
                </a:solidFill>
                <a:latin typeface="Aptos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C2024"/>
                </a:solidFill>
                <a:latin typeface="Aptos"/>
              </a:rPr>
              <a:t>Concrete gates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7280" cy="45720"/>
          </a:xfrm>
          <a:prstGeom prst="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789920" cy="4023360"/>
          </a:xfrm>
          <a:prstGeom prst="rect">
            <a:avLst/>
          </a:prstGeom>
          <a:noFill/>
        </p:spPr>
        <p:txBody>
          <a:bodyPr wrap="square" lIns="50800" rIns="50800" tIns="0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Full-scale evidence: blocks pilot PDFs and incomplete method/baseline matrices.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Claim graph: numerical claims must trace to raw artifacts and canonical tables.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Image-2 contract: generated raster, prompt/output hashes, inspection, review, and provenance.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Citation/reference hygiene: catches dumps, placeholder authors, unresolved refs, and shallow bibliography.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Format/layout review: ACL/EMNLP page rhythm, visual anchors, overfull boxes, reference/appendix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5641848"/>
            <a:ext cx="1083564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52400"/>
          <a:lstStyle/>
          <a:p>
            <a:pPr algn="ctr">
              <a:defRPr sz="1800" b="1">
                <a:solidFill>
                  <a:srgbClr val="2B5DB3"/>
                </a:solidFill>
                <a:latin typeface="Aptos"/>
              </a:defRPr>
            </a:pPr>
            <a:r>
              <a:t>These gates convert vague “make it better” work into concrete repair routes.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28232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86270"/>
                </a:solidFill>
                <a:latin typeface="Aptos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C2024"/>
                </a:solidFill>
                <a:latin typeface="Aptos"/>
              </a:rPr>
              <a:t>What v7-v20 taught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7280" cy="45720"/>
          </a:xfrm>
          <a:prstGeom prst="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789920" cy="4023360"/>
          </a:xfrm>
          <a:prstGeom prst="rect">
            <a:avLst/>
          </a:prstGeom>
          <a:noFill/>
        </p:spPr>
        <p:txBody>
          <a:bodyPr wrap="square" lIns="50800" rIns="50800" tIns="0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The agent was optimizing the gate it was given, not refusing to write more.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Old bug: References on page 8 were accepted, so seven body pages looked “done”.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Old task wording pushed local float/prose patches instead of evidence-backed expansion.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Old method-readability rule accidentally encouraged writing Argus/Codex internals into the paper.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5641848"/>
            <a:ext cx="1083564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52400"/>
          <a:lstStyle/>
          <a:p>
            <a:pPr algn="ctr">
              <a:defRPr sz="1800" b="1">
                <a:solidFill>
                  <a:srgbClr val="2B5DB3"/>
                </a:solidFill>
                <a:latin typeface="Aptos"/>
              </a:defRPr>
            </a:pPr>
            <a:r>
              <a:t>Latest fix: references must start after the eight-page body; underlength routes to experiments/content; Method describes the evaluated system, not our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28232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86270"/>
                </a:solidFill>
                <a:latin typeface="Aptos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C2024"/>
                </a:solidFill>
                <a:latin typeface="Aptos"/>
              </a:rPr>
              <a:t>Why this is mentor-worthy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7280" cy="45720"/>
          </a:xfrm>
          <a:prstGeom prst="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109728" cy="1600200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160020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B5DB3"/>
                </a:solidFill>
                <a:latin typeface="Aptos"/>
              </a:rPr>
              <a:t>Advising leverage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029968"/>
            <a:ext cx="443484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2024"/>
                </a:solidFill>
                <a:latin typeface="Aptos"/>
              </a:rPr>
              <a:t>Mentor time moves to thesis quality, experiment design, and claim calibration.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109728" cy="1600200"/>
          </a:xfrm>
          <a:prstGeom prst="rect">
            <a:avLst/>
          </a:prstGeom>
          <a:solidFill>
            <a:srgbClr val="257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60020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57F5D"/>
                </a:solidFill>
                <a:latin typeface="Aptos"/>
              </a:rPr>
              <a:t>Inspectability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2029968"/>
            <a:ext cx="443484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2024"/>
                </a:solidFill>
                <a:latin typeface="Aptos"/>
              </a:rPr>
              <a:t>Idea provenance, benchmark provenance, raw runs, claims, figures, reviews, and final gates are 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03320"/>
            <a:ext cx="109728" cy="1600200"/>
          </a:xfrm>
          <a:prstGeom prst="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388620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37630"/>
                </a:solidFill>
                <a:latin typeface="Aptos"/>
              </a:rPr>
              <a:t>Reusable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4315968"/>
            <a:ext cx="443484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2024"/>
                </a:solidFill>
                <a:latin typeface="Aptos"/>
              </a:rPr>
              <a:t>A failed paper still leaves skills, validators, code, and audit artifacts for the next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0332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703320"/>
            <a:ext cx="109728" cy="1600200"/>
          </a:xfrm>
          <a:prstGeom prst="rect">
            <a:avLst/>
          </a:prstGeom>
          <a:solidFill>
            <a:srgbClr val="705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5976" y="388620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058B0"/>
                </a:solidFill>
                <a:latin typeface="Aptos"/>
              </a:rPr>
              <a:t>Platform upside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4315968"/>
            <a:ext cx="443484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2024"/>
                </a:solidFill>
                <a:latin typeface="Aptos"/>
              </a:rPr>
              <a:t>Every attempt hardens the skill library and narrows the next failure mode.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28232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86270"/>
                </a:solidFill>
                <a:latin typeface="Aptos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C2024"/>
                </a:solidFill>
                <a:latin typeface="Aptos"/>
              </a:rPr>
              <a:t>Near-term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7280" cy="45720"/>
          </a:xfrm>
          <a:prstGeom prst="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789920" cy="4023360"/>
          </a:xfrm>
          <a:prstGeom prst="rect">
            <a:avLst/>
          </a:prstGeom>
          <a:noFill/>
        </p:spPr>
        <p:txBody>
          <a:bodyPr wrap="square" lIns="50800" rIns="50800" tIns="0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Produce one flagship auto-research paper that passes validate-full-emnlp end to end.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Add a dashboard for daemon state, evidence gaps, page budget, and review blockers.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Expand benchmark sourcing from synthetic-only tasks toward public/frontier suites where feasible.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Insert mentor checkpoints: idea shortlist, experiment design, claim calibration, final go/no-go.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Package repeatable entrypoints across EMNLP, CV, multimodal, AI infrastructure, and training-based research.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86270"/>
                </a:solidFill>
                <a:latin typeface="Aptos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C2024"/>
                </a:solidFill>
                <a:latin typeface="Aptos"/>
              </a:rPr>
              <a:t>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7280" cy="45720"/>
          </a:xfrm>
          <a:prstGeom prst="rect">
            <a:avLst/>
          </a:prstGeom>
          <a:solidFill>
            <a:srgbClr val="D3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789920" cy="4023360"/>
          </a:xfrm>
          <a:prstGeom prst="rect">
            <a:avLst/>
          </a:prstGeom>
          <a:noFill/>
        </p:spPr>
        <p:txBody>
          <a:bodyPr wrap="square" lIns="50800" rIns="50800" tIns="0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30 minutes: judge whether the current direction deserves to become the flagship demo paper.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Scientific bar: define what counts as a nontrivial contribution and acceptable EMNLP/ACL evidence.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Resources: compute/API budget for full benchmark runs and model-backed review/figure generation.</a:t>
            </a:r>
          </a:p>
          <a:p>
            <a:pPr>
              <a:spcAft>
                <a:spcPts val="1300"/>
              </a:spcAft>
              <a:defRPr sz="2100">
                <a:solidFill>
                  <a:srgbClr val="1C2024"/>
                </a:solidFill>
                <a:latin typeface="Aptos"/>
              </a:defRPr>
            </a:pPr>
            <a:r>
              <a:t>Outcome target: credible submission package plus a reusable autonomous research system, even if paper 1 is not accepted.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5641848"/>
            <a:ext cx="1083564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52400"/>
          <a:lstStyle/>
          <a:p>
            <a:pPr algn="ctr">
              <a:defRPr sz="1800" b="1">
                <a:solidFill>
                  <a:srgbClr val="2B5DB3"/>
                </a:solidFill>
                <a:latin typeface="Aptos"/>
              </a:defRPr>
            </a:pPr>
            <a:r>
              <a:t>The pitch: fund the system because each paper attempt compounds into better autonomous research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28232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86270"/>
                </a:solidFill>
                <a:latin typeface="Aptos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
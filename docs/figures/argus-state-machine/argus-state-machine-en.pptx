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  <Relationship Id="rId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figure shows the repaired production state machine rather than the earlier risk diagnosis. Ordinary Planner batches and replacement plans are cycle-checked and committed atomically, while both next-pending inspection and actual claiming perform the same dependency reconciliation, so legacy cycles, missing dependencies, and failed dependencies reach an explicit skipped state instead of masquerading as an empty queue. The Engineer–Reviewer same-scope loop remains intact, but every scope-changing replan carries a plan identity and version, commits by compare-and-swap, and fails closed after three replacement attempts produce nothing usable. Pauses, operator answers, and upgrades now have separate exits: externally recoverable pauses start a fresh attempt, operator answers rewire every live downstream dependency, upgrade requests return immediately while healthy long experiments finish at a natural boundary, and a new intent reopens a completed workspace stage.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second figure maps each of the thirteen former liveness risks to its implemented guard and terminal outcome. The six P0 paths are closed by pre-commit cycle rejection, read-time SCC termination, versioned replacement, a three-strike circuit breaker, automatic wake-up, and atomic dependency rewiring; the five P1 stalls are closed by terminal HOLD handling, nonblocking upgrade polling, conservative unpriced-cost holds, bounded Manager feedback, and context-aware deduplication. Concurrency now follows one pipeline-then-session lock order, and Planner no-runner or exception paths back off from fifteen to three hundred seconds rather than entering a retry storm. Verification covered the expanded life, Manager, and daemon suites, twenty consecutive stress rounds for concurrent claims, concurrent answers, and filtered replans, plus all terminal and web frontend tests, with no duplicate claim, duplicate continuation, or non-terminating state component observed.</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rgus_state_machine_e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rgus_state_machine_e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Group 10"/>
          <p:cNvGrpSpPr/>
          <p:nvPr/>
        </p:nvGrpSpPr>
        <p:grpSpPr>
          <a:xfrm>
            <a:off x="381000" y="222885"/>
            <a:ext cx="11434953" cy="1022985"/>
            <a:chOff x="381000" y="222885"/>
            <a:chExt cx="11434953" cy="1022985"/>
          </a:xfrm>
        </p:grpSpPr>
        <p:sp>
          <p:nvSpPr>
            <p:cNvPr id="2" name="Rectangle 2"/>
            <p:cNvSpPr/>
            <p:nvPr/>
          </p:nvSpPr>
          <p:spPr>
            <a:xfrm>
              <a:off x="381000" y="238125"/>
              <a:ext cx="66675" cy="628650"/>
            </a:xfrm>
            <a:prstGeom prst="roundRect">
              <a:avLst>
                <a:gd name="adj" fmla="val 50000"/>
              </a:avLst>
            </a:prstGeom>
            <a:solidFill>
              <a:schemeClr val="accent6"/>
            </a:solidFill>
            <a:ln>
              <a:noFill/>
            </a:ln>
          </p:spPr>
        </p:sp>
        <p:sp>
          <p:nvSpPr>
            <p:cNvPr id="3" name="TextBox 3"/>
            <p:cNvSpPr txBox="1"/>
            <p:nvPr/>
          </p:nvSpPr>
          <p:spPr>
            <a:xfrm>
              <a:off x="567309" y="222885"/>
              <a:ext cx="5553676"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Repaired Argus State Machine</a:t>
              </a:r>
            </a:p>
          </p:txBody>
        </p:sp>
        <p:sp>
          <p:nvSpPr>
            <p:cNvPr id="4" name="TextBox 4"/>
            <p:cNvSpPr txBox="1"/>
            <p:nvPr/>
          </p:nvSpPr>
          <p:spPr>
            <a:xfrm>
              <a:off x="567309" y="546735"/>
              <a:ext cx="5168645"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Every Wait Has an Exit Edge</a:t>
              </a:r>
            </a:p>
          </p:txBody>
        </p:sp>
        <p:sp>
          <p:nvSpPr>
            <p:cNvPr id="5" name="TextBox 5"/>
            <p:cNvSpPr txBox="1"/>
            <p:nvPr/>
          </p:nvSpPr>
          <p:spPr>
            <a:xfrm>
              <a:off x="573405" y="952500"/>
              <a:ext cx="965537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Versioned CAS, wake-up, circuit breaking, and human arbitration close every non-progress path.</a:t>
              </a:r>
            </a:p>
          </p:txBody>
        </p:sp>
        <p:sp>
          <p:nvSpPr>
            <p:cNvPr id="6" name="TextBox 6"/>
            <p:cNvSpPr txBox="1"/>
            <p:nvPr/>
          </p:nvSpPr>
          <p:spPr>
            <a:xfrm>
              <a:off x="9508117" y="237649"/>
              <a:ext cx="2307836" cy="190690"/>
            </a:xfrm>
            <a:prstGeom prst="rect">
              <a:avLst/>
            </a:prstGeom>
            <a:noFill/>
            <a:ln>
              <a:noFill/>
            </a:ln>
          </p:spPr>
          <p:txBody>
            <a:bodyPr wrap="none" lIns="0" tIns="0" rIns="0" bIns="0" anchor="t" anchorCtr="0">
              <a:spAutoFit/>
            </a:bodyPr>
            <a:lstStyle/>
            <a:p>
              <a:pPr algn="r"/>
              <a:r>
                <a:rPr lang="en-US" sz="980" b="1" dirty="0">
                  <a:solidFill>
                    <a:schemeClr val="accent6"/>
                  </a:solidFill>
                  <a:latin typeface="Consolas"/>
                  <a:ea typeface="Consolas"/>
                  <a:cs typeface="Consolas"/>
                </a:rPr>
                <a:t>FIG. 1 · REPAIRED CONTROL PLANE</a:t>
              </a:r>
            </a:p>
          </p:txBody>
        </p:sp>
        <p:sp>
          <p:nvSpPr>
            <p:cNvPr id="7" name="Line 7"/>
            <p:cNvSpPr/>
            <p:nvPr/>
          </p:nvSpPr>
          <p:spPr>
            <a:xfrm>
              <a:off x="9791700" y="476250"/>
              <a:ext cx="2019300" cy="9525"/>
            </a:xfrm>
            <a:custGeom>
              <a:avLst/>
              <a:gdLst/>
              <a:ahLst/>
              <a:cxnLst/>
              <a:rect l="l" t="t" r="r" b="b"/>
              <a:pathLst>
                <a:path w="2019300" h="9525">
                  <a:moveTo>
                    <a:pt x="0" y="0"/>
                  </a:moveTo>
                  <a:lnTo>
                    <a:pt x="2019300" y="0"/>
                  </a:lnTo>
                </a:path>
              </a:pathLst>
            </a:custGeom>
            <a:noFill/>
            <a:ln w="9525">
              <a:solidFill>
                <a:schemeClr val="accent4"/>
              </a:solidFill>
            </a:ln>
          </p:spPr>
        </p:sp>
        <p:sp>
          <p:nvSpPr>
            <p:cNvPr id="8" name="TextBox 8"/>
            <p:cNvSpPr txBox="1"/>
            <p:nvPr/>
          </p:nvSpPr>
          <p:spPr>
            <a:xfrm>
              <a:off x="9490718" y="580549"/>
              <a:ext cx="2325235" cy="190690"/>
            </a:xfrm>
            <a:prstGeom prst="rect">
              <a:avLst/>
            </a:prstGeom>
            <a:noFill/>
            <a:ln>
              <a:noFill/>
            </a:ln>
          </p:spPr>
          <p:txBody>
            <a:bodyPr wrap="none" lIns="0" tIns="0" rIns="0" bIns="0" anchor="t" anchorCtr="0">
              <a:spAutoFit/>
            </a:bodyPr>
            <a:lstStyle/>
            <a:p>
              <a:pPr algn="r"/>
              <a:r>
                <a:rPr lang="en-US" sz="980" dirty="0">
                  <a:solidFill>
                    <a:schemeClr val="dk1"/>
                  </a:solidFill>
                  <a:latin typeface="+mn-lt"/>
                  <a:ea typeface="+mn-ea"/>
                  <a:cs typeface="+mn-cs"/>
                </a:rPr>
                <a:t>green = progress · red = fail-closed</a:t>
              </a:r>
            </a:p>
          </p:txBody>
        </p:sp>
        <p:sp>
          <p:nvSpPr>
            <p:cNvPr id="9" name="TextBox 9"/>
            <p:cNvSpPr txBox="1"/>
            <p:nvPr/>
          </p:nvSpPr>
          <p:spPr>
            <a:xfrm>
              <a:off x="9860115" y="761524"/>
              <a:ext cx="1955838" cy="190690"/>
            </a:xfrm>
            <a:prstGeom prst="rect">
              <a:avLst/>
            </a:prstGeom>
            <a:noFill/>
            <a:ln>
              <a:noFill/>
            </a:ln>
          </p:spPr>
          <p:txBody>
            <a:bodyPr wrap="none" lIns="0" tIns="0" rIns="0" bIns="0" anchor="t" anchorCtr="0">
              <a:spAutoFit/>
            </a:bodyPr>
            <a:lstStyle/>
            <a:p>
              <a:pPr algn="r"/>
              <a:r>
                <a:rPr lang="en-US" sz="980" dirty="0">
                  <a:solidFill>
                    <a:schemeClr val="dk1"/>
                  </a:solidFill>
                  <a:latin typeface="+mn-lt"/>
                  <a:ea typeface="+mn-ea"/>
                  <a:cs typeface="+mn-cs"/>
                </a:rPr>
                <a:t>purple = authority arbitration</a:t>
              </a:r>
            </a:p>
          </p:txBody>
        </p:sp>
      </p:grpSp>
      <p:grpSp>
        <p:nvGrpSpPr>
          <p:cNvPr id="31" name="Group 31"/>
          <p:cNvGrpSpPr/>
          <p:nvPr/>
        </p:nvGrpSpPr>
        <p:grpSpPr>
          <a:xfrm>
            <a:off x="381000" y="1295400"/>
            <a:ext cx="8572500" cy="1123950"/>
            <a:chOff x="381000" y="1295400"/>
            <a:chExt cx="8572500" cy="1123950"/>
          </a:xfrm>
        </p:grpSpPr>
        <p:sp>
          <p:nvSpPr>
            <p:cNvPr id="11" name="Rectangle 11"/>
            <p:cNvSpPr/>
            <p:nvPr/>
          </p:nvSpPr>
          <p:spPr>
            <a:xfrm>
              <a:off x="381000" y="1295400"/>
              <a:ext cx="438150" cy="1123950"/>
            </a:xfrm>
            <a:prstGeom prst="roundRect">
              <a:avLst>
                <a:gd name="adj" fmla="val 17391"/>
              </a:avLst>
            </a:prstGeom>
            <a:solidFill>
              <a:schemeClr val="accent2"/>
            </a:solidFill>
            <a:ln>
              <a:noFill/>
            </a:ln>
          </p:spPr>
        </p:sp>
        <p:sp>
          <p:nvSpPr>
            <p:cNvPr id="12" name="TextBox 12"/>
            <p:cNvSpPr txBox="1"/>
            <p:nvPr/>
          </p:nvSpPr>
          <p:spPr>
            <a:xfrm>
              <a:off x="475840" y="1600200"/>
              <a:ext cx="248469" cy="293370"/>
            </a:xfrm>
            <a:prstGeom prst="rect">
              <a:avLst/>
            </a:prstGeom>
            <a:noFill/>
            <a:ln>
              <a:noFill/>
            </a:ln>
          </p:spPr>
          <p:txBody>
            <a:bodyPr wrap="none" lIns="0" tIns="0" rIns="0" bIns="0" anchor="t" anchorCtr="0">
              <a:spAutoFit/>
            </a:bodyPr>
            <a:lstStyle/>
            <a:p>
              <a:pPr algn="ctr"/>
              <a:r>
                <a:rPr lang="en-US" sz="1500" b="1" dirty="0">
                  <a:solidFill>
                    <a:srgbClr val="FBFCFE"/>
                  </a:solidFill>
                  <a:latin typeface="Consolas"/>
                  <a:ea typeface="Consolas"/>
                  <a:cs typeface="Consolas"/>
                </a:rPr>
                <a:t>01</a:t>
              </a:r>
            </a:p>
          </p:txBody>
        </p:sp>
        <p:sp>
          <p:nvSpPr>
            <p:cNvPr id="13" name="TextBox 13"/>
            <p:cNvSpPr txBox="1"/>
            <p:nvPr/>
          </p:nvSpPr>
          <p:spPr>
            <a:xfrm>
              <a:off x="410358" y="1878806"/>
              <a:ext cx="379433" cy="220028"/>
            </a:xfrm>
            <a:prstGeom prst="rect">
              <a:avLst/>
            </a:prstGeom>
            <a:noFill/>
            <a:ln>
              <a:noFill/>
            </a:ln>
          </p:spPr>
          <p:txBody>
            <a:bodyPr wrap="none" lIns="0" tIns="0" rIns="0" bIns="0" anchor="t" anchorCtr="0">
              <a:spAutoFit/>
            </a:bodyPr>
            <a:lstStyle/>
            <a:p>
              <a:pPr algn="ctr"/>
              <a:r>
                <a:rPr lang="en-US" sz="1120" b="1" dirty="0">
                  <a:solidFill>
                    <a:srgbClr val="FBFCFE"/>
                  </a:solidFill>
                  <a:latin typeface="+mn-lt"/>
                  <a:ea typeface="+mn-ea"/>
                  <a:cs typeface="+mn-cs"/>
                </a:rPr>
                <a:t>CTRL</a:t>
              </a:r>
            </a:p>
          </p:txBody>
        </p:sp>
        <p:sp>
          <p:nvSpPr>
            <p:cNvPr id="14" name="Rectangle 14"/>
            <p:cNvSpPr/>
            <p:nvPr/>
          </p:nvSpPr>
          <p:spPr>
            <a:xfrm>
              <a:off x="952500" y="1295400"/>
              <a:ext cx="8001000" cy="1123950"/>
            </a:xfrm>
            <a:prstGeom prst="roundRect">
              <a:avLst>
                <a:gd name="adj" fmla="val 8475"/>
              </a:avLst>
            </a:prstGeom>
            <a:solidFill>
              <a:schemeClr val="accent5"/>
            </a:solidFill>
            <a:ln w="14288">
              <a:solidFill>
                <a:schemeClr val="accent4"/>
              </a:solidFill>
            </a:ln>
          </p:spPr>
        </p:sp>
        <p:sp>
          <p:nvSpPr>
            <p:cNvPr id="15" name="TextBox 15"/>
            <p:cNvSpPr txBox="1"/>
            <p:nvPr/>
          </p:nvSpPr>
          <p:spPr>
            <a:xfrm>
              <a:off x="1099185" y="1383506"/>
              <a:ext cx="4067830"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CONTROL AUTHORITY · ONE WRITER FOR STAGE STATE</a:t>
              </a:r>
            </a:p>
          </p:txBody>
        </p:sp>
        <p:sp>
          <p:nvSpPr>
            <p:cNvPr id="16" name="Rectangle 16"/>
            <p:cNvSpPr/>
            <p:nvPr/>
          </p:nvSpPr>
          <p:spPr>
            <a:xfrm>
              <a:off x="1143000" y="1657350"/>
              <a:ext cx="1428750" cy="590550"/>
            </a:xfrm>
            <a:prstGeom prst="roundRect">
              <a:avLst>
                <a:gd name="adj" fmla="val 11290"/>
              </a:avLst>
            </a:prstGeom>
            <a:solidFill>
              <a:schemeClr val="lt1"/>
            </a:solidFill>
            <a:ln w="19050">
              <a:solidFill>
                <a:srgbClr val="AA3377"/>
              </a:solidFill>
            </a:ln>
          </p:spPr>
        </p:sp>
        <p:sp>
          <p:nvSpPr>
            <p:cNvPr id="17" name="TextBox 17"/>
            <p:cNvSpPr txBox="1"/>
            <p:nvPr/>
          </p:nvSpPr>
          <p:spPr>
            <a:xfrm>
              <a:off x="1358644" y="1771650"/>
              <a:ext cx="997463"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Operator</a:t>
              </a:r>
            </a:p>
          </p:txBody>
        </p:sp>
        <p:sp>
          <p:nvSpPr>
            <p:cNvPr id="18" name="TextBox 18"/>
            <p:cNvSpPr txBox="1"/>
            <p:nvPr/>
          </p:nvSpPr>
          <p:spPr>
            <a:xfrm>
              <a:off x="1031173" y="2028349"/>
              <a:ext cx="1652405"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goal · authority · answer</a:t>
              </a:r>
            </a:p>
          </p:txBody>
        </p:sp>
        <p:sp>
          <p:nvSpPr>
            <p:cNvPr id="19" name="Rectangle 19"/>
            <p:cNvSpPr/>
            <p:nvPr/>
          </p:nvSpPr>
          <p:spPr>
            <a:xfrm>
              <a:off x="3143250" y="1657350"/>
              <a:ext cx="1619250" cy="590550"/>
            </a:xfrm>
            <a:prstGeom prst="roundRect">
              <a:avLst>
                <a:gd name="adj" fmla="val 11290"/>
              </a:avLst>
            </a:prstGeom>
            <a:solidFill>
              <a:schemeClr val="lt1"/>
            </a:solidFill>
            <a:ln w="19050">
              <a:solidFill>
                <a:srgbClr val="AA3377"/>
              </a:solidFill>
            </a:ln>
          </p:spPr>
        </p:sp>
        <p:sp>
          <p:nvSpPr>
            <p:cNvPr id="20" name="TextBox 20"/>
            <p:cNvSpPr txBox="1"/>
            <p:nvPr/>
          </p:nvSpPr>
          <p:spPr>
            <a:xfrm>
              <a:off x="3512429" y="1762125"/>
              <a:ext cx="880891"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Manager</a:t>
              </a:r>
            </a:p>
          </p:txBody>
        </p:sp>
        <p:sp>
          <p:nvSpPr>
            <p:cNvPr id="21" name="TextBox 21"/>
            <p:cNvSpPr txBox="1"/>
            <p:nvPr/>
          </p:nvSpPr>
          <p:spPr>
            <a:xfrm>
              <a:off x="3031399" y="2018824"/>
              <a:ext cx="1842953"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Consolas"/>
                  <a:ea typeface="Consolas"/>
                  <a:cs typeface="Consolas"/>
                </a:rPr>
                <a:t>ADVANCE · HOLD · ROLLBACK</a:t>
              </a:r>
            </a:p>
          </p:txBody>
        </p:sp>
        <p:sp>
          <p:nvSpPr>
            <p:cNvPr id="22" name="Rectangle 22"/>
            <p:cNvSpPr/>
            <p:nvPr/>
          </p:nvSpPr>
          <p:spPr>
            <a:xfrm>
              <a:off x="5334000" y="1657350"/>
              <a:ext cx="1428750" cy="590550"/>
            </a:xfrm>
            <a:prstGeom prst="roundRect">
              <a:avLst>
                <a:gd name="adj" fmla="val 11290"/>
              </a:avLst>
            </a:prstGeom>
            <a:solidFill>
              <a:schemeClr val="lt1"/>
            </a:solidFill>
            <a:ln w="19050">
              <a:solidFill>
                <a:schemeClr val="accent2"/>
              </a:solidFill>
            </a:ln>
          </p:spPr>
        </p:sp>
        <p:sp>
          <p:nvSpPr>
            <p:cNvPr id="23" name="TextBox 23"/>
            <p:cNvSpPr txBox="1"/>
            <p:nvPr/>
          </p:nvSpPr>
          <p:spPr>
            <a:xfrm>
              <a:off x="5656021" y="1771650"/>
              <a:ext cx="784708"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Planner</a:t>
              </a:r>
            </a:p>
          </p:txBody>
        </p:sp>
        <p:sp>
          <p:nvSpPr>
            <p:cNvPr id="24" name="TextBox 24"/>
            <p:cNvSpPr txBox="1"/>
            <p:nvPr/>
          </p:nvSpPr>
          <p:spPr>
            <a:xfrm>
              <a:off x="5313903" y="2028349"/>
              <a:ext cx="1468943"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new DAG / replacement</a:t>
              </a:r>
            </a:p>
          </p:txBody>
        </p:sp>
        <p:sp>
          <p:nvSpPr>
            <p:cNvPr id="25" name="Rectangle 25"/>
            <p:cNvSpPr/>
            <p:nvPr/>
          </p:nvSpPr>
          <p:spPr>
            <a:xfrm>
              <a:off x="7334250" y="1657350"/>
              <a:ext cx="1428750" cy="590550"/>
            </a:xfrm>
            <a:prstGeom prst="roundRect">
              <a:avLst>
                <a:gd name="adj" fmla="val 11290"/>
              </a:avLst>
            </a:prstGeom>
            <a:solidFill>
              <a:schemeClr val="accent6">
                <a:alpha val="8000"/>
              </a:schemeClr>
            </a:solidFill>
            <a:ln w="19050">
              <a:solidFill>
                <a:schemeClr val="accent6"/>
              </a:solidFill>
            </a:ln>
          </p:spPr>
        </p:sp>
        <p:sp>
          <p:nvSpPr>
            <p:cNvPr id="26" name="TextBox 26"/>
            <p:cNvSpPr txBox="1"/>
            <p:nvPr/>
          </p:nvSpPr>
          <p:spPr>
            <a:xfrm>
              <a:off x="7405908" y="1776889"/>
              <a:ext cx="1285433"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Atomic commit</a:t>
              </a:r>
            </a:p>
          </p:txBody>
        </p:sp>
        <p:sp>
          <p:nvSpPr>
            <p:cNvPr id="27" name="TextBox 27"/>
            <p:cNvSpPr txBox="1"/>
            <p:nvPr/>
          </p:nvSpPr>
          <p:spPr>
            <a:xfrm>
              <a:off x="7420314" y="2018824"/>
              <a:ext cx="1256622"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Consolas"/>
                  <a:ea typeface="Consolas"/>
                  <a:cs typeface="Consolas"/>
                </a:rPr>
                <a:t>validate → write-all</a:t>
              </a:r>
            </a:p>
          </p:txBody>
        </p:sp>
        <p:sp>
          <p:nvSpPr>
            <p:cNvPr id="28" name="Line 28"/>
            <p:cNvSpPr/>
            <p:nvPr/>
          </p:nvSpPr>
          <p:spPr>
            <a:xfrm>
              <a:off x="2571750" y="1952625"/>
              <a:ext cx="495300" cy="1"/>
            </a:xfrm>
            <a:prstGeom prst="line">
              <a:avLst/>
            </a:prstGeom>
            <a:noFill/>
            <a:ln w="23812">
              <a:solidFill>
                <a:srgbClr val="AA3377"/>
              </a:solidFill>
              <a:prstDash val="lgDashDot"/>
              <a:tailEnd type="triangle" w="lg" len="lg"/>
            </a:ln>
          </p:spPr>
        </p:sp>
        <p:sp>
          <p:nvSpPr>
            <p:cNvPr id="29" name="Line 29"/>
            <p:cNvSpPr/>
            <p:nvPr/>
          </p:nvSpPr>
          <p:spPr>
            <a:xfrm>
              <a:off x="4762500" y="1952625"/>
              <a:ext cx="495300" cy="1"/>
            </a:xfrm>
            <a:prstGeom prst="line">
              <a:avLst/>
            </a:prstGeom>
            <a:noFill/>
            <a:ln w="23812">
              <a:solidFill>
                <a:schemeClr val="accent2"/>
              </a:solidFill>
              <a:tailEnd type="triangle" w="lg" len="lg"/>
            </a:ln>
          </p:spPr>
        </p:sp>
        <p:sp>
          <p:nvSpPr>
            <p:cNvPr id="30" name="Line 30"/>
            <p:cNvSpPr/>
            <p:nvPr/>
          </p:nvSpPr>
          <p:spPr>
            <a:xfrm>
              <a:off x="6762750" y="1952625"/>
              <a:ext cx="495300" cy="1"/>
            </a:xfrm>
            <a:prstGeom prst="line">
              <a:avLst/>
            </a:prstGeom>
            <a:noFill/>
            <a:ln w="23812">
              <a:solidFill>
                <a:schemeClr val="accent6"/>
              </a:solidFill>
              <a:tailEnd type="triangle" w="lg" len="lg"/>
            </a:ln>
          </p:spPr>
        </p:sp>
      </p:grpSp>
      <p:grpSp>
        <p:nvGrpSpPr>
          <p:cNvPr id="57" name="Group 57"/>
          <p:cNvGrpSpPr/>
          <p:nvPr/>
        </p:nvGrpSpPr>
        <p:grpSpPr>
          <a:xfrm>
            <a:off x="381000" y="2571750"/>
            <a:ext cx="8572500" cy="1733550"/>
            <a:chOff x="381000" y="2571750"/>
            <a:chExt cx="8572500" cy="1733550"/>
          </a:xfrm>
        </p:grpSpPr>
        <p:sp>
          <p:nvSpPr>
            <p:cNvPr id="32" name="Rectangle 32"/>
            <p:cNvSpPr/>
            <p:nvPr/>
          </p:nvSpPr>
          <p:spPr>
            <a:xfrm>
              <a:off x="381000" y="2571750"/>
              <a:ext cx="438150" cy="1733550"/>
            </a:xfrm>
            <a:prstGeom prst="roundRect">
              <a:avLst>
                <a:gd name="adj" fmla="val 17391"/>
              </a:avLst>
            </a:prstGeom>
            <a:solidFill>
              <a:schemeClr val="accent6"/>
            </a:solidFill>
            <a:ln>
              <a:noFill/>
            </a:ln>
          </p:spPr>
        </p:sp>
        <p:sp>
          <p:nvSpPr>
            <p:cNvPr id="33" name="TextBox 33"/>
            <p:cNvSpPr txBox="1"/>
            <p:nvPr/>
          </p:nvSpPr>
          <p:spPr>
            <a:xfrm>
              <a:off x="475840" y="3152775"/>
              <a:ext cx="248469" cy="293370"/>
            </a:xfrm>
            <a:prstGeom prst="rect">
              <a:avLst/>
            </a:prstGeom>
            <a:noFill/>
            <a:ln>
              <a:noFill/>
            </a:ln>
          </p:spPr>
          <p:txBody>
            <a:bodyPr wrap="none" lIns="0" tIns="0" rIns="0" bIns="0" anchor="t" anchorCtr="0">
              <a:spAutoFit/>
            </a:bodyPr>
            <a:lstStyle/>
            <a:p>
              <a:pPr algn="ctr"/>
              <a:r>
                <a:rPr lang="en-US" sz="1500" b="1" dirty="0">
                  <a:solidFill>
                    <a:srgbClr val="FBFCFE"/>
                  </a:solidFill>
                  <a:latin typeface="Consolas"/>
                  <a:ea typeface="Consolas"/>
                  <a:cs typeface="Consolas"/>
                </a:rPr>
                <a:t>02</a:t>
              </a:r>
            </a:p>
          </p:txBody>
        </p:sp>
        <p:sp>
          <p:nvSpPr>
            <p:cNvPr id="34" name="TextBox 34"/>
            <p:cNvSpPr txBox="1"/>
            <p:nvPr/>
          </p:nvSpPr>
          <p:spPr>
            <a:xfrm>
              <a:off x="410358" y="3431381"/>
              <a:ext cx="379433" cy="220028"/>
            </a:xfrm>
            <a:prstGeom prst="rect">
              <a:avLst/>
            </a:prstGeom>
            <a:noFill/>
            <a:ln>
              <a:noFill/>
            </a:ln>
          </p:spPr>
          <p:txBody>
            <a:bodyPr wrap="none" lIns="0" tIns="0" rIns="0" bIns="0" anchor="t" anchorCtr="0">
              <a:spAutoFit/>
            </a:bodyPr>
            <a:lstStyle/>
            <a:p>
              <a:pPr algn="ctr"/>
              <a:r>
                <a:rPr lang="en-US" sz="1120" b="1" dirty="0">
                  <a:solidFill>
                    <a:srgbClr val="FBFCFE"/>
                  </a:solidFill>
                  <a:latin typeface="+mn-lt"/>
                  <a:ea typeface="+mn-ea"/>
                  <a:cs typeface="+mn-cs"/>
                </a:rPr>
                <a:t>EXEC</a:t>
              </a:r>
            </a:p>
          </p:txBody>
        </p:sp>
        <p:sp>
          <p:nvSpPr>
            <p:cNvPr id="35" name="Rectangle 35"/>
            <p:cNvSpPr/>
            <p:nvPr/>
          </p:nvSpPr>
          <p:spPr>
            <a:xfrm>
              <a:off x="952500" y="2571750"/>
              <a:ext cx="8001000" cy="1733550"/>
            </a:xfrm>
            <a:prstGeom prst="roundRect">
              <a:avLst>
                <a:gd name="adj" fmla="val 5495"/>
              </a:avLst>
            </a:prstGeom>
            <a:solidFill>
              <a:schemeClr val="accent5"/>
            </a:solidFill>
            <a:ln w="14288">
              <a:solidFill>
                <a:schemeClr val="accent4"/>
              </a:solidFill>
            </a:ln>
          </p:spPr>
        </p:sp>
        <p:sp>
          <p:nvSpPr>
            <p:cNvPr id="36" name="TextBox 36"/>
            <p:cNvSpPr txBox="1"/>
            <p:nvPr/>
          </p:nvSpPr>
          <p:spPr>
            <a:xfrm>
              <a:off x="1099185" y="2669381"/>
              <a:ext cx="5339115"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BACKLOG RECONCILIATION · CLEANUP RUNS EVEN WHEN READY IS EMPTY</a:t>
              </a:r>
            </a:p>
          </p:txBody>
        </p:sp>
        <p:sp>
          <p:nvSpPr>
            <p:cNvPr id="37" name="Rectangle 37"/>
            <p:cNvSpPr/>
            <p:nvPr/>
          </p:nvSpPr>
          <p:spPr>
            <a:xfrm>
              <a:off x="1143000" y="3009900"/>
              <a:ext cx="1809750" cy="838200"/>
            </a:xfrm>
            <a:prstGeom prst="roundRect">
              <a:avLst>
                <a:gd name="adj" fmla="val 9091"/>
              </a:avLst>
            </a:prstGeom>
            <a:solidFill>
              <a:schemeClr val="lt1"/>
            </a:solidFill>
            <a:ln w="19050">
              <a:solidFill>
                <a:schemeClr val="accent6"/>
              </a:solidFill>
            </a:ln>
          </p:spPr>
        </p:sp>
        <p:sp>
          <p:nvSpPr>
            <p:cNvPr id="38" name="TextBox 38"/>
            <p:cNvSpPr txBox="1"/>
            <p:nvPr/>
          </p:nvSpPr>
          <p:spPr>
            <a:xfrm>
              <a:off x="1186196" y="3111818"/>
              <a:ext cx="1723358"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Backlog Reconciler</a:t>
              </a:r>
            </a:p>
          </p:txBody>
        </p:sp>
        <p:sp>
          <p:nvSpPr>
            <p:cNvPr id="39" name="TextBox 39"/>
            <p:cNvSpPr txBox="1"/>
            <p:nvPr/>
          </p:nvSpPr>
          <p:spPr>
            <a:xfrm>
              <a:off x="1205182" y="3380899"/>
              <a:ext cx="1685387"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Consolas"/>
                  <a:ea typeface="Consolas"/>
                  <a:cs typeface="Consolas"/>
                </a:rPr>
                <a:t>next_pending + claim_next</a:t>
              </a:r>
            </a:p>
          </p:txBody>
        </p:sp>
        <p:sp>
          <p:nvSpPr>
            <p:cNvPr id="40" name="TextBox 40"/>
            <p:cNvSpPr txBox="1"/>
            <p:nvPr/>
          </p:nvSpPr>
          <p:spPr>
            <a:xfrm>
              <a:off x="1227242" y="3580924"/>
              <a:ext cx="1641265"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mn-lt"/>
                  <a:ea typeface="+mn-ea"/>
                  <a:cs typeface="+mn-cs"/>
                </a:rPr>
                <a:t>SCC / dead deps → skipped</a:t>
              </a:r>
            </a:p>
          </p:txBody>
        </p:sp>
        <p:sp>
          <p:nvSpPr>
            <p:cNvPr id="41" name="Rectangle 41"/>
            <p:cNvSpPr/>
            <p:nvPr/>
          </p:nvSpPr>
          <p:spPr>
            <a:xfrm>
              <a:off x="3667125" y="3009900"/>
              <a:ext cx="1666875" cy="838200"/>
            </a:xfrm>
            <a:prstGeom prst="roundRect">
              <a:avLst>
                <a:gd name="adj" fmla="val 9091"/>
              </a:avLst>
            </a:prstGeom>
            <a:solidFill>
              <a:schemeClr val="lt1"/>
            </a:solidFill>
            <a:ln w="19050">
              <a:solidFill>
                <a:schemeClr val="accent6"/>
              </a:solidFill>
            </a:ln>
          </p:spPr>
        </p:sp>
        <p:sp>
          <p:nvSpPr>
            <p:cNvPr id="42" name="TextBox 42"/>
            <p:cNvSpPr txBox="1"/>
            <p:nvPr/>
          </p:nvSpPr>
          <p:spPr>
            <a:xfrm>
              <a:off x="4045112" y="3200400"/>
              <a:ext cx="901376"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Engineer</a:t>
              </a:r>
            </a:p>
          </p:txBody>
        </p:sp>
        <p:sp>
          <p:nvSpPr>
            <p:cNvPr id="43" name="TextBox 43"/>
            <p:cNvSpPr txBox="1"/>
            <p:nvPr/>
          </p:nvSpPr>
          <p:spPr>
            <a:xfrm>
              <a:off x="3487435" y="3498056"/>
              <a:ext cx="2016730" cy="220028"/>
            </a:xfrm>
            <a:prstGeom prst="rect">
              <a:avLst/>
            </a:prstGeom>
            <a:noFill/>
            <a:ln>
              <a:noFill/>
            </a:ln>
          </p:spPr>
          <p:txBody>
            <a:bodyPr wrap="none" lIns="0" tIns="0" rIns="0" bIns="0" anchor="t" anchorCtr="0">
              <a:spAutoFit/>
            </a:bodyPr>
            <a:lstStyle/>
            <a:p>
              <a:pPr algn="ctr"/>
              <a:r>
                <a:rPr lang="en-US" sz="1120" dirty="0">
                  <a:solidFill>
                    <a:schemeClr val="dk1"/>
                  </a:solidFill>
                  <a:latin typeface="+mn-lt"/>
                  <a:ea typeface="+mn-ea"/>
                  <a:cs typeface="+mn-cs"/>
                </a:rPr>
                <a:t>fix · experiment · evidence</a:t>
              </a:r>
            </a:p>
          </p:txBody>
        </p:sp>
        <p:sp>
          <p:nvSpPr>
            <p:cNvPr id="44" name="Rectangle 44"/>
            <p:cNvSpPr/>
            <p:nvPr/>
          </p:nvSpPr>
          <p:spPr>
            <a:xfrm>
              <a:off x="6191250" y="3009900"/>
              <a:ext cx="1666875" cy="838200"/>
            </a:xfrm>
            <a:prstGeom prst="roundRect">
              <a:avLst>
                <a:gd name="adj" fmla="val 9091"/>
              </a:avLst>
            </a:prstGeom>
            <a:solidFill>
              <a:schemeClr val="lt1"/>
            </a:solidFill>
            <a:ln w="19050">
              <a:solidFill>
                <a:schemeClr val="accent1"/>
              </a:solidFill>
            </a:ln>
          </p:spPr>
        </p:sp>
        <p:sp>
          <p:nvSpPr>
            <p:cNvPr id="45" name="TextBox 45"/>
            <p:cNvSpPr txBox="1"/>
            <p:nvPr/>
          </p:nvSpPr>
          <p:spPr>
            <a:xfrm>
              <a:off x="6547884" y="3200400"/>
              <a:ext cx="944081"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Reviewer</a:t>
              </a:r>
            </a:p>
          </p:txBody>
        </p:sp>
        <p:sp>
          <p:nvSpPr>
            <p:cNvPr id="46" name="TextBox 46"/>
            <p:cNvSpPr txBox="1"/>
            <p:nvPr/>
          </p:nvSpPr>
          <p:spPr>
            <a:xfrm>
              <a:off x="6075639" y="3498056"/>
              <a:ext cx="1888571" cy="220028"/>
            </a:xfrm>
            <a:prstGeom prst="rect">
              <a:avLst/>
            </a:prstGeom>
            <a:noFill/>
            <a:ln>
              <a:noFill/>
            </a:ln>
          </p:spPr>
          <p:txBody>
            <a:bodyPr wrap="none" lIns="0" tIns="0" rIns="0" bIns="0" anchor="t" anchorCtr="0">
              <a:spAutoFit/>
            </a:bodyPr>
            <a:lstStyle/>
            <a:p>
              <a:pPr algn="ctr"/>
              <a:r>
                <a:rPr lang="en-US" sz="1120" dirty="0">
                  <a:solidFill>
                    <a:schemeClr val="dk1"/>
                  </a:solidFill>
                  <a:latin typeface="+mn-lt"/>
                  <a:ea typeface="+mn-ea"/>
                  <a:cs typeface="+mn-cs"/>
                </a:rPr>
                <a:t>acceptance · next_action</a:t>
              </a:r>
            </a:p>
          </p:txBody>
        </p:sp>
        <p:sp>
          <p:nvSpPr>
            <p:cNvPr id="47" name="Line 47"/>
            <p:cNvSpPr/>
            <p:nvPr/>
          </p:nvSpPr>
          <p:spPr>
            <a:xfrm>
              <a:off x="2952750" y="3429000"/>
              <a:ext cx="638175" cy="1"/>
            </a:xfrm>
            <a:prstGeom prst="line">
              <a:avLst/>
            </a:prstGeom>
            <a:noFill/>
            <a:ln w="23812">
              <a:solidFill>
                <a:schemeClr val="accent6"/>
              </a:solidFill>
              <a:tailEnd type="triangle" w="lg" len="lg"/>
            </a:ln>
          </p:spPr>
        </p:sp>
        <p:sp>
          <p:nvSpPr>
            <p:cNvPr id="48" name="TextBox 48"/>
            <p:cNvSpPr txBox="1"/>
            <p:nvPr/>
          </p:nvSpPr>
          <p:spPr>
            <a:xfrm>
              <a:off x="3080722" y="3190399"/>
              <a:ext cx="372707"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Consolas"/>
                  <a:ea typeface="Consolas"/>
                  <a:cs typeface="Consolas"/>
                </a:rPr>
                <a:t>ready</a:t>
              </a:r>
            </a:p>
          </p:txBody>
        </p:sp>
        <p:sp>
          <p:nvSpPr>
            <p:cNvPr id="49" name="Line 49"/>
            <p:cNvSpPr/>
            <p:nvPr/>
          </p:nvSpPr>
          <p:spPr>
            <a:xfrm>
              <a:off x="5334000" y="3429000"/>
              <a:ext cx="781050" cy="1"/>
            </a:xfrm>
            <a:prstGeom prst="line">
              <a:avLst/>
            </a:prstGeom>
            <a:noFill/>
            <a:ln w="23812">
              <a:solidFill>
                <a:schemeClr val="accent6"/>
              </a:solidFill>
              <a:tailEnd type="triangle" w="lg" len="lg"/>
            </a:ln>
          </p:spPr>
        </p:sp>
        <p:sp>
          <p:nvSpPr>
            <p:cNvPr id="50" name="TextBox 50"/>
            <p:cNvSpPr txBox="1"/>
            <p:nvPr/>
          </p:nvSpPr>
          <p:spPr>
            <a:xfrm>
              <a:off x="5445822" y="3190399"/>
              <a:ext cx="557406"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Consolas"/>
                  <a:ea typeface="Consolas"/>
                  <a:cs typeface="Consolas"/>
                </a:rPr>
                <a:t>evidence</a:t>
              </a:r>
            </a:p>
          </p:txBody>
        </p:sp>
        <p:sp>
          <p:nvSpPr>
            <p:cNvPr id="51" name="Freeform 51"/>
            <p:cNvSpPr/>
            <p:nvPr/>
          </p:nvSpPr>
          <p:spPr>
            <a:xfrm>
              <a:off x="4495800" y="3848100"/>
              <a:ext cx="2524125" cy="323850"/>
            </a:xfrm>
            <a:custGeom>
              <a:avLst/>
              <a:gdLst/>
              <a:ahLst/>
              <a:cxnLst/>
              <a:rect l="l" t="t" r="r" b="b"/>
              <a:pathLst>
                <a:path w="2524125" h="323850">
                  <a:moveTo>
                    <a:pt x="2524125" y="0"/>
                  </a:moveTo>
                  <a:cubicBezTo>
                    <a:pt x="2524125" y="323850"/>
                    <a:pt x="0" y="323850"/>
                    <a:pt x="0" y="76200"/>
                  </a:cubicBezTo>
                </a:path>
              </a:pathLst>
            </a:custGeom>
            <a:noFill/>
            <a:ln w="23812">
              <a:solidFill>
                <a:schemeClr val="accent6"/>
              </a:solidFill>
              <a:tailEnd type="triangle" w="lg" len="lg"/>
            </a:ln>
          </p:spPr>
        </p:sp>
        <p:sp>
          <p:nvSpPr>
            <p:cNvPr id="52" name="TextBox 52"/>
            <p:cNvSpPr txBox="1"/>
            <p:nvPr/>
          </p:nvSpPr>
          <p:spPr>
            <a:xfrm>
              <a:off x="4741829" y="4057174"/>
              <a:ext cx="2041591"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Consolas"/>
                  <a:ea typeface="Consolas"/>
                  <a:cs typeface="Consolas"/>
                </a:rPr>
                <a:t>continue_same_scope → round+1</a:t>
              </a:r>
            </a:p>
          </p:txBody>
        </p:sp>
        <p:sp>
          <p:nvSpPr>
            <p:cNvPr id="53" name="Rectangle 53"/>
            <p:cNvSpPr/>
            <p:nvPr/>
          </p:nvSpPr>
          <p:spPr>
            <a:xfrm>
              <a:off x="8020050" y="3009900"/>
              <a:ext cx="742950" cy="838200"/>
            </a:xfrm>
            <a:prstGeom prst="roundRect">
              <a:avLst>
                <a:gd name="adj" fmla="val 10256"/>
              </a:avLst>
            </a:prstGeom>
            <a:solidFill>
              <a:srgbClr val="EE6677">
                <a:alpha val="8000"/>
              </a:srgbClr>
            </a:solidFill>
            <a:ln w="19050">
              <a:solidFill>
                <a:srgbClr val="EE6677"/>
              </a:solidFill>
            </a:ln>
          </p:spPr>
        </p:sp>
        <p:sp>
          <p:nvSpPr>
            <p:cNvPr id="54" name="TextBox 54"/>
            <p:cNvSpPr txBox="1"/>
            <p:nvPr/>
          </p:nvSpPr>
          <p:spPr>
            <a:xfrm>
              <a:off x="8293809" y="3174206"/>
              <a:ext cx="195432" cy="220028"/>
            </a:xfrm>
            <a:prstGeom prst="rect">
              <a:avLst/>
            </a:prstGeom>
            <a:noFill/>
            <a:ln>
              <a:noFill/>
            </a:ln>
          </p:spPr>
          <p:txBody>
            <a:bodyPr wrap="none" lIns="0" tIns="0" rIns="0" bIns="0" anchor="t" anchorCtr="0">
              <a:spAutoFit/>
            </a:bodyPr>
            <a:lstStyle/>
            <a:p>
              <a:pPr algn="ctr"/>
              <a:r>
                <a:rPr lang="en-US" sz="1120" b="1" dirty="0">
                  <a:solidFill>
                    <a:srgbClr val="EE6677"/>
                  </a:solidFill>
                  <a:latin typeface="Consolas"/>
                  <a:ea typeface="Consolas"/>
                  <a:cs typeface="Consolas"/>
                </a:rPr>
                <a:t>CB</a:t>
              </a:r>
            </a:p>
          </p:txBody>
        </p:sp>
        <p:sp>
          <p:nvSpPr>
            <p:cNvPr id="55" name="TextBox 55"/>
            <p:cNvSpPr txBox="1"/>
            <p:nvPr/>
          </p:nvSpPr>
          <p:spPr>
            <a:xfrm>
              <a:off x="8132611" y="3399949"/>
              <a:ext cx="517827"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Consolas"/>
                  <a:ea typeface="Consolas"/>
                  <a:cs typeface="Consolas"/>
                </a:rPr>
                <a:t>retry=3</a:t>
              </a:r>
            </a:p>
          </p:txBody>
        </p:sp>
        <p:sp>
          <p:nvSpPr>
            <p:cNvPr id="56" name="TextBox 56"/>
            <p:cNvSpPr txBox="1"/>
            <p:nvPr/>
          </p:nvSpPr>
          <p:spPr>
            <a:xfrm>
              <a:off x="8036964" y="3599974"/>
              <a:ext cx="709122"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fail-closed</a:t>
              </a:r>
            </a:p>
          </p:txBody>
        </p:sp>
      </p:grpSp>
      <p:grpSp>
        <p:nvGrpSpPr>
          <p:cNvPr id="79" name="Group 79"/>
          <p:cNvGrpSpPr/>
          <p:nvPr/>
        </p:nvGrpSpPr>
        <p:grpSpPr>
          <a:xfrm>
            <a:off x="381000" y="4457700"/>
            <a:ext cx="8572500" cy="1581150"/>
            <a:chOff x="381000" y="4457700"/>
            <a:chExt cx="8572500" cy="1581150"/>
          </a:xfrm>
        </p:grpSpPr>
        <p:sp>
          <p:nvSpPr>
            <p:cNvPr id="58" name="Rectangle 58"/>
            <p:cNvSpPr/>
            <p:nvPr/>
          </p:nvSpPr>
          <p:spPr>
            <a:xfrm>
              <a:off x="381000" y="4457700"/>
              <a:ext cx="438150" cy="1581150"/>
            </a:xfrm>
            <a:prstGeom prst="roundRect">
              <a:avLst>
                <a:gd name="adj" fmla="val 17391"/>
              </a:avLst>
            </a:prstGeom>
            <a:solidFill>
              <a:srgbClr val="CCBB44"/>
            </a:solidFill>
            <a:ln>
              <a:noFill/>
            </a:ln>
          </p:spPr>
        </p:sp>
        <p:sp>
          <p:nvSpPr>
            <p:cNvPr id="59" name="TextBox 59"/>
            <p:cNvSpPr txBox="1"/>
            <p:nvPr/>
          </p:nvSpPr>
          <p:spPr>
            <a:xfrm>
              <a:off x="475840" y="4972050"/>
              <a:ext cx="248469"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Consolas"/>
                  <a:ea typeface="Consolas"/>
                  <a:cs typeface="Consolas"/>
                </a:rPr>
                <a:t>03</a:t>
              </a:r>
            </a:p>
          </p:txBody>
        </p:sp>
        <p:sp>
          <p:nvSpPr>
            <p:cNvPr id="60" name="TextBox 60"/>
            <p:cNvSpPr txBox="1"/>
            <p:nvPr/>
          </p:nvSpPr>
          <p:spPr>
            <a:xfrm>
              <a:off x="431268" y="5250656"/>
              <a:ext cx="337615"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EXIT</a:t>
              </a:r>
            </a:p>
          </p:txBody>
        </p:sp>
        <p:sp>
          <p:nvSpPr>
            <p:cNvPr id="61" name="Rectangle 61"/>
            <p:cNvSpPr/>
            <p:nvPr/>
          </p:nvSpPr>
          <p:spPr>
            <a:xfrm>
              <a:off x="952500" y="4457700"/>
              <a:ext cx="8001000" cy="1581150"/>
            </a:xfrm>
            <a:prstGeom prst="roundRect">
              <a:avLst>
                <a:gd name="adj" fmla="val 6024"/>
              </a:avLst>
            </a:prstGeom>
            <a:solidFill>
              <a:schemeClr val="accent5"/>
            </a:solidFill>
            <a:ln w="14288">
              <a:solidFill>
                <a:schemeClr val="accent4"/>
              </a:solidFill>
            </a:ln>
          </p:spPr>
        </p:sp>
        <p:sp>
          <p:nvSpPr>
            <p:cNvPr id="62" name="TextBox 62"/>
            <p:cNvSpPr txBox="1"/>
            <p:nvPr/>
          </p:nvSpPr>
          <p:spPr>
            <a:xfrm>
              <a:off x="1099185" y="4564856"/>
              <a:ext cx="6451488" cy="220028"/>
            </a:xfrm>
            <a:prstGeom prst="rect">
              <a:avLst/>
            </a:prstGeom>
            <a:noFill/>
            <a:ln>
              <a:noFill/>
            </a:ln>
          </p:spPr>
          <p:txBody>
            <a:bodyPr wrap="none" lIns="0" tIns="0" rIns="0" bIns="0" anchor="t" anchorCtr="0">
              <a:spAutoFit/>
            </a:bodyPr>
            <a:lstStyle/>
            <a:p>
              <a:pPr algn="l"/>
              <a:r>
                <a:rPr lang="en-US" sz="1120" b="1" dirty="0">
                  <a:solidFill>
                    <a:srgbClr val="CCBB44"/>
                  </a:solidFill>
                  <a:latin typeface="+mn-lt"/>
                  <a:ea typeface="+mn-ea"/>
                  <a:cs typeface="+mn-cs"/>
                </a:rPr>
                <a:t>PERSISTENT-STATE EXITS · AUTOMATIC WAKE-UP IS SEPARATE FROM HUMAN CONTROL</a:t>
              </a:r>
            </a:p>
          </p:txBody>
        </p:sp>
        <p:sp>
          <p:nvSpPr>
            <p:cNvPr id="63" name="Rectangle 63"/>
            <p:cNvSpPr/>
            <p:nvPr/>
          </p:nvSpPr>
          <p:spPr>
            <a:xfrm>
              <a:off x="1143000" y="4914900"/>
              <a:ext cx="1714500" cy="838200"/>
            </a:xfrm>
            <a:prstGeom prst="roundRect">
              <a:avLst>
                <a:gd name="adj" fmla="val 9091"/>
              </a:avLst>
            </a:prstGeom>
            <a:solidFill>
              <a:schemeClr val="lt1"/>
            </a:solidFill>
            <a:ln w="19050">
              <a:solidFill>
                <a:srgbClr val="AA3377"/>
              </a:solidFill>
            </a:ln>
          </p:spPr>
        </p:sp>
        <p:sp>
          <p:nvSpPr>
            <p:cNvPr id="64" name="TextBox 64"/>
            <p:cNvSpPr txBox="1"/>
            <p:nvPr/>
          </p:nvSpPr>
          <p:spPr>
            <a:xfrm>
              <a:off x="1564803" y="5035868"/>
              <a:ext cx="870893" cy="264033"/>
            </a:xfrm>
            <a:prstGeom prst="rect">
              <a:avLst/>
            </a:prstGeom>
            <a:noFill/>
            <a:ln>
              <a:noFill/>
            </a:ln>
          </p:spPr>
          <p:txBody>
            <a:bodyPr wrap="none" lIns="0" tIns="0" rIns="0" bIns="0" anchor="t" anchorCtr="0">
              <a:spAutoFit/>
            </a:bodyPr>
            <a:lstStyle/>
            <a:p>
              <a:pPr algn="ctr"/>
              <a:r>
                <a:rPr lang="en-US" sz="1350" b="1" dirty="0">
                  <a:solidFill>
                    <a:srgbClr val="AA3377"/>
                  </a:solidFill>
                  <a:latin typeface="Consolas"/>
                  <a:ea typeface="Consolas"/>
                  <a:cs typeface="Consolas"/>
                </a:rPr>
                <a:t>stage = S</a:t>
              </a:r>
            </a:p>
          </p:txBody>
        </p:sp>
        <p:sp>
          <p:nvSpPr>
            <p:cNvPr id="65" name="TextBox 65"/>
            <p:cNvSpPr txBox="1"/>
            <p:nvPr/>
          </p:nvSpPr>
          <p:spPr>
            <a:xfrm>
              <a:off x="1013519" y="5304949"/>
              <a:ext cx="1973462"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HOLD terminates current item</a:t>
              </a:r>
            </a:p>
          </p:txBody>
        </p:sp>
        <p:sp>
          <p:nvSpPr>
            <p:cNvPr id="66" name="TextBox 66"/>
            <p:cNvSpPr txBox="1"/>
            <p:nvPr/>
          </p:nvSpPr>
          <p:spPr>
            <a:xfrm>
              <a:off x="1012436" y="5485924"/>
              <a:ext cx="1975627"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new intent reopens done stage</a:t>
              </a:r>
            </a:p>
          </p:txBody>
        </p:sp>
        <p:sp>
          <p:nvSpPr>
            <p:cNvPr id="67" name="Rectangle 67"/>
            <p:cNvSpPr/>
            <p:nvPr/>
          </p:nvSpPr>
          <p:spPr>
            <a:xfrm>
              <a:off x="3143250" y="4914900"/>
              <a:ext cx="1714500" cy="838200"/>
            </a:xfrm>
            <a:prstGeom prst="roundRect">
              <a:avLst>
                <a:gd name="adj" fmla="val 9091"/>
              </a:avLst>
            </a:prstGeom>
            <a:solidFill>
              <a:schemeClr val="lt1"/>
            </a:solidFill>
            <a:ln w="19050">
              <a:solidFill>
                <a:srgbClr val="CCBB44"/>
              </a:solidFill>
              <a:prstDash val="dash"/>
            </a:ln>
          </p:spPr>
        </p:sp>
        <p:sp>
          <p:nvSpPr>
            <p:cNvPr id="68" name="TextBox 68"/>
            <p:cNvSpPr txBox="1"/>
            <p:nvPr/>
          </p:nvSpPr>
          <p:spPr>
            <a:xfrm>
              <a:off x="3425419" y="5034439"/>
              <a:ext cx="1150163"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Auto-resume</a:t>
              </a:r>
            </a:p>
          </p:txBody>
        </p:sp>
        <p:sp>
          <p:nvSpPr>
            <p:cNvPr id="69" name="TextBox 69"/>
            <p:cNvSpPr txBox="1"/>
            <p:nvPr/>
          </p:nvSpPr>
          <p:spPr>
            <a:xfrm>
              <a:off x="3200683" y="5304949"/>
              <a:ext cx="1599634"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Consolas"/>
                  <a:ea typeface="Consolas"/>
                  <a:cs typeface="Consolas"/>
                </a:rPr>
                <a:t>budget/provider/daemon</a:t>
              </a:r>
            </a:p>
          </p:txBody>
        </p:sp>
        <p:sp>
          <p:nvSpPr>
            <p:cNvPr id="70" name="TextBox 70"/>
            <p:cNvSpPr txBox="1"/>
            <p:nvPr/>
          </p:nvSpPr>
          <p:spPr>
            <a:xfrm>
              <a:off x="3312822" y="5485924"/>
              <a:ext cx="1375357"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Consolas"/>
                  <a:ea typeface="Consolas"/>
                  <a:cs typeface="Consolas"/>
                </a:rPr>
                <a:t>attempt → attempt+1</a:t>
              </a:r>
            </a:p>
          </p:txBody>
        </p:sp>
        <p:sp>
          <p:nvSpPr>
            <p:cNvPr id="71" name="Rectangle 71"/>
            <p:cNvSpPr/>
            <p:nvPr/>
          </p:nvSpPr>
          <p:spPr>
            <a:xfrm>
              <a:off x="5143500" y="4914900"/>
              <a:ext cx="1714500" cy="838200"/>
            </a:xfrm>
            <a:prstGeom prst="roundRect">
              <a:avLst>
                <a:gd name="adj" fmla="val 9091"/>
              </a:avLst>
            </a:prstGeom>
            <a:solidFill>
              <a:schemeClr val="lt1"/>
            </a:solidFill>
            <a:ln w="19050">
              <a:solidFill>
                <a:srgbClr val="AA3377"/>
              </a:solidFill>
              <a:prstDash val="lgDashDot"/>
            </a:ln>
          </p:spPr>
        </p:sp>
        <p:sp>
          <p:nvSpPr>
            <p:cNvPr id="72" name="TextBox 72"/>
            <p:cNvSpPr txBox="1"/>
            <p:nvPr/>
          </p:nvSpPr>
          <p:spPr>
            <a:xfrm>
              <a:off x="5231298" y="5034439"/>
              <a:ext cx="1538905"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Operator answer</a:t>
              </a:r>
            </a:p>
          </p:txBody>
        </p:sp>
        <p:sp>
          <p:nvSpPr>
            <p:cNvPr id="73" name="TextBox 73"/>
            <p:cNvSpPr txBox="1"/>
            <p:nvPr/>
          </p:nvSpPr>
          <p:spPr>
            <a:xfrm>
              <a:off x="5252821" y="5304949"/>
              <a:ext cx="1495859"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Consolas"/>
                  <a:ea typeface="Consolas"/>
                  <a:cs typeface="Consolas"/>
                </a:rPr>
                <a:t>failed ID → continuation</a:t>
              </a:r>
            </a:p>
          </p:txBody>
        </p:sp>
        <p:sp>
          <p:nvSpPr>
            <p:cNvPr id="74" name="TextBox 74"/>
            <p:cNvSpPr txBox="1"/>
            <p:nvPr/>
          </p:nvSpPr>
          <p:spPr>
            <a:xfrm>
              <a:off x="5336159" y="5485924"/>
              <a:ext cx="1329182"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Consolas"/>
                  <a:ea typeface="Consolas"/>
                  <a:cs typeface="Consolas"/>
                </a:rPr>
                <a:t>rewire(all live deps)</a:t>
              </a:r>
            </a:p>
          </p:txBody>
        </p:sp>
        <p:sp>
          <p:nvSpPr>
            <p:cNvPr id="75" name="Rectangle 75"/>
            <p:cNvSpPr/>
            <p:nvPr/>
          </p:nvSpPr>
          <p:spPr>
            <a:xfrm>
              <a:off x="7143750" y="4914900"/>
              <a:ext cx="1619250" cy="838200"/>
            </a:xfrm>
            <a:prstGeom prst="roundRect">
              <a:avLst>
                <a:gd name="adj" fmla="val 9091"/>
              </a:avLst>
            </a:prstGeom>
            <a:solidFill>
              <a:schemeClr val="lt1"/>
            </a:solidFill>
            <a:ln w="19050">
              <a:solidFill>
                <a:schemeClr val="accent2"/>
              </a:solidFill>
              <a:prstDash val="dash"/>
            </a:ln>
          </p:spPr>
        </p:sp>
        <p:sp>
          <p:nvSpPr>
            <p:cNvPr id="76" name="TextBox 76"/>
            <p:cNvSpPr txBox="1"/>
            <p:nvPr/>
          </p:nvSpPr>
          <p:spPr>
            <a:xfrm>
              <a:off x="7251830" y="5034439"/>
              <a:ext cx="1403090"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Daemon upgrade</a:t>
              </a:r>
            </a:p>
          </p:txBody>
        </p:sp>
        <p:sp>
          <p:nvSpPr>
            <p:cNvPr id="77" name="TextBox 77"/>
            <p:cNvSpPr txBox="1"/>
            <p:nvPr/>
          </p:nvSpPr>
          <p:spPr>
            <a:xfrm>
              <a:off x="7216224" y="5304949"/>
              <a:ext cx="1474302"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Consolas"/>
                  <a:ea typeface="Consolas"/>
                  <a:cs typeface="Consolas"/>
                </a:rPr>
                <a:t>drain request → return</a:t>
              </a:r>
            </a:p>
          </p:txBody>
        </p:sp>
        <p:sp>
          <p:nvSpPr>
            <p:cNvPr id="78" name="TextBox 78"/>
            <p:cNvSpPr txBox="1"/>
            <p:nvPr/>
          </p:nvSpPr>
          <p:spPr>
            <a:xfrm>
              <a:off x="7400922" y="5485924"/>
              <a:ext cx="1104905"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Consolas"/>
                  <a:ea typeface="Consolas"/>
                  <a:cs typeface="Consolas"/>
                </a:rPr>
                <a:t>recheck every 5s</a:t>
              </a:r>
            </a:p>
          </p:txBody>
        </p:sp>
      </p:grpSp>
      <p:grpSp>
        <p:nvGrpSpPr>
          <p:cNvPr id="89" name="Group 89"/>
          <p:cNvGrpSpPr/>
          <p:nvPr/>
        </p:nvGrpSpPr>
        <p:grpSpPr>
          <a:xfrm>
            <a:off x="2000250" y="2247900"/>
            <a:ext cx="6391275" cy="2590800"/>
            <a:chOff x="2000250" y="2247900"/>
            <a:chExt cx="6391275" cy="2590800"/>
          </a:xfrm>
        </p:grpSpPr>
        <p:sp>
          <p:nvSpPr>
            <p:cNvPr id="80" name="Freeform 80"/>
            <p:cNvSpPr/>
            <p:nvPr/>
          </p:nvSpPr>
          <p:spPr>
            <a:xfrm>
              <a:off x="2047875" y="2247900"/>
              <a:ext cx="6000750" cy="685800"/>
            </a:xfrm>
            <a:custGeom>
              <a:avLst/>
              <a:gdLst/>
              <a:ahLst/>
              <a:cxnLst/>
              <a:rect l="l" t="t" r="r" b="b"/>
              <a:pathLst>
                <a:path w="6000750" h="685800">
                  <a:moveTo>
                    <a:pt x="6000750" y="0"/>
                  </a:moveTo>
                  <a:lnTo>
                    <a:pt x="6000750" y="228600"/>
                  </a:lnTo>
                  <a:lnTo>
                    <a:pt x="0" y="228600"/>
                  </a:lnTo>
                  <a:lnTo>
                    <a:pt x="0" y="685800"/>
                  </a:lnTo>
                </a:path>
              </a:pathLst>
            </a:custGeom>
            <a:noFill/>
            <a:ln w="23812">
              <a:solidFill>
                <a:schemeClr val="accent6"/>
              </a:solidFill>
              <a:tailEnd type="triangle" w="lg" len="lg"/>
            </a:ln>
          </p:spPr>
        </p:sp>
        <p:sp>
          <p:nvSpPr>
            <p:cNvPr id="81" name="TextBox 81"/>
            <p:cNvSpPr txBox="1"/>
            <p:nvPr/>
          </p:nvSpPr>
          <p:spPr>
            <a:xfrm>
              <a:off x="4107664" y="2323624"/>
              <a:ext cx="2166922"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Consolas"/>
                  <a:ea typeface="Consolas"/>
                  <a:cs typeface="Consolas"/>
                </a:rPr>
                <a:t>atomic batch → reconciled backlog</a:t>
              </a:r>
            </a:p>
          </p:txBody>
        </p:sp>
        <p:sp>
          <p:nvSpPr>
            <p:cNvPr id="82" name="Freeform 82"/>
            <p:cNvSpPr/>
            <p:nvPr/>
          </p:nvSpPr>
          <p:spPr>
            <a:xfrm>
              <a:off x="3952875" y="2247900"/>
              <a:ext cx="3067050" cy="762000"/>
            </a:xfrm>
            <a:custGeom>
              <a:avLst/>
              <a:gdLst/>
              <a:ahLst/>
              <a:cxnLst/>
              <a:rect l="l" t="t" r="r" b="b"/>
              <a:pathLst>
                <a:path w="3067050" h="762000">
                  <a:moveTo>
                    <a:pt x="3067050" y="762000"/>
                  </a:moveTo>
                  <a:cubicBezTo>
                    <a:pt x="3000375" y="381000"/>
                    <a:pt x="1000125" y="228600"/>
                    <a:pt x="0" y="0"/>
                  </a:cubicBezTo>
                </a:path>
              </a:pathLst>
            </a:custGeom>
            <a:noFill/>
            <a:ln w="23812">
              <a:solidFill>
                <a:srgbClr val="AA3377"/>
              </a:solidFill>
              <a:prstDash val="lgDashDot"/>
              <a:tailEnd type="triangle" w="lg" len="lg"/>
            </a:ln>
          </p:spPr>
        </p:sp>
        <p:sp>
          <p:nvSpPr>
            <p:cNvPr id="83" name="TextBox 83"/>
            <p:cNvSpPr txBox="1"/>
            <p:nvPr/>
          </p:nvSpPr>
          <p:spPr>
            <a:xfrm>
              <a:off x="5325128" y="2571274"/>
              <a:ext cx="1579844" cy="190690"/>
            </a:xfrm>
            <a:prstGeom prst="rect">
              <a:avLst/>
            </a:prstGeom>
            <a:noFill/>
            <a:ln>
              <a:noFill/>
            </a:ln>
          </p:spPr>
          <p:txBody>
            <a:bodyPr wrap="none" lIns="0" tIns="0" rIns="0" bIns="0" anchor="t" anchorCtr="0">
              <a:spAutoFit/>
            </a:bodyPr>
            <a:lstStyle/>
            <a:p>
              <a:pPr algn="ctr"/>
              <a:r>
                <a:rPr lang="en-US" sz="980" dirty="0">
                  <a:solidFill>
                    <a:srgbClr val="AA3377"/>
                  </a:solidFill>
                  <a:latin typeface="Consolas"/>
                  <a:ea typeface="Consolas"/>
                  <a:cs typeface="Consolas"/>
                </a:rPr>
                <a:t>done / replan_requested</a:t>
              </a:r>
            </a:p>
          </p:txBody>
        </p:sp>
        <p:sp>
          <p:nvSpPr>
            <p:cNvPr id="84" name="Freeform 84"/>
            <p:cNvSpPr/>
            <p:nvPr/>
          </p:nvSpPr>
          <p:spPr>
            <a:xfrm>
              <a:off x="3952875" y="2247900"/>
              <a:ext cx="2095500" cy="476250"/>
            </a:xfrm>
            <a:custGeom>
              <a:avLst/>
              <a:gdLst/>
              <a:ahLst/>
              <a:cxnLst/>
              <a:rect l="l" t="t" r="r" b="b"/>
              <a:pathLst>
                <a:path w="2095500" h="476250">
                  <a:moveTo>
                    <a:pt x="0" y="0"/>
                  </a:moveTo>
                  <a:cubicBezTo>
                    <a:pt x="0" y="381000"/>
                    <a:pt x="1190625" y="476250"/>
                    <a:pt x="2095500" y="0"/>
                  </a:cubicBezTo>
                </a:path>
              </a:pathLst>
            </a:custGeom>
            <a:noFill/>
            <a:ln w="23812">
              <a:solidFill>
                <a:schemeClr val="accent2"/>
              </a:solidFill>
              <a:tailEnd type="triangle" w="lg" len="lg"/>
            </a:ln>
          </p:spPr>
        </p:sp>
        <p:sp>
          <p:nvSpPr>
            <p:cNvPr id="85" name="TextBox 85"/>
            <p:cNvSpPr txBox="1"/>
            <p:nvPr/>
          </p:nvSpPr>
          <p:spPr>
            <a:xfrm>
              <a:off x="4270070" y="2695099"/>
              <a:ext cx="1461110" cy="190690"/>
            </a:xfrm>
            <a:prstGeom prst="rect">
              <a:avLst/>
            </a:prstGeom>
            <a:noFill/>
            <a:ln>
              <a:noFill/>
            </a:ln>
          </p:spPr>
          <p:txBody>
            <a:bodyPr wrap="none" lIns="0" tIns="0" rIns="0" bIns="0" anchor="t" anchorCtr="0">
              <a:spAutoFit/>
            </a:bodyPr>
            <a:lstStyle/>
            <a:p>
              <a:pPr algn="ctr"/>
              <a:r>
                <a:rPr lang="en-US" sz="980" dirty="0">
                  <a:solidFill>
                    <a:schemeClr val="accent2"/>
                  </a:solidFill>
                  <a:latin typeface="Consolas"/>
                  <a:ea typeface="Consolas"/>
                  <a:cs typeface="Consolas"/>
                </a:rPr>
                <a:t>versioned replacement</a:t>
              </a:r>
            </a:p>
          </p:txBody>
        </p:sp>
        <p:sp>
          <p:nvSpPr>
            <p:cNvPr id="86" name="Freeform 86"/>
            <p:cNvSpPr/>
            <p:nvPr/>
          </p:nvSpPr>
          <p:spPr>
            <a:xfrm>
              <a:off x="2000250" y="3848100"/>
              <a:ext cx="6391275" cy="990600"/>
            </a:xfrm>
            <a:custGeom>
              <a:avLst/>
              <a:gdLst/>
              <a:ahLst/>
              <a:cxnLst/>
              <a:rect l="l" t="t" r="r" b="b"/>
              <a:pathLst>
                <a:path w="6391275" h="990600">
                  <a:moveTo>
                    <a:pt x="6391275" y="0"/>
                  </a:moveTo>
                  <a:lnTo>
                    <a:pt x="6391275" y="495300"/>
                  </a:lnTo>
                  <a:lnTo>
                    <a:pt x="0" y="990600"/>
                  </a:lnTo>
                </a:path>
              </a:pathLst>
            </a:custGeom>
            <a:noFill/>
            <a:ln w="23812">
              <a:solidFill>
                <a:srgbClr val="EE6677"/>
              </a:solidFill>
              <a:tailEnd type="triangle" w="lg" len="lg"/>
            </a:ln>
          </p:spPr>
        </p:sp>
        <p:sp>
          <p:nvSpPr>
            <p:cNvPr id="87" name="Freeform 87"/>
            <p:cNvSpPr/>
            <p:nvPr/>
          </p:nvSpPr>
          <p:spPr>
            <a:xfrm>
              <a:off x="4000500" y="3848100"/>
              <a:ext cx="495300" cy="990600"/>
            </a:xfrm>
            <a:custGeom>
              <a:avLst/>
              <a:gdLst/>
              <a:ahLst/>
              <a:cxnLst/>
              <a:rect l="l" t="t" r="r" b="b"/>
              <a:pathLst>
                <a:path w="495300" h="990600">
                  <a:moveTo>
                    <a:pt x="495300" y="0"/>
                  </a:moveTo>
                  <a:lnTo>
                    <a:pt x="495300" y="514350"/>
                  </a:lnTo>
                  <a:lnTo>
                    <a:pt x="0" y="990600"/>
                  </a:lnTo>
                </a:path>
              </a:pathLst>
            </a:custGeom>
            <a:noFill/>
            <a:ln w="23812">
              <a:solidFill>
                <a:srgbClr val="CCBB44"/>
              </a:solidFill>
              <a:prstDash val="dash"/>
              <a:tailEnd type="triangle" w="lg" len="lg"/>
            </a:ln>
          </p:spPr>
        </p:sp>
        <p:sp>
          <p:nvSpPr>
            <p:cNvPr id="88" name="Freeform 88"/>
            <p:cNvSpPr/>
            <p:nvPr/>
          </p:nvSpPr>
          <p:spPr>
            <a:xfrm>
              <a:off x="6000750" y="3848100"/>
              <a:ext cx="1019175" cy="990600"/>
            </a:xfrm>
            <a:custGeom>
              <a:avLst/>
              <a:gdLst/>
              <a:ahLst/>
              <a:cxnLst/>
              <a:rect l="l" t="t" r="r" b="b"/>
              <a:pathLst>
                <a:path w="1019175" h="990600">
                  <a:moveTo>
                    <a:pt x="1019175" y="0"/>
                  </a:moveTo>
                  <a:lnTo>
                    <a:pt x="1019175" y="514350"/>
                  </a:lnTo>
                  <a:lnTo>
                    <a:pt x="0" y="990600"/>
                  </a:lnTo>
                </a:path>
              </a:pathLst>
            </a:custGeom>
            <a:noFill/>
            <a:ln w="23812">
              <a:solidFill>
                <a:srgbClr val="AA3377"/>
              </a:solidFill>
              <a:prstDash val="lgDashDot"/>
              <a:tailEnd type="triangle" w="lg" len="lg"/>
            </a:ln>
          </p:spPr>
        </p:sp>
      </p:grpSp>
      <p:grpSp>
        <p:nvGrpSpPr>
          <p:cNvPr id="103" name="Group 103"/>
          <p:cNvGrpSpPr/>
          <p:nvPr/>
        </p:nvGrpSpPr>
        <p:grpSpPr>
          <a:xfrm>
            <a:off x="9163050" y="1295400"/>
            <a:ext cx="2647950" cy="3038189"/>
            <a:chOff x="9163050" y="1295400"/>
            <a:chExt cx="2647950" cy="3038189"/>
          </a:xfrm>
        </p:grpSpPr>
        <p:sp>
          <p:nvSpPr>
            <p:cNvPr id="90" name="Rectangle 90"/>
            <p:cNvSpPr/>
            <p:nvPr/>
          </p:nvSpPr>
          <p:spPr>
            <a:xfrm>
              <a:off x="9163050" y="1295400"/>
              <a:ext cx="2647950" cy="2990850"/>
            </a:xfrm>
            <a:prstGeom prst="roundRect">
              <a:avLst>
                <a:gd name="adj" fmla="val 3597"/>
              </a:avLst>
            </a:prstGeom>
            <a:solidFill>
              <a:schemeClr val="lt1"/>
            </a:solidFill>
            <a:ln w="14288">
              <a:solidFill>
                <a:schemeClr val="accent4"/>
              </a:solidFill>
            </a:ln>
          </p:spPr>
        </p:sp>
        <p:sp>
          <p:nvSpPr>
            <p:cNvPr id="91" name="TextBox 91"/>
            <p:cNvSpPr txBox="1"/>
            <p:nvPr/>
          </p:nvSpPr>
          <p:spPr>
            <a:xfrm>
              <a:off x="9345930" y="1428750"/>
              <a:ext cx="202519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Liveness invariants</a:t>
              </a:r>
            </a:p>
          </p:txBody>
        </p:sp>
        <p:sp>
          <p:nvSpPr>
            <p:cNvPr id="92" name="Line 92"/>
            <p:cNvSpPr/>
            <p:nvPr/>
          </p:nvSpPr>
          <p:spPr>
            <a:xfrm>
              <a:off x="9353550" y="1714500"/>
              <a:ext cx="2266950" cy="9525"/>
            </a:xfrm>
            <a:custGeom>
              <a:avLst/>
              <a:gdLst/>
              <a:ahLst/>
              <a:cxnLst/>
              <a:rect l="l" t="t" r="r" b="b"/>
              <a:pathLst>
                <a:path w="2266950" h="9525">
                  <a:moveTo>
                    <a:pt x="0" y="0"/>
                  </a:moveTo>
                  <a:lnTo>
                    <a:pt x="2266950" y="0"/>
                  </a:lnTo>
                </a:path>
              </a:pathLst>
            </a:custGeom>
            <a:noFill/>
            <a:ln w="9525">
              <a:solidFill>
                <a:schemeClr val="accent4"/>
              </a:solidFill>
            </a:ln>
          </p:spPr>
        </p:sp>
        <p:sp>
          <p:nvSpPr>
            <p:cNvPr id="93" name="TextBox 93"/>
            <p:cNvSpPr txBox="1"/>
            <p:nvPr/>
          </p:nvSpPr>
          <p:spPr>
            <a:xfrm>
              <a:off x="9347835" y="1878806"/>
              <a:ext cx="170010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cycle → reject | skipped</a:t>
              </a:r>
            </a:p>
          </p:txBody>
        </p:sp>
        <p:sp>
          <p:nvSpPr>
            <p:cNvPr id="94" name="TextBox 94"/>
            <p:cNvSpPr txBox="1"/>
            <p:nvPr/>
          </p:nvSpPr>
          <p:spPr>
            <a:xfrm>
              <a:off x="9347835" y="2164556"/>
              <a:ext cx="158838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replan[v] → CAS → v+1</a:t>
              </a:r>
            </a:p>
          </p:txBody>
        </p:sp>
        <p:sp>
          <p:nvSpPr>
            <p:cNvPr id="95" name="TextBox 95"/>
            <p:cNvSpPr txBox="1"/>
            <p:nvPr/>
          </p:nvSpPr>
          <p:spPr>
            <a:xfrm>
              <a:off x="9347835" y="2450306"/>
              <a:ext cx="182826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filtered × 3 → fail-closed</a:t>
              </a:r>
            </a:p>
          </p:txBody>
        </p:sp>
        <p:sp>
          <p:nvSpPr>
            <p:cNvPr id="96" name="TextBox 96"/>
            <p:cNvSpPr txBox="1"/>
            <p:nvPr/>
          </p:nvSpPr>
          <p:spPr>
            <a:xfrm>
              <a:off x="9347835" y="2736056"/>
              <a:ext cx="204688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external pause → attempt+1</a:t>
              </a:r>
            </a:p>
          </p:txBody>
        </p:sp>
        <p:sp>
          <p:nvSpPr>
            <p:cNvPr id="97" name="TextBox 97"/>
            <p:cNvSpPr txBox="1"/>
            <p:nvPr/>
          </p:nvSpPr>
          <p:spPr>
            <a:xfrm>
              <a:off x="9347835" y="3021806"/>
              <a:ext cx="170010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answer → rewire(deps)</a:t>
              </a:r>
            </a:p>
          </p:txBody>
        </p:sp>
        <p:sp>
          <p:nvSpPr>
            <p:cNvPr id="98" name="TextBox 98"/>
            <p:cNvSpPr txBox="1"/>
            <p:nvPr/>
          </p:nvSpPr>
          <p:spPr>
            <a:xfrm>
              <a:off x="9347835" y="3307556"/>
              <a:ext cx="225796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no-runner → backoff(15…300s)</a:t>
              </a:r>
            </a:p>
          </p:txBody>
        </p:sp>
        <p:sp>
          <p:nvSpPr>
            <p:cNvPr id="99" name="Line 99"/>
            <p:cNvSpPr/>
            <p:nvPr/>
          </p:nvSpPr>
          <p:spPr>
            <a:xfrm>
              <a:off x="9353550" y="3629025"/>
              <a:ext cx="2266950" cy="9525"/>
            </a:xfrm>
            <a:custGeom>
              <a:avLst/>
              <a:gdLst/>
              <a:ahLst/>
              <a:cxnLst/>
              <a:rect l="l" t="t" r="r" b="b"/>
              <a:pathLst>
                <a:path w="2266950" h="9525">
                  <a:moveTo>
                    <a:pt x="0" y="0"/>
                  </a:moveTo>
                  <a:lnTo>
                    <a:pt x="2266950" y="0"/>
                  </a:lnTo>
                </a:path>
              </a:pathLst>
            </a:custGeom>
            <a:noFill/>
            <a:ln w="9525">
              <a:solidFill>
                <a:schemeClr val="accent4"/>
              </a:solidFill>
            </a:ln>
          </p:spPr>
        </p:sp>
        <p:sp>
          <p:nvSpPr>
            <p:cNvPr id="100" name="TextBox 100"/>
            <p:cNvSpPr txBox="1"/>
            <p:nvPr/>
          </p:nvSpPr>
          <p:spPr>
            <a:xfrm>
              <a:off x="9348597" y="3761899"/>
              <a:ext cx="1122578" cy="190690"/>
            </a:xfrm>
            <a:prstGeom prst="rect">
              <a:avLst/>
            </a:prstGeom>
            <a:noFill/>
            <a:ln>
              <a:noFill/>
            </a:ln>
          </p:spPr>
          <p:txBody>
            <a:bodyPr wrap="none" lIns="0" tIns="0" rIns="0" bIns="0" anchor="t" anchorCtr="0">
              <a:spAutoFit/>
            </a:bodyPr>
            <a:lstStyle/>
            <a:p>
              <a:pPr algn="l"/>
              <a:r>
                <a:rPr lang="en-US" sz="980" b="1" dirty="0">
                  <a:solidFill>
                    <a:schemeClr val="accent6"/>
                  </a:solidFill>
                  <a:latin typeface="+mn-lt"/>
                  <a:ea typeface="+mn-ea"/>
                  <a:cs typeface="+mn-cs"/>
                </a:rPr>
                <a:t>Safety property</a:t>
              </a:r>
            </a:p>
          </p:txBody>
        </p:sp>
        <p:sp>
          <p:nvSpPr>
            <p:cNvPr id="101" name="TextBox 101"/>
            <p:cNvSpPr txBox="1"/>
            <p:nvPr/>
          </p:nvSpPr>
          <p:spPr>
            <a:xfrm>
              <a:off x="9348597" y="3961924"/>
              <a:ext cx="2230770"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Every waiting component exits to:</a:t>
              </a:r>
            </a:p>
          </p:txBody>
        </p:sp>
        <p:sp>
          <p:nvSpPr>
            <p:cNvPr id="102" name="TextBox 102"/>
            <p:cNvSpPr txBox="1"/>
            <p:nvPr/>
          </p:nvSpPr>
          <p:spPr>
            <a:xfrm>
              <a:off x="9348597" y="4142899"/>
              <a:ext cx="2074573" cy="190690"/>
            </a:xfrm>
            <a:prstGeom prst="rect">
              <a:avLst/>
            </a:prstGeom>
            <a:noFill/>
            <a:ln>
              <a:noFill/>
            </a:ln>
          </p:spPr>
          <p:txBody>
            <a:bodyPr wrap="none" lIns="0" tIns="0" rIns="0" bIns="0" anchor="t" anchorCtr="0">
              <a:spAutoFit/>
            </a:bodyPr>
            <a:lstStyle/>
            <a:p>
              <a:pPr algn="l"/>
              <a:r>
                <a:rPr lang="en-US" sz="980" dirty="0">
                  <a:solidFill>
                    <a:schemeClr val="dk1"/>
                  </a:solidFill>
                  <a:latin typeface="Consolas"/>
                  <a:ea typeface="Consolas"/>
                  <a:cs typeface="Consolas"/>
                </a:rPr>
                <a:t>running | skipped | failed | human</a:t>
              </a:r>
            </a:p>
          </p:txBody>
        </p:sp>
      </p:grpSp>
      <p:grpSp>
        <p:nvGrpSpPr>
          <p:cNvPr id="118" name="Group 118"/>
          <p:cNvGrpSpPr/>
          <p:nvPr/>
        </p:nvGrpSpPr>
        <p:grpSpPr>
          <a:xfrm>
            <a:off x="9163050" y="4457700"/>
            <a:ext cx="2647950" cy="1581150"/>
            <a:chOff x="9163050" y="4457700"/>
            <a:chExt cx="2647950" cy="1581150"/>
          </a:xfrm>
        </p:grpSpPr>
        <p:sp>
          <p:nvSpPr>
            <p:cNvPr id="104" name="Rectangle 104"/>
            <p:cNvSpPr/>
            <p:nvPr/>
          </p:nvSpPr>
          <p:spPr>
            <a:xfrm>
              <a:off x="9163050" y="4457700"/>
              <a:ext cx="2647950" cy="1581150"/>
            </a:xfrm>
            <a:prstGeom prst="roundRect">
              <a:avLst>
                <a:gd name="adj" fmla="val 6024"/>
              </a:avLst>
            </a:prstGeom>
            <a:solidFill>
              <a:schemeClr val="accent5"/>
            </a:solidFill>
            <a:ln w="14288">
              <a:solidFill>
                <a:schemeClr val="accent4"/>
              </a:solidFill>
            </a:ln>
          </p:spPr>
        </p:sp>
        <p:sp>
          <p:nvSpPr>
            <p:cNvPr id="105" name="TextBox 105"/>
            <p:cNvSpPr txBox="1"/>
            <p:nvPr/>
          </p:nvSpPr>
          <p:spPr>
            <a:xfrm>
              <a:off x="9345930" y="4591050"/>
              <a:ext cx="1404214"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Consolas"/>
                  <a:ea typeface="Consolas"/>
                  <a:cs typeface="Consolas"/>
                </a:rPr>
                <a:t>MODEL SPEND</a:t>
              </a:r>
            </a:p>
          </p:txBody>
        </p:sp>
        <p:sp>
          <p:nvSpPr>
            <p:cNvPr id="106" name="TextBox 106"/>
            <p:cNvSpPr txBox="1"/>
            <p:nvPr/>
          </p:nvSpPr>
          <p:spPr>
            <a:xfrm>
              <a:off x="9348597" y="4847749"/>
              <a:ext cx="1349022"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model / API calls only</a:t>
              </a:r>
            </a:p>
          </p:txBody>
        </p:sp>
        <p:sp>
          <p:nvSpPr>
            <p:cNvPr id="107" name="TextBox 107"/>
            <p:cNvSpPr txBox="1"/>
            <p:nvPr/>
          </p:nvSpPr>
          <p:spPr>
            <a:xfrm>
              <a:off x="9348597" y="5000149"/>
              <a:ext cx="2436993"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excludes GPU and infrastructure cost</a:t>
              </a:r>
            </a:p>
          </p:txBody>
        </p:sp>
        <p:sp>
          <p:nvSpPr>
            <p:cNvPr id="108" name="Line 108"/>
            <p:cNvSpPr/>
            <p:nvPr/>
          </p:nvSpPr>
          <p:spPr>
            <a:xfrm>
              <a:off x="9353550" y="5200650"/>
              <a:ext cx="2266950" cy="9525"/>
            </a:xfrm>
            <a:custGeom>
              <a:avLst/>
              <a:gdLst/>
              <a:ahLst/>
              <a:cxnLst/>
              <a:rect l="l" t="t" r="r" b="b"/>
              <a:pathLst>
                <a:path w="2266950" h="9525">
                  <a:moveTo>
                    <a:pt x="0" y="0"/>
                  </a:moveTo>
                  <a:lnTo>
                    <a:pt x="2266950" y="0"/>
                  </a:lnTo>
                </a:path>
              </a:pathLst>
            </a:custGeom>
            <a:noFill/>
            <a:ln w="9525">
              <a:solidFill>
                <a:schemeClr val="accent4"/>
              </a:solidFill>
            </a:ln>
          </p:spPr>
        </p:sp>
        <p:sp>
          <p:nvSpPr>
            <p:cNvPr id="109" name="Line 109"/>
            <p:cNvSpPr/>
            <p:nvPr/>
          </p:nvSpPr>
          <p:spPr>
            <a:xfrm>
              <a:off x="9353550" y="5362575"/>
              <a:ext cx="504825" cy="1"/>
            </a:xfrm>
            <a:prstGeom prst="line">
              <a:avLst/>
            </a:prstGeom>
            <a:noFill/>
            <a:ln w="23812">
              <a:solidFill>
                <a:schemeClr val="accent6"/>
              </a:solidFill>
              <a:tailEnd type="triangle" w="lg" len="lg"/>
            </a:ln>
          </p:spPr>
        </p:sp>
        <p:sp>
          <p:nvSpPr>
            <p:cNvPr id="110" name="TextBox 110"/>
            <p:cNvSpPr txBox="1"/>
            <p:nvPr/>
          </p:nvSpPr>
          <p:spPr>
            <a:xfrm>
              <a:off x="9996297" y="5314474"/>
              <a:ext cx="590387"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progress</a:t>
              </a:r>
            </a:p>
          </p:txBody>
        </p:sp>
        <p:sp>
          <p:nvSpPr>
            <p:cNvPr id="111" name="Line 111"/>
            <p:cNvSpPr/>
            <p:nvPr/>
          </p:nvSpPr>
          <p:spPr>
            <a:xfrm>
              <a:off x="9353550" y="5600700"/>
              <a:ext cx="504825" cy="1"/>
            </a:xfrm>
            <a:prstGeom prst="line">
              <a:avLst/>
            </a:prstGeom>
            <a:noFill/>
            <a:ln w="23812">
              <a:solidFill>
                <a:srgbClr val="CCBB44"/>
              </a:solidFill>
              <a:prstDash val="dash"/>
              <a:tailEnd type="triangle" w="lg" len="lg"/>
            </a:ln>
          </p:spPr>
        </p:sp>
        <p:sp>
          <p:nvSpPr>
            <p:cNvPr id="112" name="TextBox 112"/>
            <p:cNvSpPr txBox="1"/>
            <p:nvPr/>
          </p:nvSpPr>
          <p:spPr>
            <a:xfrm>
              <a:off x="9996297" y="5552599"/>
              <a:ext cx="1098309"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recoverable wait</a:t>
              </a:r>
            </a:p>
          </p:txBody>
        </p:sp>
        <p:sp>
          <p:nvSpPr>
            <p:cNvPr id="113" name="Line 113"/>
            <p:cNvSpPr/>
            <p:nvPr/>
          </p:nvSpPr>
          <p:spPr>
            <a:xfrm>
              <a:off x="10791825" y="5362575"/>
              <a:ext cx="504825" cy="1"/>
            </a:xfrm>
            <a:prstGeom prst="line">
              <a:avLst/>
            </a:prstGeom>
            <a:noFill/>
            <a:ln w="23812">
              <a:solidFill>
                <a:srgbClr val="EE6677"/>
              </a:solidFill>
              <a:tailEnd type="triangle" w="lg" len="lg"/>
            </a:ln>
          </p:spPr>
        </p:sp>
        <p:sp>
          <p:nvSpPr>
            <p:cNvPr id="114" name="TextBox 114"/>
            <p:cNvSpPr txBox="1"/>
            <p:nvPr/>
          </p:nvSpPr>
          <p:spPr>
            <a:xfrm>
              <a:off x="10917126" y="5314474"/>
              <a:ext cx="517827" cy="190690"/>
            </a:xfrm>
            <a:prstGeom prst="rect">
              <a:avLst/>
            </a:prstGeom>
            <a:noFill/>
            <a:ln>
              <a:noFill/>
            </a:ln>
          </p:spPr>
          <p:txBody>
            <a:bodyPr wrap="none" lIns="0" tIns="0" rIns="0" bIns="0" anchor="t" anchorCtr="0">
              <a:spAutoFit/>
            </a:bodyPr>
            <a:lstStyle/>
            <a:p>
              <a:pPr algn="r"/>
              <a:r>
                <a:rPr lang="en-US" sz="980" dirty="0">
                  <a:solidFill>
                    <a:schemeClr val="dk1"/>
                  </a:solidFill>
                  <a:latin typeface="+mn-lt"/>
                  <a:ea typeface="+mn-ea"/>
                  <a:cs typeface="+mn-cs"/>
                </a:rPr>
                <a:t>breaker</a:t>
              </a:r>
            </a:p>
          </p:txBody>
        </p:sp>
        <p:sp>
          <p:nvSpPr>
            <p:cNvPr id="115" name="Line 115"/>
            <p:cNvSpPr/>
            <p:nvPr/>
          </p:nvSpPr>
          <p:spPr>
            <a:xfrm>
              <a:off x="10791825" y="5600700"/>
              <a:ext cx="504825" cy="1"/>
            </a:xfrm>
            <a:prstGeom prst="line">
              <a:avLst/>
            </a:prstGeom>
            <a:noFill/>
            <a:ln w="23812">
              <a:solidFill>
                <a:srgbClr val="AA3377"/>
              </a:solidFill>
              <a:prstDash val="lgDashDot"/>
              <a:tailEnd type="triangle" w="lg" len="lg"/>
            </a:ln>
          </p:spPr>
        </p:sp>
        <p:sp>
          <p:nvSpPr>
            <p:cNvPr id="116" name="TextBox 116"/>
            <p:cNvSpPr txBox="1"/>
            <p:nvPr/>
          </p:nvSpPr>
          <p:spPr>
            <a:xfrm>
              <a:off x="10804987" y="5552599"/>
              <a:ext cx="629966" cy="190690"/>
            </a:xfrm>
            <a:prstGeom prst="rect">
              <a:avLst/>
            </a:prstGeom>
            <a:noFill/>
            <a:ln>
              <a:noFill/>
            </a:ln>
          </p:spPr>
          <p:txBody>
            <a:bodyPr wrap="none" lIns="0" tIns="0" rIns="0" bIns="0" anchor="t" anchorCtr="0">
              <a:spAutoFit/>
            </a:bodyPr>
            <a:lstStyle/>
            <a:p>
              <a:pPr algn="r"/>
              <a:r>
                <a:rPr lang="en-US" sz="980" dirty="0">
                  <a:solidFill>
                    <a:schemeClr val="dk1"/>
                  </a:solidFill>
                  <a:latin typeface="+mn-lt"/>
                  <a:ea typeface="+mn-ea"/>
                  <a:cs typeface="+mn-cs"/>
                </a:rPr>
                <a:t>authority</a:t>
              </a:r>
            </a:p>
          </p:txBody>
        </p:sp>
        <p:sp>
          <p:nvSpPr>
            <p:cNvPr id="117" name="TextBox 117"/>
            <p:cNvSpPr txBox="1"/>
            <p:nvPr/>
          </p:nvSpPr>
          <p:spPr>
            <a:xfrm>
              <a:off x="9348597" y="5800249"/>
              <a:ext cx="2182189" cy="190690"/>
            </a:xfrm>
            <a:prstGeom prst="rect">
              <a:avLst/>
            </a:prstGeom>
            <a:noFill/>
            <a:ln>
              <a:noFill/>
            </a:ln>
          </p:spPr>
          <p:txBody>
            <a:bodyPr wrap="none" lIns="0" tIns="0" rIns="0" bIns="0" anchor="t" anchorCtr="0">
              <a:spAutoFit/>
            </a:bodyPr>
            <a:lstStyle/>
            <a:p>
              <a:pPr algn="l"/>
              <a:r>
                <a:rPr lang="en-US" sz="980" b="1" dirty="0">
                  <a:solidFill>
                    <a:schemeClr val="accent6"/>
                  </a:solidFill>
                  <a:latin typeface="+mn-lt"/>
                  <a:ea typeface="+mn-ea"/>
                  <a:cs typeface="+mn-cs"/>
                </a:rPr>
                <a:t>Result: no implicit infinite loop.</a:t>
              </a:r>
            </a:p>
          </p:txBody>
        </p:sp>
      </p:grpSp>
      <p:grpSp>
        <p:nvGrpSpPr>
          <p:cNvPr id="122" name="Group 122"/>
          <p:cNvGrpSpPr/>
          <p:nvPr/>
        </p:nvGrpSpPr>
        <p:grpSpPr>
          <a:xfrm>
            <a:off x="376047" y="6438900"/>
            <a:ext cx="11439906" cy="275939"/>
            <a:chOff x="376047" y="6438900"/>
            <a:chExt cx="11439906" cy="275939"/>
          </a:xfrm>
        </p:grpSpPr>
        <p:sp>
          <p:nvSpPr>
            <p:cNvPr id="119" name="Line 119"/>
            <p:cNvSpPr/>
            <p:nvPr/>
          </p:nvSpPr>
          <p:spPr>
            <a:xfrm>
              <a:off x="381000" y="6438900"/>
              <a:ext cx="11430000" cy="9525"/>
            </a:xfrm>
            <a:custGeom>
              <a:avLst/>
              <a:gdLst/>
              <a:ahLst/>
              <a:cxnLst/>
              <a:rect l="l" t="t" r="r" b="b"/>
              <a:pathLst>
                <a:path w="11430000" h="9525">
                  <a:moveTo>
                    <a:pt x="0" y="0"/>
                  </a:moveTo>
                  <a:lnTo>
                    <a:pt x="11430000" y="0"/>
                  </a:lnTo>
                </a:path>
              </a:pathLst>
            </a:custGeom>
            <a:noFill/>
            <a:ln w="9525">
              <a:solidFill>
                <a:schemeClr val="accent4"/>
              </a:solidFill>
            </a:ln>
          </p:spPr>
        </p:sp>
        <p:sp>
          <p:nvSpPr>
            <p:cNvPr id="120" name="TextBox 120"/>
            <p:cNvSpPr txBox="1"/>
            <p:nvPr/>
          </p:nvSpPr>
          <p:spPr>
            <a:xfrm>
              <a:off x="376047" y="6524149"/>
              <a:ext cx="6371209"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Figure 1 | Repaired authority, execution, backlog reconciliation, and persistent-state exit edges.</a:t>
              </a:r>
            </a:p>
          </p:txBody>
        </p:sp>
        <p:sp>
          <p:nvSpPr>
            <p:cNvPr id="121" name="TextBox 121"/>
            <p:cNvSpPr txBox="1"/>
            <p:nvPr/>
          </p:nvSpPr>
          <p:spPr>
            <a:xfrm>
              <a:off x="9847544" y="6524149"/>
              <a:ext cx="1968409" cy="190690"/>
            </a:xfrm>
            <a:prstGeom prst="rect">
              <a:avLst/>
            </a:prstGeom>
            <a:noFill/>
            <a:ln>
              <a:noFill/>
            </a:ln>
          </p:spPr>
          <p:txBody>
            <a:bodyPr wrap="none" lIns="0" tIns="0" rIns="0" bIns="0" anchor="t" anchorCtr="0">
              <a:spAutoFit/>
            </a:bodyPr>
            <a:lstStyle/>
            <a:p>
              <a:pPr algn="r"/>
              <a:r>
                <a:rPr lang="en-US" sz="980" dirty="0">
                  <a:solidFill>
                    <a:schemeClr val="accent6"/>
                  </a:solidFill>
                  <a:latin typeface="Consolas"/>
                  <a:ea typeface="Consolas"/>
                  <a:cs typeface="Consolas"/>
                </a:rPr>
                <a:t>LIVENESS-SAFE STATE MACHINE</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381000" y="260985"/>
            <a:ext cx="11434953" cy="737235"/>
            <a:chOff x="381000" y="260985"/>
            <a:chExt cx="11434953" cy="737235"/>
          </a:xfrm>
        </p:grpSpPr>
        <p:sp>
          <p:nvSpPr>
            <p:cNvPr id="2" name="Rectangle 2"/>
            <p:cNvSpPr/>
            <p:nvPr/>
          </p:nvSpPr>
          <p:spPr>
            <a:xfrm>
              <a:off x="381000" y="276225"/>
              <a:ext cx="66675" cy="361950"/>
            </a:xfrm>
            <a:prstGeom prst="roundRect">
              <a:avLst>
                <a:gd name="adj" fmla="val 50000"/>
              </a:avLst>
            </a:prstGeom>
            <a:solidFill>
              <a:schemeClr val="accent6"/>
            </a:solidFill>
            <a:ln>
              <a:noFill/>
            </a:ln>
          </p:spPr>
        </p:sp>
        <p:sp>
          <p:nvSpPr>
            <p:cNvPr id="3" name="TextBox 3"/>
            <p:cNvSpPr txBox="1"/>
            <p:nvPr/>
          </p:nvSpPr>
          <p:spPr>
            <a:xfrm>
              <a:off x="567309" y="260985"/>
              <a:ext cx="9999393"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Liveness Safeguard Atlas: How All 13 Risks Are Closed</a:t>
              </a:r>
            </a:p>
          </p:txBody>
        </p:sp>
        <p:sp>
          <p:nvSpPr>
            <p:cNvPr id="4" name="TextBox 4"/>
            <p:cNvSpPr txBox="1"/>
            <p:nvPr/>
          </p:nvSpPr>
          <p:spPr>
            <a:xfrm>
              <a:off x="573405" y="704850"/>
              <a:ext cx="1088575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Every closed component now exits deterministically; repeated failure cannot consume unbounded model spend.</a:t>
              </a:r>
            </a:p>
          </p:txBody>
        </p:sp>
        <p:sp>
          <p:nvSpPr>
            <p:cNvPr id="5" name="TextBox 5"/>
            <p:cNvSpPr txBox="1"/>
            <p:nvPr/>
          </p:nvSpPr>
          <p:spPr>
            <a:xfrm>
              <a:off x="9983803" y="304324"/>
              <a:ext cx="1832150" cy="190690"/>
            </a:xfrm>
            <a:prstGeom prst="rect">
              <a:avLst/>
            </a:prstGeom>
            <a:noFill/>
            <a:ln>
              <a:noFill/>
            </a:ln>
          </p:spPr>
          <p:txBody>
            <a:bodyPr wrap="none" lIns="0" tIns="0" rIns="0" bIns="0" anchor="t" anchorCtr="0">
              <a:spAutoFit/>
            </a:bodyPr>
            <a:lstStyle/>
            <a:p>
              <a:pPr algn="r"/>
              <a:r>
                <a:rPr lang="en-US" sz="980" b="1" dirty="0">
                  <a:solidFill>
                    <a:schemeClr val="accent6"/>
                  </a:solidFill>
                  <a:latin typeface="Consolas"/>
                  <a:ea typeface="Consolas"/>
                  <a:cs typeface="Consolas"/>
                </a:rPr>
                <a:t>FIG. 2 · LIVENESS CLOSURE</a:t>
              </a:r>
            </a:p>
          </p:txBody>
        </p:sp>
        <p:sp>
          <p:nvSpPr>
            <p:cNvPr id="6" name="Line 6"/>
            <p:cNvSpPr/>
            <p:nvPr/>
          </p:nvSpPr>
          <p:spPr>
            <a:xfrm>
              <a:off x="10048875" y="552450"/>
              <a:ext cx="1762125" cy="9525"/>
            </a:xfrm>
            <a:custGeom>
              <a:avLst/>
              <a:gdLst/>
              <a:ahLst/>
              <a:cxnLst/>
              <a:rect l="l" t="t" r="r" b="b"/>
              <a:pathLst>
                <a:path w="1762125" h="9525">
                  <a:moveTo>
                    <a:pt x="0" y="0"/>
                  </a:moveTo>
                  <a:lnTo>
                    <a:pt x="1762125" y="0"/>
                  </a:lnTo>
                </a:path>
              </a:pathLst>
            </a:custGeom>
            <a:noFill/>
            <a:ln w="9525">
              <a:solidFill>
                <a:schemeClr val="accent4"/>
              </a:solidFill>
            </a:ln>
          </p:spPr>
        </p:sp>
        <p:sp>
          <p:nvSpPr>
            <p:cNvPr id="7" name="TextBox 7"/>
            <p:cNvSpPr txBox="1"/>
            <p:nvPr/>
          </p:nvSpPr>
          <p:spPr>
            <a:xfrm>
              <a:off x="9108128" y="675799"/>
              <a:ext cx="2707825" cy="190690"/>
            </a:xfrm>
            <a:prstGeom prst="rect">
              <a:avLst/>
            </a:prstGeom>
            <a:noFill/>
            <a:ln>
              <a:noFill/>
            </a:ln>
          </p:spPr>
          <p:txBody>
            <a:bodyPr wrap="none" lIns="0" tIns="0" rIns="0" bIns="0" anchor="t" anchorCtr="0">
              <a:spAutoFit/>
            </a:bodyPr>
            <a:lstStyle/>
            <a:p>
              <a:pPr algn="r"/>
              <a:r>
                <a:rPr lang="en-US" sz="980" dirty="0">
                  <a:solidFill>
                    <a:schemeClr val="dk1"/>
                  </a:solidFill>
                  <a:latin typeface="+mn-lt"/>
                  <a:ea typeface="+mn-ea"/>
                  <a:cs typeface="+mn-cs"/>
                </a:rPr>
                <a:t>former risk → guard → safe terminal state</a:t>
              </a:r>
            </a:p>
          </p:txBody>
        </p:sp>
      </p:grpSp>
      <p:grpSp>
        <p:nvGrpSpPr>
          <p:cNvPr id="30" name="Group 30"/>
          <p:cNvGrpSpPr/>
          <p:nvPr/>
        </p:nvGrpSpPr>
        <p:grpSpPr>
          <a:xfrm>
            <a:off x="381000" y="1162050"/>
            <a:ext cx="2324100" cy="4629150"/>
            <a:chOff x="381000" y="1162050"/>
            <a:chExt cx="2324100" cy="4629150"/>
          </a:xfrm>
        </p:grpSpPr>
        <p:sp>
          <p:nvSpPr>
            <p:cNvPr id="9" name="Rectangle 9"/>
            <p:cNvSpPr/>
            <p:nvPr/>
          </p:nvSpPr>
          <p:spPr>
            <a:xfrm>
              <a:off x="381000" y="1162050"/>
              <a:ext cx="2324100" cy="4629150"/>
            </a:xfrm>
            <a:prstGeom prst="roundRect">
              <a:avLst>
                <a:gd name="adj" fmla="val 4098"/>
              </a:avLst>
            </a:prstGeom>
            <a:solidFill>
              <a:schemeClr val="accent5"/>
            </a:solidFill>
            <a:ln w="14288">
              <a:solidFill>
                <a:schemeClr val="accent4"/>
              </a:solidFill>
            </a:ln>
          </p:spPr>
        </p:sp>
        <p:sp>
          <p:nvSpPr>
            <p:cNvPr id="10" name="TextBox 10"/>
            <p:cNvSpPr txBox="1"/>
            <p:nvPr/>
          </p:nvSpPr>
          <p:spPr>
            <a:xfrm>
              <a:off x="563880" y="1295400"/>
              <a:ext cx="1781701" cy="293370"/>
            </a:xfrm>
            <a:prstGeom prst="rect">
              <a:avLst/>
            </a:prstGeom>
            <a:noFill/>
            <a:ln>
              <a:noFill/>
            </a:ln>
          </p:spPr>
          <p:txBody>
            <a:bodyPr wrap="none" lIns="0" tIns="0" rIns="0" bIns="0" anchor="t" anchorCtr="0">
              <a:spAutoFit/>
            </a:bodyPr>
            <a:lstStyle/>
            <a:p>
              <a:pPr algn="l"/>
              <a:r>
                <a:rPr lang="en-US" sz="1500" b="1" dirty="0">
                  <a:solidFill>
                    <a:schemeClr val="accent6"/>
                  </a:solidFill>
                  <a:latin typeface="+mn-lt"/>
                  <a:ea typeface="+mn-ea"/>
                  <a:cs typeface="+mn-cs"/>
                </a:rPr>
                <a:t>Safe progression</a:t>
              </a:r>
            </a:p>
          </p:txBody>
        </p:sp>
        <p:sp>
          <p:nvSpPr>
            <p:cNvPr id="11" name="TextBox 11"/>
            <p:cNvSpPr txBox="1"/>
            <p:nvPr/>
          </p:nvSpPr>
          <p:spPr>
            <a:xfrm>
              <a:off x="566547" y="1571149"/>
              <a:ext cx="1881084"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Every step advances or exits</a:t>
              </a:r>
            </a:p>
          </p:txBody>
        </p:sp>
        <p:sp>
          <p:nvSpPr>
            <p:cNvPr id="12" name="Line 12"/>
            <p:cNvSpPr/>
            <p:nvPr/>
          </p:nvSpPr>
          <p:spPr>
            <a:xfrm>
              <a:off x="571500" y="1809750"/>
              <a:ext cx="1943100" cy="9525"/>
            </a:xfrm>
            <a:custGeom>
              <a:avLst/>
              <a:gdLst/>
              <a:ahLst/>
              <a:cxnLst/>
              <a:rect l="l" t="t" r="r" b="b"/>
              <a:pathLst>
                <a:path w="1943100" h="9525">
                  <a:moveTo>
                    <a:pt x="0" y="0"/>
                  </a:moveTo>
                  <a:lnTo>
                    <a:pt x="1943100" y="0"/>
                  </a:lnTo>
                </a:path>
              </a:pathLst>
            </a:custGeom>
            <a:noFill/>
            <a:ln w="9525">
              <a:solidFill>
                <a:schemeClr val="accent4"/>
              </a:solidFill>
            </a:ln>
          </p:spPr>
        </p:sp>
        <p:sp>
          <p:nvSpPr>
            <p:cNvPr id="13" name="Rectangle 13"/>
            <p:cNvSpPr/>
            <p:nvPr/>
          </p:nvSpPr>
          <p:spPr>
            <a:xfrm>
              <a:off x="704850" y="2000250"/>
              <a:ext cx="1676400" cy="419100"/>
            </a:xfrm>
            <a:prstGeom prst="roundRect">
              <a:avLst>
                <a:gd name="adj" fmla="val 15909"/>
              </a:avLst>
            </a:prstGeom>
            <a:solidFill>
              <a:schemeClr val="lt1"/>
            </a:solidFill>
            <a:ln w="14288">
              <a:solidFill>
                <a:schemeClr val="accent2"/>
              </a:solidFill>
            </a:ln>
          </p:spPr>
        </p:sp>
        <p:sp>
          <p:nvSpPr>
            <p:cNvPr id="14" name="TextBox 14"/>
            <p:cNvSpPr txBox="1"/>
            <p:nvPr/>
          </p:nvSpPr>
          <p:spPr>
            <a:xfrm>
              <a:off x="1067121" y="2145506"/>
              <a:ext cx="951859"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DAG validate</a:t>
              </a:r>
            </a:p>
          </p:txBody>
        </p:sp>
        <p:sp>
          <p:nvSpPr>
            <p:cNvPr id="15" name="Line 15"/>
            <p:cNvSpPr/>
            <p:nvPr/>
          </p:nvSpPr>
          <p:spPr>
            <a:xfrm>
              <a:off x="1543050" y="2419350"/>
              <a:ext cx="1" cy="190500"/>
            </a:xfrm>
            <a:prstGeom prst="line">
              <a:avLst/>
            </a:prstGeom>
            <a:noFill/>
            <a:ln w="23812">
              <a:solidFill>
                <a:schemeClr val="accent6"/>
              </a:solidFill>
              <a:tailEnd type="triangle" w="lg" len="lg"/>
            </a:ln>
          </p:spPr>
        </p:sp>
        <p:sp>
          <p:nvSpPr>
            <p:cNvPr id="16" name="Rectangle 16"/>
            <p:cNvSpPr/>
            <p:nvPr/>
          </p:nvSpPr>
          <p:spPr>
            <a:xfrm>
              <a:off x="704850" y="2686050"/>
              <a:ext cx="1676400" cy="419100"/>
            </a:xfrm>
            <a:prstGeom prst="roundRect">
              <a:avLst>
                <a:gd name="adj" fmla="val 15909"/>
              </a:avLst>
            </a:prstGeom>
            <a:solidFill>
              <a:schemeClr val="lt1"/>
            </a:solidFill>
            <a:ln w="14288">
              <a:solidFill>
                <a:schemeClr val="accent6"/>
              </a:solidFill>
            </a:ln>
          </p:spPr>
        </p:sp>
        <p:sp>
          <p:nvSpPr>
            <p:cNvPr id="17" name="TextBox 17"/>
            <p:cNvSpPr txBox="1"/>
            <p:nvPr/>
          </p:nvSpPr>
          <p:spPr>
            <a:xfrm>
              <a:off x="876378" y="2831306"/>
              <a:ext cx="1333345"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reconcile → ready</a:t>
              </a:r>
            </a:p>
          </p:txBody>
        </p:sp>
        <p:sp>
          <p:nvSpPr>
            <p:cNvPr id="18" name="Line 18"/>
            <p:cNvSpPr/>
            <p:nvPr/>
          </p:nvSpPr>
          <p:spPr>
            <a:xfrm>
              <a:off x="1543050" y="3105150"/>
              <a:ext cx="1" cy="190500"/>
            </a:xfrm>
            <a:prstGeom prst="line">
              <a:avLst/>
            </a:prstGeom>
            <a:noFill/>
            <a:ln w="23812">
              <a:solidFill>
                <a:schemeClr val="accent6"/>
              </a:solidFill>
              <a:tailEnd type="triangle" w="lg" len="lg"/>
            </a:ln>
          </p:spPr>
        </p:sp>
        <p:sp>
          <p:nvSpPr>
            <p:cNvPr id="19" name="Rectangle 19"/>
            <p:cNvSpPr/>
            <p:nvPr/>
          </p:nvSpPr>
          <p:spPr>
            <a:xfrm>
              <a:off x="704850" y="3371850"/>
              <a:ext cx="1676400" cy="419100"/>
            </a:xfrm>
            <a:prstGeom prst="roundRect">
              <a:avLst>
                <a:gd name="adj" fmla="val 15909"/>
              </a:avLst>
            </a:prstGeom>
            <a:solidFill>
              <a:schemeClr val="lt1"/>
            </a:solidFill>
            <a:ln w="14288">
              <a:solidFill>
                <a:schemeClr val="accent6"/>
              </a:solidFill>
            </a:ln>
          </p:spPr>
        </p:sp>
        <p:sp>
          <p:nvSpPr>
            <p:cNvPr id="20" name="TextBox 20"/>
            <p:cNvSpPr txBox="1"/>
            <p:nvPr/>
          </p:nvSpPr>
          <p:spPr>
            <a:xfrm>
              <a:off x="884293" y="3517106"/>
              <a:ext cx="1317513"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execute → review</a:t>
              </a:r>
            </a:p>
          </p:txBody>
        </p:sp>
        <p:sp>
          <p:nvSpPr>
            <p:cNvPr id="21" name="Line 21"/>
            <p:cNvSpPr/>
            <p:nvPr/>
          </p:nvSpPr>
          <p:spPr>
            <a:xfrm>
              <a:off x="1543050" y="3790950"/>
              <a:ext cx="1" cy="190500"/>
            </a:xfrm>
            <a:prstGeom prst="line">
              <a:avLst/>
            </a:prstGeom>
            <a:noFill/>
            <a:ln w="23812">
              <a:solidFill>
                <a:schemeClr val="accent6"/>
              </a:solidFill>
              <a:tailEnd type="triangle" w="lg" len="lg"/>
            </a:ln>
          </p:spPr>
        </p:sp>
        <p:sp>
          <p:nvSpPr>
            <p:cNvPr id="22" name="Rectangle 22"/>
            <p:cNvSpPr/>
            <p:nvPr/>
          </p:nvSpPr>
          <p:spPr>
            <a:xfrm>
              <a:off x="704850" y="4057650"/>
              <a:ext cx="1676400" cy="419100"/>
            </a:xfrm>
            <a:prstGeom prst="roundRect">
              <a:avLst>
                <a:gd name="adj" fmla="val 15909"/>
              </a:avLst>
            </a:prstGeom>
            <a:solidFill>
              <a:schemeClr val="lt1"/>
            </a:solidFill>
            <a:ln w="14288">
              <a:solidFill>
                <a:srgbClr val="AA3377"/>
              </a:solidFill>
            </a:ln>
          </p:spPr>
        </p:sp>
        <p:sp>
          <p:nvSpPr>
            <p:cNvPr id="23" name="TextBox 23"/>
            <p:cNvSpPr txBox="1"/>
            <p:nvPr/>
          </p:nvSpPr>
          <p:spPr>
            <a:xfrm>
              <a:off x="881829" y="4202906"/>
              <a:ext cx="1322442"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Manager decision</a:t>
              </a:r>
            </a:p>
          </p:txBody>
        </p:sp>
        <p:sp>
          <p:nvSpPr>
            <p:cNvPr id="24" name="Line 24"/>
            <p:cNvSpPr/>
            <p:nvPr/>
          </p:nvSpPr>
          <p:spPr>
            <a:xfrm>
              <a:off x="1543050" y="4476750"/>
              <a:ext cx="1" cy="190500"/>
            </a:xfrm>
            <a:prstGeom prst="line">
              <a:avLst/>
            </a:prstGeom>
            <a:noFill/>
            <a:ln w="23812">
              <a:solidFill>
                <a:schemeClr val="accent6"/>
              </a:solidFill>
              <a:tailEnd type="triangle" w="lg" len="lg"/>
            </a:ln>
          </p:spPr>
        </p:sp>
        <p:sp>
          <p:nvSpPr>
            <p:cNvPr id="25" name="Rectangle 25"/>
            <p:cNvSpPr/>
            <p:nvPr/>
          </p:nvSpPr>
          <p:spPr>
            <a:xfrm>
              <a:off x="704850" y="4743450"/>
              <a:ext cx="1676400" cy="495300"/>
            </a:xfrm>
            <a:prstGeom prst="roundRect">
              <a:avLst>
                <a:gd name="adj" fmla="val 13462"/>
              </a:avLst>
            </a:prstGeom>
            <a:solidFill>
              <a:schemeClr val="accent6">
                <a:alpha val="8000"/>
              </a:schemeClr>
            </a:solidFill>
            <a:ln w="19050">
              <a:solidFill>
                <a:schemeClr val="accent6"/>
              </a:solidFill>
            </a:ln>
          </p:spPr>
        </p:sp>
        <p:sp>
          <p:nvSpPr>
            <p:cNvPr id="26" name="TextBox 26"/>
            <p:cNvSpPr txBox="1"/>
            <p:nvPr/>
          </p:nvSpPr>
          <p:spPr>
            <a:xfrm>
              <a:off x="1012437" y="4831556"/>
              <a:ext cx="1061225"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Safe terminal</a:t>
              </a:r>
            </a:p>
          </p:txBody>
        </p:sp>
        <p:sp>
          <p:nvSpPr>
            <p:cNvPr id="27" name="TextBox 27"/>
            <p:cNvSpPr txBox="1"/>
            <p:nvPr/>
          </p:nvSpPr>
          <p:spPr>
            <a:xfrm>
              <a:off x="598113" y="5038249"/>
              <a:ext cx="1889874"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Consolas"/>
                  <a:ea typeface="Consolas"/>
                  <a:cs typeface="Consolas"/>
                </a:rPr>
                <a:t>done | skipped | failed | human</a:t>
              </a:r>
            </a:p>
          </p:txBody>
        </p:sp>
        <p:sp>
          <p:nvSpPr>
            <p:cNvPr id="28" name="TextBox 28"/>
            <p:cNvSpPr txBox="1"/>
            <p:nvPr/>
          </p:nvSpPr>
          <p:spPr>
            <a:xfrm>
              <a:off x="566547" y="5400199"/>
              <a:ext cx="1135920" cy="190690"/>
            </a:xfrm>
            <a:prstGeom prst="rect">
              <a:avLst/>
            </a:prstGeom>
            <a:noFill/>
            <a:ln>
              <a:noFill/>
            </a:ln>
          </p:spPr>
          <p:txBody>
            <a:bodyPr wrap="none" lIns="0" tIns="0" rIns="0" bIns="0" anchor="t" anchorCtr="0">
              <a:spAutoFit/>
            </a:bodyPr>
            <a:lstStyle/>
            <a:p>
              <a:pPr algn="l"/>
              <a:r>
                <a:rPr lang="en-US" sz="980" b="1" dirty="0">
                  <a:solidFill>
                    <a:schemeClr val="accent6"/>
                  </a:solidFill>
                  <a:latin typeface="+mn-lt"/>
                  <a:ea typeface="+mn-ea"/>
                  <a:cs typeface="+mn-cs"/>
                </a:rPr>
                <a:t>Unified condition</a:t>
              </a:r>
            </a:p>
          </p:txBody>
        </p:sp>
        <p:sp>
          <p:nvSpPr>
            <p:cNvPr id="29" name="TextBox 29"/>
            <p:cNvSpPr txBox="1"/>
            <p:nvPr/>
          </p:nvSpPr>
          <p:spPr>
            <a:xfrm>
              <a:off x="566547" y="5590699"/>
              <a:ext cx="1982224"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pending ⇒ successor ∨ terminal</a:t>
              </a:r>
            </a:p>
          </p:txBody>
        </p:sp>
      </p:grpSp>
      <p:grpSp>
        <p:nvGrpSpPr>
          <p:cNvPr id="60" name="Group 60"/>
          <p:cNvGrpSpPr/>
          <p:nvPr/>
        </p:nvGrpSpPr>
        <p:grpSpPr>
          <a:xfrm>
            <a:off x="2952750" y="1162050"/>
            <a:ext cx="4097606" cy="4629150"/>
            <a:chOff x="2952750" y="1162050"/>
            <a:chExt cx="4097606" cy="4629150"/>
          </a:xfrm>
        </p:grpSpPr>
        <p:sp>
          <p:nvSpPr>
            <p:cNvPr id="31" name="Rectangle 31"/>
            <p:cNvSpPr/>
            <p:nvPr/>
          </p:nvSpPr>
          <p:spPr>
            <a:xfrm>
              <a:off x="2952750" y="1162050"/>
              <a:ext cx="4095750" cy="4629150"/>
            </a:xfrm>
            <a:prstGeom prst="roundRect">
              <a:avLst>
                <a:gd name="adj" fmla="val 2326"/>
              </a:avLst>
            </a:prstGeom>
            <a:solidFill>
              <a:schemeClr val="lt1"/>
            </a:solidFill>
            <a:ln w="19050">
              <a:solidFill>
                <a:schemeClr val="accent6"/>
              </a:solidFill>
            </a:ln>
          </p:spPr>
        </p:sp>
        <p:sp>
          <p:nvSpPr>
            <p:cNvPr id="32" name="Rectangle 32"/>
            <p:cNvSpPr/>
            <p:nvPr/>
          </p:nvSpPr>
          <p:spPr>
            <a:xfrm>
              <a:off x="2952750" y="1162050"/>
              <a:ext cx="4095750" cy="400050"/>
            </a:xfrm>
            <a:prstGeom prst="roundRect">
              <a:avLst>
                <a:gd name="adj" fmla="val 21429"/>
              </a:avLst>
            </a:prstGeom>
            <a:solidFill>
              <a:schemeClr val="accent6">
                <a:alpha val="8000"/>
              </a:schemeClr>
            </a:solidFill>
            <a:ln>
              <a:noFill/>
            </a:ln>
          </p:spPr>
        </p:sp>
        <p:sp>
          <p:nvSpPr>
            <p:cNvPr id="33" name="TextBox 33"/>
            <p:cNvSpPr txBox="1"/>
            <p:nvPr/>
          </p:nvSpPr>
          <p:spPr>
            <a:xfrm>
              <a:off x="3134106" y="1243965"/>
              <a:ext cx="1335573" cy="352044"/>
            </a:xfrm>
            <a:prstGeom prst="rect">
              <a:avLst/>
            </a:prstGeom>
            <a:noFill/>
            <a:ln>
              <a:noFill/>
            </a:ln>
          </p:spPr>
          <p:txBody>
            <a:bodyPr wrap="none" lIns="0" tIns="0" rIns="0" bIns="0" anchor="t" anchorCtr="0">
              <a:spAutoFit/>
            </a:bodyPr>
            <a:lstStyle/>
            <a:p>
              <a:pPr algn="l"/>
              <a:r>
                <a:rPr lang="en-US" sz="1800" b="1" dirty="0">
                  <a:solidFill>
                    <a:schemeClr val="accent6"/>
                  </a:solidFill>
                  <a:latin typeface="Consolas"/>
                  <a:ea typeface="Consolas"/>
                  <a:cs typeface="Consolas"/>
                </a:rPr>
                <a:t>P0 CLOSED</a:t>
              </a:r>
            </a:p>
          </p:txBody>
        </p:sp>
        <p:sp>
          <p:nvSpPr>
            <p:cNvPr id="34" name="TextBox 34"/>
            <p:cNvSpPr txBox="1"/>
            <p:nvPr/>
          </p:nvSpPr>
          <p:spPr>
            <a:xfrm>
              <a:off x="4490085" y="1307306"/>
              <a:ext cx="256027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permanent loss → fail-closed exit</a:t>
              </a:r>
            </a:p>
          </p:txBody>
        </p:sp>
        <p:sp>
          <p:nvSpPr>
            <p:cNvPr id="35" name="TextBox 35"/>
            <p:cNvSpPr txBox="1"/>
            <p:nvPr/>
          </p:nvSpPr>
          <p:spPr>
            <a:xfrm>
              <a:off x="3137535" y="1688306"/>
              <a:ext cx="1277338" cy="220028"/>
            </a:xfrm>
            <a:prstGeom prst="rect">
              <a:avLst/>
            </a:prstGeom>
            <a:noFill/>
            <a:ln>
              <a:noFill/>
            </a:ln>
          </p:spPr>
          <p:txBody>
            <a:bodyPr wrap="none" lIns="0" tIns="0" rIns="0" bIns="0" anchor="t" anchorCtr="0">
              <a:spAutoFit/>
            </a:bodyPr>
            <a:lstStyle/>
            <a:p>
              <a:pPr algn="l"/>
              <a:r>
                <a:rPr lang="en-US" sz="1120" b="1" dirty="0">
                  <a:solidFill>
                    <a:srgbClr val="EE6677"/>
                  </a:solidFill>
                  <a:latin typeface="Consolas"/>
                  <a:ea typeface="Consolas"/>
                  <a:cs typeface="Consolas"/>
                </a:rPr>
                <a:t>P0-1 · DAG cycle</a:t>
              </a:r>
            </a:p>
          </p:txBody>
        </p:sp>
        <p:sp>
          <p:nvSpPr>
            <p:cNvPr id="36" name="TextBox 36"/>
            <p:cNvSpPr txBox="1"/>
            <p:nvPr/>
          </p:nvSpPr>
          <p:spPr>
            <a:xfrm>
              <a:off x="4585335" y="1688306"/>
              <a:ext cx="2268852"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reject new; legacy SCC → skip</a:t>
              </a:r>
            </a:p>
          </p:txBody>
        </p:sp>
        <p:sp>
          <p:nvSpPr>
            <p:cNvPr id="37" name="TextBox 37"/>
            <p:cNvSpPr txBox="1"/>
            <p:nvPr/>
          </p:nvSpPr>
          <p:spPr>
            <a:xfrm>
              <a:off x="3138297" y="1904524"/>
              <a:ext cx="2149470"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cycle → ValueError | terminal skip</a:t>
              </a:r>
            </a:p>
          </p:txBody>
        </p:sp>
        <p:sp>
          <p:nvSpPr>
            <p:cNvPr id="38" name="Line 38"/>
            <p:cNvSpPr/>
            <p:nvPr/>
          </p:nvSpPr>
          <p:spPr>
            <a:xfrm>
              <a:off x="3143250" y="2152650"/>
              <a:ext cx="3714750" cy="9525"/>
            </a:xfrm>
            <a:custGeom>
              <a:avLst/>
              <a:gdLst/>
              <a:ahLst/>
              <a:cxnLst/>
              <a:rect l="l" t="t" r="r" b="b"/>
              <a:pathLst>
                <a:path w="3714750" h="9525">
                  <a:moveTo>
                    <a:pt x="0" y="0"/>
                  </a:moveTo>
                  <a:lnTo>
                    <a:pt x="3714750" y="0"/>
                  </a:lnTo>
                </a:path>
              </a:pathLst>
            </a:custGeom>
            <a:noFill/>
            <a:ln w="9525">
              <a:solidFill>
                <a:schemeClr val="accent4"/>
              </a:solidFill>
            </a:ln>
          </p:spPr>
        </p:sp>
        <p:sp>
          <p:nvSpPr>
            <p:cNvPr id="39" name="TextBox 39"/>
            <p:cNvSpPr txBox="1"/>
            <p:nvPr/>
          </p:nvSpPr>
          <p:spPr>
            <a:xfrm>
              <a:off x="3137535" y="2307431"/>
              <a:ext cx="1119491" cy="220028"/>
            </a:xfrm>
            <a:prstGeom prst="rect">
              <a:avLst/>
            </a:prstGeom>
            <a:noFill/>
            <a:ln>
              <a:noFill/>
            </a:ln>
          </p:spPr>
          <p:txBody>
            <a:bodyPr wrap="none" lIns="0" tIns="0" rIns="0" bIns="0" anchor="t" anchorCtr="0">
              <a:spAutoFit/>
            </a:bodyPr>
            <a:lstStyle/>
            <a:p>
              <a:pPr algn="l"/>
              <a:r>
                <a:rPr lang="en-US" sz="1120" b="1" dirty="0">
                  <a:solidFill>
                    <a:srgbClr val="EE6677"/>
                  </a:solidFill>
                  <a:latin typeface="Consolas"/>
                  <a:ea typeface="Consolas"/>
                  <a:cs typeface="Consolas"/>
                </a:rPr>
                <a:t>P0-2 · cleanup</a:t>
              </a:r>
            </a:p>
          </p:txBody>
        </p:sp>
        <p:sp>
          <p:nvSpPr>
            <p:cNvPr id="40" name="TextBox 40"/>
            <p:cNvSpPr txBox="1"/>
            <p:nvPr/>
          </p:nvSpPr>
          <p:spPr>
            <a:xfrm>
              <a:off x="4471035" y="2307431"/>
              <a:ext cx="199034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both schedulers reconcile</a:t>
              </a:r>
            </a:p>
          </p:txBody>
        </p:sp>
        <p:sp>
          <p:nvSpPr>
            <p:cNvPr id="41" name="TextBox 41"/>
            <p:cNvSpPr txBox="1"/>
            <p:nvPr/>
          </p:nvSpPr>
          <p:spPr>
            <a:xfrm>
              <a:off x="3138297" y="2523649"/>
              <a:ext cx="2312043"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next_pending ≡ claim_next preflight</a:t>
              </a:r>
            </a:p>
          </p:txBody>
        </p:sp>
        <p:sp>
          <p:nvSpPr>
            <p:cNvPr id="42" name="Line 42"/>
            <p:cNvSpPr/>
            <p:nvPr/>
          </p:nvSpPr>
          <p:spPr>
            <a:xfrm>
              <a:off x="3143250" y="2771775"/>
              <a:ext cx="3714750" cy="9525"/>
            </a:xfrm>
            <a:custGeom>
              <a:avLst/>
              <a:gdLst/>
              <a:ahLst/>
              <a:cxnLst/>
              <a:rect l="l" t="t" r="r" b="b"/>
              <a:pathLst>
                <a:path w="3714750" h="9525">
                  <a:moveTo>
                    <a:pt x="0" y="0"/>
                  </a:moveTo>
                  <a:lnTo>
                    <a:pt x="3714750" y="0"/>
                  </a:lnTo>
                </a:path>
              </a:pathLst>
            </a:custGeom>
            <a:noFill/>
            <a:ln w="9525">
              <a:solidFill>
                <a:schemeClr val="accent4"/>
              </a:solidFill>
            </a:ln>
          </p:spPr>
        </p:sp>
        <p:sp>
          <p:nvSpPr>
            <p:cNvPr id="43" name="TextBox 43"/>
            <p:cNvSpPr txBox="1"/>
            <p:nvPr/>
          </p:nvSpPr>
          <p:spPr>
            <a:xfrm>
              <a:off x="3137535" y="2926556"/>
              <a:ext cx="1032827" cy="220028"/>
            </a:xfrm>
            <a:prstGeom prst="rect">
              <a:avLst/>
            </a:prstGeom>
            <a:noFill/>
            <a:ln>
              <a:noFill/>
            </a:ln>
          </p:spPr>
          <p:txBody>
            <a:bodyPr wrap="none" lIns="0" tIns="0" rIns="0" bIns="0" anchor="t" anchorCtr="0">
              <a:spAutoFit/>
            </a:bodyPr>
            <a:lstStyle/>
            <a:p>
              <a:pPr algn="l"/>
              <a:r>
                <a:rPr lang="en-US" sz="1120" b="1" dirty="0">
                  <a:solidFill>
                    <a:srgbClr val="EE6677"/>
                  </a:solidFill>
                  <a:latin typeface="Consolas"/>
                  <a:ea typeface="Consolas"/>
                  <a:cs typeface="Consolas"/>
                </a:rPr>
                <a:t>P0-3 · replan</a:t>
              </a:r>
            </a:p>
          </p:txBody>
        </p:sp>
        <p:sp>
          <p:nvSpPr>
            <p:cNvPr id="44" name="TextBox 44"/>
            <p:cNvSpPr txBox="1"/>
            <p:nvPr/>
          </p:nvSpPr>
          <p:spPr>
            <a:xfrm>
              <a:off x="4471035" y="2926556"/>
              <a:ext cx="1641458"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versioned atomic CAS</a:t>
              </a:r>
            </a:p>
          </p:txBody>
        </p:sp>
        <p:sp>
          <p:nvSpPr>
            <p:cNvPr id="45" name="TextBox 45"/>
            <p:cNvSpPr txBox="1"/>
            <p:nvPr/>
          </p:nvSpPr>
          <p:spPr>
            <a:xfrm>
              <a:off x="3138297" y="3142774"/>
              <a:ext cx="1777736"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expected[v] → commit[v+1]</a:t>
              </a:r>
            </a:p>
          </p:txBody>
        </p:sp>
        <p:sp>
          <p:nvSpPr>
            <p:cNvPr id="46" name="Line 46"/>
            <p:cNvSpPr/>
            <p:nvPr/>
          </p:nvSpPr>
          <p:spPr>
            <a:xfrm>
              <a:off x="3143250" y="3390900"/>
              <a:ext cx="3714750" cy="9525"/>
            </a:xfrm>
            <a:custGeom>
              <a:avLst/>
              <a:gdLst/>
              <a:ahLst/>
              <a:cxnLst/>
              <a:rect l="l" t="t" r="r" b="b"/>
              <a:pathLst>
                <a:path w="3714750" h="9525">
                  <a:moveTo>
                    <a:pt x="0" y="0"/>
                  </a:moveTo>
                  <a:lnTo>
                    <a:pt x="3714750" y="0"/>
                  </a:lnTo>
                </a:path>
              </a:pathLst>
            </a:custGeom>
            <a:noFill/>
            <a:ln w="9525">
              <a:solidFill>
                <a:schemeClr val="accent4"/>
              </a:solidFill>
            </a:ln>
          </p:spPr>
        </p:sp>
        <p:sp>
          <p:nvSpPr>
            <p:cNvPr id="47" name="TextBox 47"/>
            <p:cNvSpPr txBox="1"/>
            <p:nvPr/>
          </p:nvSpPr>
          <p:spPr>
            <a:xfrm>
              <a:off x="3137535" y="3545681"/>
              <a:ext cx="2012817" cy="220028"/>
            </a:xfrm>
            <a:prstGeom prst="rect">
              <a:avLst/>
            </a:prstGeom>
            <a:noFill/>
            <a:ln>
              <a:noFill/>
            </a:ln>
          </p:spPr>
          <p:txBody>
            <a:bodyPr wrap="none" lIns="0" tIns="0" rIns="0" bIns="0" anchor="t" anchorCtr="0">
              <a:spAutoFit/>
            </a:bodyPr>
            <a:lstStyle/>
            <a:p>
              <a:pPr algn="l"/>
              <a:r>
                <a:rPr lang="en-US" sz="1120" b="1" dirty="0">
                  <a:solidFill>
                    <a:srgbClr val="EE6677"/>
                  </a:solidFill>
                  <a:latin typeface="Consolas"/>
                  <a:ea typeface="Consolas"/>
                  <a:cs typeface="Consolas"/>
                </a:rPr>
                <a:t>P0-4 · empty replacement</a:t>
              </a:r>
            </a:p>
          </p:txBody>
        </p:sp>
        <p:sp>
          <p:nvSpPr>
            <p:cNvPr id="48" name="TextBox 48"/>
            <p:cNvSpPr txBox="1"/>
            <p:nvPr/>
          </p:nvSpPr>
          <p:spPr>
            <a:xfrm>
              <a:off x="5280660" y="3545681"/>
              <a:ext cx="1673718"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three-strike breaker</a:t>
              </a:r>
            </a:p>
          </p:txBody>
        </p:sp>
        <p:sp>
          <p:nvSpPr>
            <p:cNvPr id="49" name="TextBox 49"/>
            <p:cNvSpPr txBox="1"/>
            <p:nvPr/>
          </p:nvSpPr>
          <p:spPr>
            <a:xfrm>
              <a:off x="3138297" y="3761899"/>
              <a:ext cx="1599634"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filtered × 3 → node failed</a:t>
              </a:r>
            </a:p>
          </p:txBody>
        </p:sp>
        <p:sp>
          <p:nvSpPr>
            <p:cNvPr id="50" name="Line 50"/>
            <p:cNvSpPr/>
            <p:nvPr/>
          </p:nvSpPr>
          <p:spPr>
            <a:xfrm>
              <a:off x="3143250" y="4010025"/>
              <a:ext cx="3714750" cy="9525"/>
            </a:xfrm>
            <a:custGeom>
              <a:avLst/>
              <a:gdLst/>
              <a:ahLst/>
              <a:cxnLst/>
              <a:rect l="l" t="t" r="r" b="b"/>
              <a:pathLst>
                <a:path w="3714750" h="9525">
                  <a:moveTo>
                    <a:pt x="0" y="0"/>
                  </a:moveTo>
                  <a:lnTo>
                    <a:pt x="3714750" y="0"/>
                  </a:lnTo>
                </a:path>
              </a:pathLst>
            </a:custGeom>
            <a:noFill/>
            <a:ln w="9525">
              <a:solidFill>
                <a:schemeClr val="accent4"/>
              </a:solidFill>
            </a:ln>
          </p:spPr>
        </p:sp>
        <p:sp>
          <p:nvSpPr>
            <p:cNvPr id="51" name="TextBox 51"/>
            <p:cNvSpPr txBox="1"/>
            <p:nvPr/>
          </p:nvSpPr>
          <p:spPr>
            <a:xfrm>
              <a:off x="3137535" y="4164806"/>
              <a:ext cx="986251" cy="220028"/>
            </a:xfrm>
            <a:prstGeom prst="rect">
              <a:avLst/>
            </a:prstGeom>
            <a:noFill/>
            <a:ln>
              <a:noFill/>
            </a:ln>
          </p:spPr>
          <p:txBody>
            <a:bodyPr wrap="none" lIns="0" tIns="0" rIns="0" bIns="0" anchor="t" anchorCtr="0">
              <a:spAutoFit/>
            </a:bodyPr>
            <a:lstStyle/>
            <a:p>
              <a:pPr algn="l"/>
              <a:r>
                <a:rPr lang="en-US" sz="1120" b="1" dirty="0">
                  <a:solidFill>
                    <a:srgbClr val="EE6677"/>
                  </a:solidFill>
                  <a:latin typeface="Consolas"/>
                  <a:ea typeface="Consolas"/>
                  <a:cs typeface="Consolas"/>
                </a:rPr>
                <a:t>P0-5 · pause</a:t>
              </a:r>
            </a:p>
          </p:txBody>
        </p:sp>
        <p:sp>
          <p:nvSpPr>
            <p:cNvPr id="52" name="TextBox 52"/>
            <p:cNvSpPr txBox="1"/>
            <p:nvPr/>
          </p:nvSpPr>
          <p:spPr>
            <a:xfrm>
              <a:off x="4280535" y="4164806"/>
              <a:ext cx="271858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external recovery → fresh attempt</a:t>
              </a:r>
            </a:p>
          </p:txBody>
        </p:sp>
        <p:sp>
          <p:nvSpPr>
            <p:cNvPr id="53" name="TextBox 53"/>
            <p:cNvSpPr txBox="1"/>
            <p:nvPr/>
          </p:nvSpPr>
          <p:spPr>
            <a:xfrm>
              <a:off x="3138297" y="4381024"/>
              <a:ext cx="2430777"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budget/provider/daemon → attempt+1</a:t>
              </a:r>
            </a:p>
          </p:txBody>
        </p:sp>
        <p:sp>
          <p:nvSpPr>
            <p:cNvPr id="54" name="Line 54"/>
            <p:cNvSpPr/>
            <p:nvPr/>
          </p:nvSpPr>
          <p:spPr>
            <a:xfrm>
              <a:off x="3143250" y="4629150"/>
              <a:ext cx="3714750" cy="9525"/>
            </a:xfrm>
            <a:custGeom>
              <a:avLst/>
              <a:gdLst/>
              <a:ahLst/>
              <a:cxnLst/>
              <a:rect l="l" t="t" r="r" b="b"/>
              <a:pathLst>
                <a:path w="3714750" h="9525">
                  <a:moveTo>
                    <a:pt x="0" y="0"/>
                  </a:moveTo>
                  <a:lnTo>
                    <a:pt x="3714750" y="0"/>
                  </a:lnTo>
                </a:path>
              </a:pathLst>
            </a:custGeom>
            <a:noFill/>
            <a:ln w="9525">
              <a:solidFill>
                <a:schemeClr val="accent4"/>
              </a:solidFill>
            </a:ln>
          </p:spPr>
        </p:sp>
        <p:sp>
          <p:nvSpPr>
            <p:cNvPr id="55" name="TextBox 55"/>
            <p:cNvSpPr txBox="1"/>
            <p:nvPr/>
          </p:nvSpPr>
          <p:spPr>
            <a:xfrm>
              <a:off x="3137535" y="4783931"/>
              <a:ext cx="1104644" cy="220028"/>
            </a:xfrm>
            <a:prstGeom prst="rect">
              <a:avLst/>
            </a:prstGeom>
            <a:noFill/>
            <a:ln>
              <a:noFill/>
            </a:ln>
          </p:spPr>
          <p:txBody>
            <a:bodyPr wrap="none" lIns="0" tIns="0" rIns="0" bIns="0" anchor="t" anchorCtr="0">
              <a:spAutoFit/>
            </a:bodyPr>
            <a:lstStyle/>
            <a:p>
              <a:pPr algn="l"/>
              <a:r>
                <a:rPr lang="en-US" sz="1120" b="1" dirty="0">
                  <a:solidFill>
                    <a:srgbClr val="EE6677"/>
                  </a:solidFill>
                  <a:latin typeface="Consolas"/>
                  <a:ea typeface="Consolas"/>
                  <a:cs typeface="Consolas"/>
                </a:rPr>
                <a:t>P0-6 · answer</a:t>
              </a:r>
            </a:p>
          </p:txBody>
        </p:sp>
        <p:sp>
          <p:nvSpPr>
            <p:cNvPr id="56" name="TextBox 56"/>
            <p:cNvSpPr txBox="1"/>
            <p:nvPr/>
          </p:nvSpPr>
          <p:spPr>
            <a:xfrm>
              <a:off x="4375785" y="4783931"/>
              <a:ext cx="261568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rewire every live downstream dep</a:t>
              </a:r>
            </a:p>
          </p:txBody>
        </p:sp>
        <p:sp>
          <p:nvSpPr>
            <p:cNvPr id="57" name="TextBox 57"/>
            <p:cNvSpPr txBox="1"/>
            <p:nvPr/>
          </p:nvSpPr>
          <p:spPr>
            <a:xfrm>
              <a:off x="3138297" y="5000149"/>
              <a:ext cx="1880276"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old failed ID → continuation ID</a:t>
              </a:r>
            </a:p>
          </p:txBody>
        </p:sp>
        <p:sp>
          <p:nvSpPr>
            <p:cNvPr id="58" name="Rectangle 58"/>
            <p:cNvSpPr/>
            <p:nvPr/>
          </p:nvSpPr>
          <p:spPr>
            <a:xfrm>
              <a:off x="3143250" y="5314950"/>
              <a:ext cx="3714750" cy="285750"/>
            </a:xfrm>
            <a:prstGeom prst="roundRect">
              <a:avLst>
                <a:gd name="adj" fmla="val 20000"/>
              </a:avLst>
            </a:prstGeom>
            <a:solidFill>
              <a:schemeClr val="accent6">
                <a:alpha val="8000"/>
              </a:schemeClr>
            </a:solidFill>
            <a:ln w="9525">
              <a:solidFill>
                <a:schemeClr val="accent6"/>
              </a:solidFill>
            </a:ln>
          </p:spPr>
        </p:sp>
        <p:sp>
          <p:nvSpPr>
            <p:cNvPr id="59" name="TextBox 59"/>
            <p:cNvSpPr txBox="1"/>
            <p:nvPr/>
          </p:nvSpPr>
          <p:spPr>
            <a:xfrm>
              <a:off x="3494774" y="5400199"/>
              <a:ext cx="3011702" cy="190690"/>
            </a:xfrm>
            <a:prstGeom prst="rect">
              <a:avLst/>
            </a:prstGeom>
            <a:noFill/>
            <a:ln>
              <a:noFill/>
            </a:ln>
          </p:spPr>
          <p:txBody>
            <a:bodyPr wrap="none" lIns="0" tIns="0" rIns="0" bIns="0" anchor="t" anchorCtr="0">
              <a:spAutoFit/>
            </a:bodyPr>
            <a:lstStyle/>
            <a:p>
              <a:pPr algn="ctr"/>
              <a:r>
                <a:rPr lang="en-US" sz="980" b="1" dirty="0">
                  <a:solidFill>
                    <a:schemeClr val="accent6"/>
                  </a:solidFill>
                  <a:latin typeface="+mn-lt"/>
                  <a:ea typeface="+mn-ea"/>
                  <a:cs typeface="+mn-cs"/>
                </a:rPr>
                <a:t>No P0 component can remain in a pending loop</a:t>
              </a:r>
            </a:p>
          </p:txBody>
        </p:sp>
      </p:grpSp>
      <p:grpSp>
        <p:nvGrpSpPr>
          <p:cNvPr id="82" name="Group 82"/>
          <p:cNvGrpSpPr/>
          <p:nvPr/>
        </p:nvGrpSpPr>
        <p:grpSpPr>
          <a:xfrm>
            <a:off x="7239000" y="1162050"/>
            <a:ext cx="2457450" cy="4629150"/>
            <a:chOff x="7239000" y="1162050"/>
            <a:chExt cx="2457450" cy="4629150"/>
          </a:xfrm>
        </p:grpSpPr>
        <p:sp>
          <p:nvSpPr>
            <p:cNvPr id="61" name="Rectangle 61"/>
            <p:cNvSpPr/>
            <p:nvPr/>
          </p:nvSpPr>
          <p:spPr>
            <a:xfrm>
              <a:off x="7239000" y="1162050"/>
              <a:ext cx="2457450" cy="4629150"/>
            </a:xfrm>
            <a:prstGeom prst="roundRect">
              <a:avLst>
                <a:gd name="adj" fmla="val 3876"/>
              </a:avLst>
            </a:prstGeom>
            <a:solidFill>
              <a:schemeClr val="lt1"/>
            </a:solidFill>
            <a:ln w="19050">
              <a:solidFill>
                <a:schemeClr val="accent2"/>
              </a:solidFill>
            </a:ln>
          </p:spPr>
        </p:sp>
        <p:sp>
          <p:nvSpPr>
            <p:cNvPr id="62" name="Rectangle 62"/>
            <p:cNvSpPr/>
            <p:nvPr/>
          </p:nvSpPr>
          <p:spPr>
            <a:xfrm>
              <a:off x="7239000" y="1162050"/>
              <a:ext cx="2457450" cy="400050"/>
            </a:xfrm>
            <a:prstGeom prst="roundRect">
              <a:avLst>
                <a:gd name="adj" fmla="val 21429"/>
              </a:avLst>
            </a:prstGeom>
            <a:solidFill>
              <a:schemeClr val="accent2">
                <a:alpha val="8000"/>
              </a:schemeClr>
            </a:solidFill>
            <a:ln>
              <a:noFill/>
            </a:ln>
          </p:spPr>
        </p:sp>
        <p:sp>
          <p:nvSpPr>
            <p:cNvPr id="63" name="TextBox 63"/>
            <p:cNvSpPr txBox="1"/>
            <p:nvPr/>
          </p:nvSpPr>
          <p:spPr>
            <a:xfrm>
              <a:off x="7420356" y="1243965"/>
              <a:ext cx="133557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Consolas"/>
                  <a:ea typeface="Consolas"/>
                  <a:cs typeface="Consolas"/>
                </a:rPr>
                <a:t>P1 CLOSED</a:t>
              </a:r>
            </a:p>
          </p:txBody>
        </p:sp>
        <p:sp>
          <p:nvSpPr>
            <p:cNvPr id="64" name="TextBox 64"/>
            <p:cNvSpPr txBox="1"/>
            <p:nvPr/>
          </p:nvSpPr>
          <p:spPr>
            <a:xfrm>
              <a:off x="7423785" y="1697831"/>
              <a:ext cx="143406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1 · Stage lifecycle</a:t>
              </a:r>
            </a:p>
          </p:txBody>
        </p:sp>
        <p:sp>
          <p:nvSpPr>
            <p:cNvPr id="65" name="TextBox 65"/>
            <p:cNvSpPr txBox="1"/>
            <p:nvPr/>
          </p:nvSpPr>
          <p:spPr>
            <a:xfrm>
              <a:off x="7424547" y="1914049"/>
              <a:ext cx="2093272"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HOLD→failed; new intent→reopen</a:t>
              </a:r>
            </a:p>
          </p:txBody>
        </p:sp>
        <p:sp>
          <p:nvSpPr>
            <p:cNvPr id="66" name="Line 66"/>
            <p:cNvSpPr/>
            <p:nvPr/>
          </p:nvSpPr>
          <p:spPr>
            <a:xfrm>
              <a:off x="7429500" y="2171700"/>
              <a:ext cx="2076450" cy="9525"/>
            </a:xfrm>
            <a:custGeom>
              <a:avLst/>
              <a:gdLst/>
              <a:ahLst/>
              <a:cxnLst/>
              <a:rect l="l" t="t" r="r" b="b"/>
              <a:pathLst>
                <a:path w="2076450" h="9525">
                  <a:moveTo>
                    <a:pt x="0" y="0"/>
                  </a:moveTo>
                  <a:lnTo>
                    <a:pt x="2076450" y="0"/>
                  </a:lnTo>
                </a:path>
              </a:pathLst>
            </a:custGeom>
            <a:noFill/>
            <a:ln w="9525">
              <a:solidFill>
                <a:schemeClr val="accent4"/>
              </a:solidFill>
            </a:ln>
          </p:spPr>
        </p:sp>
        <p:sp>
          <p:nvSpPr>
            <p:cNvPr id="67" name="TextBox 67"/>
            <p:cNvSpPr txBox="1"/>
            <p:nvPr/>
          </p:nvSpPr>
          <p:spPr>
            <a:xfrm>
              <a:off x="7423785" y="2326481"/>
              <a:ext cx="200388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2 · Upgrade is nonblocking</a:t>
              </a:r>
            </a:p>
          </p:txBody>
        </p:sp>
        <p:sp>
          <p:nvSpPr>
            <p:cNvPr id="68" name="TextBox 68"/>
            <p:cNvSpPr txBox="1"/>
            <p:nvPr/>
          </p:nvSpPr>
          <p:spPr>
            <a:xfrm>
              <a:off x="7424547" y="2542699"/>
              <a:ext cx="1355568"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drain=0s → timer(5s)</a:t>
              </a:r>
            </a:p>
          </p:txBody>
        </p:sp>
        <p:sp>
          <p:nvSpPr>
            <p:cNvPr id="69" name="Line 69"/>
            <p:cNvSpPr/>
            <p:nvPr/>
          </p:nvSpPr>
          <p:spPr>
            <a:xfrm>
              <a:off x="7429500" y="2800350"/>
              <a:ext cx="2076450" cy="9525"/>
            </a:xfrm>
            <a:custGeom>
              <a:avLst/>
              <a:gdLst/>
              <a:ahLst/>
              <a:cxnLst/>
              <a:rect l="l" t="t" r="r" b="b"/>
              <a:pathLst>
                <a:path w="2076450" h="9525">
                  <a:moveTo>
                    <a:pt x="0" y="0"/>
                  </a:moveTo>
                  <a:lnTo>
                    <a:pt x="2076450" y="0"/>
                  </a:lnTo>
                </a:path>
              </a:pathLst>
            </a:custGeom>
            <a:noFill/>
            <a:ln w="9525">
              <a:solidFill>
                <a:schemeClr val="accent4"/>
              </a:solidFill>
            </a:ln>
          </p:spPr>
        </p:sp>
        <p:sp>
          <p:nvSpPr>
            <p:cNvPr id="70" name="TextBox 70"/>
            <p:cNvSpPr txBox="1"/>
            <p:nvPr/>
          </p:nvSpPr>
          <p:spPr>
            <a:xfrm>
              <a:off x="7423785" y="2955131"/>
              <a:ext cx="173484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3 · Unpriced model call</a:t>
              </a:r>
            </a:p>
          </p:txBody>
        </p:sp>
        <p:sp>
          <p:nvSpPr>
            <p:cNvPr id="71" name="TextBox 71"/>
            <p:cNvSpPr txBox="1"/>
            <p:nvPr/>
          </p:nvSpPr>
          <p:spPr>
            <a:xfrm>
              <a:off x="7424547" y="3171349"/>
              <a:ext cx="1705176"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reserve hold ≠ global block</a:t>
              </a:r>
            </a:p>
          </p:txBody>
        </p:sp>
        <p:sp>
          <p:nvSpPr>
            <p:cNvPr id="72" name="Line 72"/>
            <p:cNvSpPr/>
            <p:nvPr/>
          </p:nvSpPr>
          <p:spPr>
            <a:xfrm>
              <a:off x="7429500" y="3429000"/>
              <a:ext cx="2076450" cy="9525"/>
            </a:xfrm>
            <a:custGeom>
              <a:avLst/>
              <a:gdLst/>
              <a:ahLst/>
              <a:cxnLst/>
              <a:rect l="l" t="t" r="r" b="b"/>
              <a:pathLst>
                <a:path w="2076450" h="9525">
                  <a:moveTo>
                    <a:pt x="0" y="0"/>
                  </a:moveTo>
                  <a:lnTo>
                    <a:pt x="2076450" y="0"/>
                  </a:lnTo>
                </a:path>
              </a:pathLst>
            </a:custGeom>
            <a:noFill/>
            <a:ln w="9525">
              <a:solidFill>
                <a:schemeClr val="accent4"/>
              </a:solidFill>
            </a:ln>
          </p:spPr>
        </p:sp>
        <p:sp>
          <p:nvSpPr>
            <p:cNvPr id="73" name="TextBox 73"/>
            <p:cNvSpPr txBox="1"/>
            <p:nvPr/>
          </p:nvSpPr>
          <p:spPr>
            <a:xfrm>
              <a:off x="7423785" y="3583781"/>
              <a:ext cx="1672045"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4 · Manager feedback</a:t>
              </a:r>
            </a:p>
          </p:txBody>
        </p:sp>
        <p:sp>
          <p:nvSpPr>
            <p:cNvPr id="74" name="TextBox 74"/>
            <p:cNvSpPr txBox="1"/>
            <p:nvPr/>
          </p:nvSpPr>
          <p:spPr>
            <a:xfrm>
              <a:off x="7424547" y="3799999"/>
              <a:ext cx="1513881"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same evidence × 3 → idle</a:t>
              </a:r>
            </a:p>
          </p:txBody>
        </p:sp>
        <p:sp>
          <p:nvSpPr>
            <p:cNvPr id="75" name="TextBox 75"/>
            <p:cNvSpPr txBox="1"/>
            <p:nvPr/>
          </p:nvSpPr>
          <p:spPr>
            <a:xfrm>
              <a:off x="7424547" y="3971449"/>
              <a:ext cx="2257209"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Operator or new artifact wakes it</a:t>
              </a:r>
            </a:p>
          </p:txBody>
        </p:sp>
        <p:sp>
          <p:nvSpPr>
            <p:cNvPr id="76" name="Line 76"/>
            <p:cNvSpPr/>
            <p:nvPr/>
          </p:nvSpPr>
          <p:spPr>
            <a:xfrm>
              <a:off x="7429500" y="4229100"/>
              <a:ext cx="2076450" cy="9525"/>
            </a:xfrm>
            <a:custGeom>
              <a:avLst/>
              <a:gdLst/>
              <a:ahLst/>
              <a:cxnLst/>
              <a:rect l="l" t="t" r="r" b="b"/>
              <a:pathLst>
                <a:path w="2076450" h="9525">
                  <a:moveTo>
                    <a:pt x="0" y="0"/>
                  </a:moveTo>
                  <a:lnTo>
                    <a:pt x="2076450" y="0"/>
                  </a:lnTo>
                </a:path>
              </a:pathLst>
            </a:custGeom>
            <a:noFill/>
            <a:ln w="9525">
              <a:solidFill>
                <a:schemeClr val="accent4"/>
              </a:solidFill>
            </a:ln>
          </p:spPr>
        </p:sp>
        <p:sp>
          <p:nvSpPr>
            <p:cNvPr id="77" name="TextBox 77"/>
            <p:cNvSpPr txBox="1"/>
            <p:nvPr/>
          </p:nvSpPr>
          <p:spPr>
            <a:xfrm>
              <a:off x="7423785" y="4383881"/>
              <a:ext cx="1592590"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5 · Legitimate rerun</a:t>
              </a:r>
            </a:p>
          </p:txBody>
        </p:sp>
        <p:sp>
          <p:nvSpPr>
            <p:cNvPr id="78" name="TextBox 78"/>
            <p:cNvSpPr txBox="1"/>
            <p:nvPr/>
          </p:nvSpPr>
          <p:spPr>
            <a:xfrm>
              <a:off x="7424547" y="4600099"/>
              <a:ext cx="1691983"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signature += context hash</a:t>
              </a:r>
            </a:p>
          </p:txBody>
        </p:sp>
        <p:sp>
          <p:nvSpPr>
            <p:cNvPr id="79" name="TextBox 79"/>
            <p:cNvSpPr txBox="1"/>
            <p:nvPr/>
          </p:nvSpPr>
          <p:spPr>
            <a:xfrm>
              <a:off x="7424547" y="4771549"/>
              <a:ext cx="2002013"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new evidence = new acceptance</a:t>
              </a:r>
            </a:p>
          </p:txBody>
        </p:sp>
        <p:sp>
          <p:nvSpPr>
            <p:cNvPr id="80" name="Rectangle 80"/>
            <p:cNvSpPr/>
            <p:nvPr/>
          </p:nvSpPr>
          <p:spPr>
            <a:xfrm>
              <a:off x="7429500" y="5219700"/>
              <a:ext cx="2076450" cy="381000"/>
            </a:xfrm>
            <a:prstGeom prst="roundRect">
              <a:avLst>
                <a:gd name="adj" fmla="val 15000"/>
              </a:avLst>
            </a:prstGeom>
            <a:solidFill>
              <a:schemeClr val="accent2">
                <a:alpha val="8000"/>
              </a:schemeClr>
            </a:solidFill>
            <a:ln w="9525">
              <a:solidFill>
                <a:schemeClr val="accent2"/>
              </a:solidFill>
            </a:ln>
          </p:spPr>
        </p:sp>
        <p:sp>
          <p:nvSpPr>
            <p:cNvPr id="81" name="TextBox 81"/>
            <p:cNvSpPr txBox="1"/>
            <p:nvPr/>
          </p:nvSpPr>
          <p:spPr>
            <a:xfrm>
              <a:off x="7293430" y="5352574"/>
              <a:ext cx="2348591" cy="190690"/>
            </a:xfrm>
            <a:prstGeom prst="rect">
              <a:avLst/>
            </a:prstGeom>
            <a:noFill/>
            <a:ln>
              <a:noFill/>
            </a:ln>
          </p:spPr>
          <p:txBody>
            <a:bodyPr wrap="none" lIns="0" tIns="0" rIns="0" bIns="0" anchor="t" anchorCtr="0">
              <a:spAutoFit/>
            </a:bodyPr>
            <a:lstStyle/>
            <a:p>
              <a:pPr algn="ctr"/>
              <a:r>
                <a:rPr lang="en-US" sz="980" b="1" dirty="0">
                  <a:solidFill>
                    <a:schemeClr val="accent2"/>
                  </a:solidFill>
                  <a:latin typeface="+mn-lt"/>
                  <a:ea typeface="+mn-ea"/>
                  <a:cs typeface="+mn-cs"/>
                </a:rPr>
                <a:t>Process alive; progress monotonic</a:t>
              </a:r>
            </a:p>
          </p:txBody>
        </p:sp>
      </p:grpSp>
      <p:grpSp>
        <p:nvGrpSpPr>
          <p:cNvPr id="103" name="Group 103"/>
          <p:cNvGrpSpPr/>
          <p:nvPr/>
        </p:nvGrpSpPr>
        <p:grpSpPr>
          <a:xfrm>
            <a:off x="9886950" y="1162050"/>
            <a:ext cx="1924050" cy="4629150"/>
            <a:chOff x="9886950" y="1162050"/>
            <a:chExt cx="1924050" cy="4629150"/>
          </a:xfrm>
        </p:grpSpPr>
        <p:sp>
          <p:nvSpPr>
            <p:cNvPr id="83" name="Rectangle 83"/>
            <p:cNvSpPr/>
            <p:nvPr/>
          </p:nvSpPr>
          <p:spPr>
            <a:xfrm>
              <a:off x="9886950" y="1162050"/>
              <a:ext cx="1924050" cy="4629150"/>
            </a:xfrm>
            <a:prstGeom prst="roundRect">
              <a:avLst>
                <a:gd name="adj" fmla="val 4950"/>
              </a:avLst>
            </a:prstGeom>
            <a:solidFill>
              <a:schemeClr val="lt1"/>
            </a:solidFill>
            <a:ln w="19050">
              <a:solidFill>
                <a:srgbClr val="AA3377"/>
              </a:solidFill>
            </a:ln>
          </p:spPr>
        </p:sp>
        <p:sp>
          <p:nvSpPr>
            <p:cNvPr id="84" name="Rectangle 84"/>
            <p:cNvSpPr/>
            <p:nvPr/>
          </p:nvSpPr>
          <p:spPr>
            <a:xfrm>
              <a:off x="9886950" y="1162050"/>
              <a:ext cx="1924050" cy="400050"/>
            </a:xfrm>
            <a:prstGeom prst="roundRect">
              <a:avLst>
                <a:gd name="adj" fmla="val 21429"/>
              </a:avLst>
            </a:prstGeom>
            <a:solidFill>
              <a:srgbClr val="AA3377">
                <a:alpha val="8000"/>
              </a:srgbClr>
            </a:solidFill>
            <a:ln>
              <a:noFill/>
            </a:ln>
          </p:spPr>
        </p:sp>
        <p:sp>
          <p:nvSpPr>
            <p:cNvPr id="85" name="TextBox 85"/>
            <p:cNvSpPr txBox="1"/>
            <p:nvPr/>
          </p:nvSpPr>
          <p:spPr>
            <a:xfrm>
              <a:off x="10068306" y="1243965"/>
              <a:ext cx="1335573" cy="352044"/>
            </a:xfrm>
            <a:prstGeom prst="rect">
              <a:avLst/>
            </a:prstGeom>
            <a:noFill/>
            <a:ln>
              <a:noFill/>
            </a:ln>
          </p:spPr>
          <p:txBody>
            <a:bodyPr wrap="none" lIns="0" tIns="0" rIns="0" bIns="0" anchor="t" anchorCtr="0">
              <a:spAutoFit/>
            </a:bodyPr>
            <a:lstStyle/>
            <a:p>
              <a:pPr algn="l"/>
              <a:r>
                <a:rPr lang="en-US" sz="1800" b="1" dirty="0">
                  <a:solidFill>
                    <a:srgbClr val="AA3377"/>
                  </a:solidFill>
                  <a:latin typeface="Consolas"/>
                  <a:ea typeface="Consolas"/>
                  <a:cs typeface="Consolas"/>
                </a:rPr>
                <a:t>P2 CLOSED</a:t>
              </a:r>
            </a:p>
          </p:txBody>
        </p:sp>
        <p:sp>
          <p:nvSpPr>
            <p:cNvPr id="86" name="Rectangle 86"/>
            <p:cNvSpPr/>
            <p:nvPr/>
          </p:nvSpPr>
          <p:spPr>
            <a:xfrm>
              <a:off x="10077450" y="1790700"/>
              <a:ext cx="1543050" cy="1466850"/>
            </a:xfrm>
            <a:prstGeom prst="roundRect">
              <a:avLst>
                <a:gd name="adj" fmla="val 5195"/>
              </a:avLst>
            </a:prstGeom>
            <a:solidFill>
              <a:srgbClr val="AA3377">
                <a:alpha val="5000"/>
              </a:srgbClr>
            </a:solidFill>
            <a:ln w="14288">
              <a:solidFill>
                <a:srgbClr val="AA3377"/>
              </a:solidFill>
            </a:ln>
          </p:spPr>
        </p:sp>
        <p:sp>
          <p:nvSpPr>
            <p:cNvPr id="87" name="TextBox 87"/>
            <p:cNvSpPr txBox="1"/>
            <p:nvPr/>
          </p:nvSpPr>
          <p:spPr>
            <a:xfrm>
              <a:off x="10205085" y="1926431"/>
              <a:ext cx="155983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Canonical lock order</a:t>
              </a:r>
            </a:p>
          </p:txBody>
        </p:sp>
        <p:sp>
          <p:nvSpPr>
            <p:cNvPr id="88" name="TextBox 88"/>
            <p:cNvSpPr txBox="1"/>
            <p:nvPr/>
          </p:nvSpPr>
          <p:spPr>
            <a:xfrm>
              <a:off x="10205847" y="2237899"/>
              <a:ext cx="491442" cy="190690"/>
            </a:xfrm>
            <a:prstGeom prst="rect">
              <a:avLst/>
            </a:prstGeom>
            <a:noFill/>
            <a:ln>
              <a:noFill/>
            </a:ln>
          </p:spPr>
          <p:txBody>
            <a:bodyPr wrap="none" lIns="0" tIns="0" rIns="0" bIns="0" anchor="t" anchorCtr="0">
              <a:spAutoFit/>
            </a:bodyPr>
            <a:lstStyle/>
            <a:p>
              <a:pPr algn="l"/>
              <a:r>
                <a:rPr lang="en-US" sz="980" dirty="0">
                  <a:solidFill>
                    <a:srgbClr val="AA3377"/>
                  </a:solidFill>
                  <a:latin typeface="Consolas"/>
                  <a:ea typeface="Consolas"/>
                  <a:cs typeface="Consolas"/>
                </a:rPr>
                <a:t>pipeline</a:t>
              </a:r>
            </a:p>
          </p:txBody>
        </p:sp>
        <p:sp>
          <p:nvSpPr>
            <p:cNvPr id="89" name="TextBox 89"/>
            <p:cNvSpPr txBox="1"/>
            <p:nvPr/>
          </p:nvSpPr>
          <p:spPr>
            <a:xfrm>
              <a:off x="10205847" y="2428399"/>
              <a:ext cx="82466"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a:t>
              </a:r>
            </a:p>
          </p:txBody>
        </p:sp>
        <p:sp>
          <p:nvSpPr>
            <p:cNvPr id="90" name="TextBox 90"/>
            <p:cNvSpPr txBox="1"/>
            <p:nvPr/>
          </p:nvSpPr>
          <p:spPr>
            <a:xfrm>
              <a:off x="10205847" y="2618899"/>
              <a:ext cx="484845" cy="190690"/>
            </a:xfrm>
            <a:prstGeom prst="rect">
              <a:avLst/>
            </a:prstGeom>
            <a:noFill/>
            <a:ln>
              <a:noFill/>
            </a:ln>
          </p:spPr>
          <p:txBody>
            <a:bodyPr wrap="none" lIns="0" tIns="0" rIns="0" bIns="0" anchor="t" anchorCtr="0">
              <a:spAutoFit/>
            </a:bodyPr>
            <a:lstStyle/>
            <a:p>
              <a:pPr algn="l"/>
              <a:r>
                <a:rPr lang="en-US" sz="980" dirty="0">
                  <a:solidFill>
                    <a:srgbClr val="AA3377"/>
                  </a:solidFill>
                  <a:latin typeface="Consolas"/>
                  <a:ea typeface="Consolas"/>
                  <a:cs typeface="Consolas"/>
                </a:rPr>
                <a:t>session</a:t>
              </a:r>
            </a:p>
          </p:txBody>
        </p:sp>
        <p:sp>
          <p:nvSpPr>
            <p:cNvPr id="91" name="Line 91"/>
            <p:cNvSpPr/>
            <p:nvPr/>
          </p:nvSpPr>
          <p:spPr>
            <a:xfrm>
              <a:off x="10210800" y="2857500"/>
              <a:ext cx="1276350" cy="9525"/>
            </a:xfrm>
            <a:custGeom>
              <a:avLst/>
              <a:gdLst/>
              <a:ahLst/>
              <a:cxnLst/>
              <a:rect l="l" t="t" r="r" b="b"/>
              <a:pathLst>
                <a:path w="1276350" h="9525">
                  <a:moveTo>
                    <a:pt x="0" y="0"/>
                  </a:moveTo>
                  <a:lnTo>
                    <a:pt x="1276350" y="0"/>
                  </a:lnTo>
                </a:path>
              </a:pathLst>
            </a:custGeom>
            <a:noFill/>
            <a:ln w="14288">
              <a:solidFill>
                <a:srgbClr val="AA3377"/>
              </a:solidFill>
            </a:ln>
          </p:spPr>
        </p:sp>
        <p:sp>
          <p:nvSpPr>
            <p:cNvPr id="92" name="TextBox 92"/>
            <p:cNvSpPr txBox="1"/>
            <p:nvPr/>
          </p:nvSpPr>
          <p:spPr>
            <a:xfrm>
              <a:off x="10205847" y="2961799"/>
              <a:ext cx="1434724"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No A→B / B→A inversion</a:t>
              </a:r>
            </a:p>
          </p:txBody>
        </p:sp>
        <p:sp>
          <p:nvSpPr>
            <p:cNvPr id="93" name="Rectangle 93"/>
            <p:cNvSpPr/>
            <p:nvPr/>
          </p:nvSpPr>
          <p:spPr>
            <a:xfrm>
              <a:off x="10077450" y="3486150"/>
              <a:ext cx="1543050" cy="1466850"/>
            </a:xfrm>
            <a:prstGeom prst="roundRect">
              <a:avLst>
                <a:gd name="adj" fmla="val 5195"/>
              </a:avLst>
            </a:prstGeom>
            <a:solidFill>
              <a:srgbClr val="AA3377">
                <a:alpha val="5000"/>
              </a:srgbClr>
            </a:solidFill>
            <a:ln w="14288">
              <a:solidFill>
                <a:srgbClr val="AA3377"/>
              </a:solidFill>
            </a:ln>
          </p:spPr>
        </p:sp>
        <p:sp>
          <p:nvSpPr>
            <p:cNvPr id="94" name="TextBox 94"/>
            <p:cNvSpPr txBox="1"/>
            <p:nvPr/>
          </p:nvSpPr>
          <p:spPr>
            <a:xfrm>
              <a:off x="10205085" y="3621881"/>
              <a:ext cx="124331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Planner backoff</a:t>
              </a:r>
            </a:p>
          </p:txBody>
        </p:sp>
        <p:sp>
          <p:nvSpPr>
            <p:cNvPr id="95" name="TextBox 95"/>
            <p:cNvSpPr txBox="1"/>
            <p:nvPr/>
          </p:nvSpPr>
          <p:spPr>
            <a:xfrm>
              <a:off x="10205847" y="3933349"/>
              <a:ext cx="662948" cy="190690"/>
            </a:xfrm>
            <a:prstGeom prst="rect">
              <a:avLst/>
            </a:prstGeom>
            <a:noFill/>
            <a:ln>
              <a:noFill/>
            </a:ln>
          </p:spPr>
          <p:txBody>
            <a:bodyPr wrap="none" lIns="0" tIns="0" rIns="0" bIns="0" anchor="t" anchorCtr="0">
              <a:spAutoFit/>
            </a:bodyPr>
            <a:lstStyle/>
            <a:p>
              <a:pPr algn="l"/>
              <a:r>
                <a:rPr lang="en-US" sz="980" dirty="0">
                  <a:solidFill>
                    <a:srgbClr val="AA3377"/>
                  </a:solidFill>
                  <a:latin typeface="Consolas"/>
                  <a:ea typeface="Consolas"/>
                  <a:cs typeface="Consolas"/>
                </a:rPr>
                <a:t>no-runner</a:t>
              </a:r>
            </a:p>
          </p:txBody>
        </p:sp>
        <p:sp>
          <p:nvSpPr>
            <p:cNvPr id="96" name="TextBox 96"/>
            <p:cNvSpPr txBox="1"/>
            <p:nvPr/>
          </p:nvSpPr>
          <p:spPr>
            <a:xfrm>
              <a:off x="10205847" y="4123849"/>
              <a:ext cx="629966" cy="190690"/>
            </a:xfrm>
            <a:prstGeom prst="rect">
              <a:avLst/>
            </a:prstGeom>
            <a:noFill/>
            <a:ln>
              <a:noFill/>
            </a:ln>
          </p:spPr>
          <p:txBody>
            <a:bodyPr wrap="none" lIns="0" tIns="0" rIns="0" bIns="0" anchor="t" anchorCtr="0">
              <a:spAutoFit/>
            </a:bodyPr>
            <a:lstStyle/>
            <a:p>
              <a:pPr algn="l"/>
              <a:r>
                <a:rPr lang="en-US" sz="980" dirty="0">
                  <a:solidFill>
                    <a:srgbClr val="AA3377"/>
                  </a:solidFill>
                  <a:latin typeface="Consolas"/>
                  <a:ea typeface="Consolas"/>
                  <a:cs typeface="Consolas"/>
                </a:rPr>
                <a:t>exception</a:t>
              </a:r>
            </a:p>
          </p:txBody>
        </p:sp>
        <p:sp>
          <p:nvSpPr>
            <p:cNvPr id="97" name="TextBox 97"/>
            <p:cNvSpPr txBox="1"/>
            <p:nvPr/>
          </p:nvSpPr>
          <p:spPr>
            <a:xfrm>
              <a:off x="10205847" y="4333399"/>
              <a:ext cx="920206"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Consolas"/>
                  <a:ea typeface="Consolas"/>
                  <a:cs typeface="Consolas"/>
                </a:rPr>
                <a:t>→ 15,30,…300s</a:t>
              </a:r>
            </a:p>
          </p:txBody>
        </p:sp>
        <p:sp>
          <p:nvSpPr>
            <p:cNvPr id="98" name="Line 98"/>
            <p:cNvSpPr/>
            <p:nvPr/>
          </p:nvSpPr>
          <p:spPr>
            <a:xfrm>
              <a:off x="10210800" y="4572000"/>
              <a:ext cx="1276350" cy="9525"/>
            </a:xfrm>
            <a:custGeom>
              <a:avLst/>
              <a:gdLst/>
              <a:ahLst/>
              <a:cxnLst/>
              <a:rect l="l" t="t" r="r" b="b"/>
              <a:pathLst>
                <a:path w="1276350" h="9525">
                  <a:moveTo>
                    <a:pt x="0" y="0"/>
                  </a:moveTo>
                  <a:lnTo>
                    <a:pt x="1276350" y="0"/>
                  </a:lnTo>
                </a:path>
              </a:pathLst>
            </a:custGeom>
            <a:noFill/>
            <a:ln w="14288">
              <a:solidFill>
                <a:srgbClr val="AA3377"/>
              </a:solidFill>
              <a:prstDash val="lgDashDot"/>
            </a:ln>
          </p:spPr>
        </p:sp>
        <p:sp>
          <p:nvSpPr>
            <p:cNvPr id="99" name="TextBox 99"/>
            <p:cNvSpPr txBox="1"/>
            <p:nvPr/>
          </p:nvSpPr>
          <p:spPr>
            <a:xfrm>
              <a:off x="10205847" y="4676299"/>
              <a:ext cx="1301054"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No busy loop / churn</a:t>
              </a:r>
            </a:p>
          </p:txBody>
        </p:sp>
        <p:sp>
          <p:nvSpPr>
            <p:cNvPr id="100" name="TextBox 100"/>
            <p:cNvSpPr txBox="1"/>
            <p:nvPr/>
          </p:nvSpPr>
          <p:spPr>
            <a:xfrm>
              <a:off x="10072497" y="5200174"/>
              <a:ext cx="1510199" cy="190690"/>
            </a:xfrm>
            <a:prstGeom prst="rect">
              <a:avLst/>
            </a:prstGeom>
            <a:noFill/>
            <a:ln>
              <a:noFill/>
            </a:ln>
          </p:spPr>
          <p:txBody>
            <a:bodyPr wrap="none" lIns="0" tIns="0" rIns="0" bIns="0" anchor="t" anchorCtr="0">
              <a:spAutoFit/>
            </a:bodyPr>
            <a:lstStyle/>
            <a:p>
              <a:pPr algn="l"/>
              <a:r>
                <a:rPr lang="en-US" sz="980" b="1" dirty="0">
                  <a:solidFill>
                    <a:schemeClr val="accent6"/>
                  </a:solidFill>
                  <a:latin typeface="+mn-lt"/>
                  <a:ea typeface="+mn-ea"/>
                  <a:cs typeface="+mn-cs"/>
                </a:rPr>
                <a:t>Concurrency invariant</a:t>
              </a:r>
            </a:p>
          </p:txBody>
        </p:sp>
        <p:sp>
          <p:nvSpPr>
            <p:cNvPr id="101" name="TextBox 101"/>
            <p:cNvSpPr txBox="1"/>
            <p:nvPr/>
          </p:nvSpPr>
          <p:spPr>
            <a:xfrm>
              <a:off x="10072497" y="5400199"/>
              <a:ext cx="1461110" cy="190690"/>
            </a:xfrm>
            <a:prstGeom prst="rect">
              <a:avLst/>
            </a:prstGeom>
            <a:noFill/>
            <a:ln>
              <a:noFill/>
            </a:ln>
          </p:spPr>
          <p:txBody>
            <a:bodyPr wrap="none" lIns="0" tIns="0" rIns="0" bIns="0" anchor="t" anchorCtr="0">
              <a:spAutoFit/>
            </a:bodyPr>
            <a:lstStyle/>
            <a:p>
              <a:pPr algn="l"/>
              <a:r>
                <a:rPr lang="en-US" sz="980" dirty="0">
                  <a:solidFill>
                    <a:schemeClr val="dk1"/>
                  </a:solidFill>
                  <a:latin typeface="Consolas"/>
                  <a:ea typeface="Consolas"/>
                  <a:cs typeface="Consolas"/>
                </a:rPr>
                <a:t>one claim / one answer</a:t>
              </a:r>
            </a:p>
          </p:txBody>
        </p:sp>
        <p:sp>
          <p:nvSpPr>
            <p:cNvPr id="102" name="TextBox 102"/>
            <p:cNvSpPr txBox="1"/>
            <p:nvPr/>
          </p:nvSpPr>
          <p:spPr>
            <a:xfrm>
              <a:off x="10072497" y="5571649"/>
              <a:ext cx="1626019"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no duplicate continuation</a:t>
              </a:r>
            </a:p>
          </p:txBody>
        </p:sp>
      </p:grpSp>
      <p:grpSp>
        <p:nvGrpSpPr>
          <p:cNvPr id="108" name="Group 108"/>
          <p:cNvGrpSpPr/>
          <p:nvPr/>
        </p:nvGrpSpPr>
        <p:grpSpPr>
          <a:xfrm>
            <a:off x="2952750" y="5924550"/>
            <a:ext cx="8858250" cy="476250"/>
            <a:chOff x="2952750" y="5924550"/>
            <a:chExt cx="8858250" cy="476250"/>
          </a:xfrm>
        </p:grpSpPr>
        <p:sp>
          <p:nvSpPr>
            <p:cNvPr id="104" name="Rectangle 104"/>
            <p:cNvSpPr/>
            <p:nvPr/>
          </p:nvSpPr>
          <p:spPr>
            <a:xfrm>
              <a:off x="2952750" y="5924550"/>
              <a:ext cx="8858250" cy="476250"/>
            </a:xfrm>
            <a:prstGeom prst="roundRect">
              <a:avLst>
                <a:gd name="adj" fmla="val 16000"/>
              </a:avLst>
            </a:prstGeom>
            <a:solidFill>
              <a:schemeClr val="accent6">
                <a:alpha val="8000"/>
              </a:schemeClr>
            </a:solidFill>
            <a:ln w="19050">
              <a:solidFill>
                <a:schemeClr val="accent6"/>
              </a:solidFill>
            </a:ln>
          </p:spPr>
        </p:sp>
        <p:sp>
          <p:nvSpPr>
            <p:cNvPr id="105" name="TextBox 105"/>
            <p:cNvSpPr txBox="1"/>
            <p:nvPr/>
          </p:nvSpPr>
          <p:spPr>
            <a:xfrm>
              <a:off x="3137535" y="6079331"/>
              <a:ext cx="663800"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VERIFIED</a:t>
              </a:r>
            </a:p>
          </p:txBody>
        </p:sp>
        <p:sp>
          <p:nvSpPr>
            <p:cNvPr id="106" name="TextBox 106"/>
            <p:cNvSpPr txBox="1"/>
            <p:nvPr/>
          </p:nvSpPr>
          <p:spPr>
            <a:xfrm>
              <a:off x="3994785" y="6079331"/>
              <a:ext cx="441300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life/manager/daemon suite · stress ×20 · TUI 189 · Web 107</a:t>
              </a:r>
            </a:p>
          </p:txBody>
        </p:sp>
        <p:sp>
          <p:nvSpPr>
            <p:cNvPr id="107" name="TextBox 107"/>
            <p:cNvSpPr txBox="1"/>
            <p:nvPr/>
          </p:nvSpPr>
          <p:spPr>
            <a:xfrm>
              <a:off x="9648506" y="6095524"/>
              <a:ext cx="1976947" cy="190690"/>
            </a:xfrm>
            <a:prstGeom prst="rect">
              <a:avLst/>
            </a:prstGeom>
            <a:noFill/>
            <a:ln>
              <a:noFill/>
            </a:ln>
          </p:spPr>
          <p:txBody>
            <a:bodyPr wrap="none" lIns="0" tIns="0" rIns="0" bIns="0" anchor="t" anchorCtr="0">
              <a:spAutoFit/>
            </a:bodyPr>
            <a:lstStyle/>
            <a:p>
              <a:pPr algn="r"/>
              <a:r>
                <a:rPr lang="en-US" sz="980" b="1" dirty="0">
                  <a:solidFill>
                    <a:schemeClr val="accent6"/>
                  </a:solidFill>
                  <a:latin typeface="+mn-lt"/>
                  <a:ea typeface="+mn-ea"/>
                  <a:cs typeface="+mn-cs"/>
                </a:rPr>
                <a:t>0 deadlock · 0 duplicate claim</a:t>
              </a:r>
            </a:p>
          </p:txBody>
        </p:sp>
      </p:grpSp>
      <p:grpSp>
        <p:nvGrpSpPr>
          <p:cNvPr id="112" name="Group 112"/>
          <p:cNvGrpSpPr/>
          <p:nvPr/>
        </p:nvGrpSpPr>
        <p:grpSpPr>
          <a:xfrm>
            <a:off x="376047" y="6515100"/>
            <a:ext cx="11439906" cy="266414"/>
            <a:chOff x="376047" y="6515100"/>
            <a:chExt cx="11439906" cy="266414"/>
          </a:xfrm>
        </p:grpSpPr>
        <p:sp>
          <p:nvSpPr>
            <p:cNvPr id="109" name="Line 109"/>
            <p:cNvSpPr/>
            <p:nvPr/>
          </p:nvSpPr>
          <p:spPr>
            <a:xfrm>
              <a:off x="381000" y="6515100"/>
              <a:ext cx="11430000" cy="9525"/>
            </a:xfrm>
            <a:custGeom>
              <a:avLst/>
              <a:gdLst/>
              <a:ahLst/>
              <a:cxnLst/>
              <a:rect l="l" t="t" r="r" b="b"/>
              <a:pathLst>
                <a:path w="11430000" h="9525">
                  <a:moveTo>
                    <a:pt x="0" y="0"/>
                  </a:moveTo>
                  <a:lnTo>
                    <a:pt x="11430000" y="0"/>
                  </a:lnTo>
                </a:path>
              </a:pathLst>
            </a:custGeom>
            <a:noFill/>
            <a:ln w="9525">
              <a:solidFill>
                <a:schemeClr val="accent4"/>
              </a:solidFill>
            </a:ln>
          </p:spPr>
        </p:sp>
        <p:sp>
          <p:nvSpPr>
            <p:cNvPr id="110" name="TextBox 110"/>
            <p:cNvSpPr txBox="1"/>
            <p:nvPr/>
          </p:nvSpPr>
          <p:spPr>
            <a:xfrm>
              <a:off x="376047" y="6590824"/>
              <a:ext cx="7090220"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Figure 2 | Red labels retain the former risk; green text records the implemented exit and validation evidence.</a:t>
              </a:r>
            </a:p>
          </p:txBody>
        </p:sp>
        <p:sp>
          <p:nvSpPr>
            <p:cNvPr id="111" name="TextBox 111"/>
            <p:cNvSpPr txBox="1"/>
            <p:nvPr/>
          </p:nvSpPr>
          <p:spPr>
            <a:xfrm>
              <a:off x="9840575" y="6590824"/>
              <a:ext cx="1975378" cy="190690"/>
            </a:xfrm>
            <a:prstGeom prst="rect">
              <a:avLst/>
            </a:prstGeom>
            <a:noFill/>
            <a:ln>
              <a:noFill/>
            </a:ln>
          </p:spPr>
          <p:txBody>
            <a:bodyPr wrap="none" lIns="0" tIns="0" rIns="0" bIns="0" anchor="t" anchorCtr="0">
              <a:spAutoFit/>
            </a:bodyPr>
            <a:lstStyle/>
            <a:p>
              <a:pPr algn="r"/>
              <a:r>
                <a:rPr lang="en-US" sz="980" dirty="0">
                  <a:solidFill>
                    <a:schemeClr val="accent6"/>
                  </a:solidFill>
                  <a:latin typeface="Consolas"/>
                  <a:ea typeface="Consolas"/>
                  <a:cs typeface="Consolas"/>
                </a:rPr>
                <a:t>ALL 13 LIVENESS RISKS CLOSED</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argus_state_machine_en">
  <a:themeElements>
    <a:clrScheme name="argus_state_machine_en">
      <a:dk1>
        <a:srgbClr val="25364A"/>
      </a:dk1>
      <a:lt1>
        <a:srgbClr val="FBFCFE"/>
      </a:lt1>
      <a:dk2>
        <a:srgbClr val="25364A"/>
      </a:dk2>
      <a:lt2>
        <a:srgbClr val="FBFCFE"/>
      </a:lt2>
      <a:accent1>
        <a:srgbClr val="25364A"/>
      </a:accent1>
      <a:accent2>
        <a:srgbClr val="4477AA"/>
      </a:accent2>
      <a:accent3>
        <a:srgbClr val="4477AA"/>
      </a:accent3>
      <a:accent4>
        <a:srgbClr val="CBD5E1"/>
      </a:accent4>
      <a:accent5>
        <a:srgbClr val="F1F5F9"/>
      </a:accent5>
      <a:accent6>
        <a:srgbClr val="228833"/>
      </a:accent6>
      <a:hlink>
        <a:srgbClr val="4477AA"/>
      </a:hlink>
      <a:folHlink>
        <a:srgbClr val="4477AA"/>
      </a:folHlink>
    </a:clrScheme>
    <a:fontScheme name="argus_state_machine_e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rgus_state_machine_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rgus_state_machine_en">
  <a:themeElements>
    <a:clrScheme name="argus_state_machine_en">
      <a:dk1>
        <a:srgbClr val="25364A"/>
      </a:dk1>
      <a:lt1>
        <a:srgbClr val="FBFCFE"/>
      </a:lt1>
      <a:dk2>
        <a:srgbClr val="25364A"/>
      </a:dk2>
      <a:lt2>
        <a:srgbClr val="FBFCFE"/>
      </a:lt2>
      <a:accent1>
        <a:srgbClr val="25364A"/>
      </a:accent1>
      <a:accent2>
        <a:srgbClr val="4477AA"/>
      </a:accent2>
      <a:accent3>
        <a:srgbClr val="4477AA"/>
      </a:accent3>
      <a:accent4>
        <a:srgbClr val="CBD5E1"/>
      </a:accent4>
      <a:accent5>
        <a:srgbClr val="F1F5F9"/>
      </a:accent5>
      <a:accent6>
        <a:srgbClr val="228833"/>
      </a:accent6>
      <a:hlink>
        <a:srgbClr val="4477AA"/>
      </a:hlink>
      <a:folHlink>
        <a:srgbClr val="4477AA"/>
      </a:folHlink>
    </a:clrScheme>
    <a:fontScheme name="argus_state_machine_e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rgus_state_machine_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2026-07-20T16:39:41Z</dcterms:created>
  <dcterms:modified xsi:type="dcterms:W3CDTF">2026-07-20T16:39:41Z</dcterms:modified>
  <cp:category/>
  <cp:contentStatus/>
</cp:coreProperties>
</file>
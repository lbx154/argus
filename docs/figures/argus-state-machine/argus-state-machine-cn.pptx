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  <Relationship Id="rId9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这张图展示的已经不是风险诊断，而是修复后的真实状态机。Planner 产生的普通计划和 replacement 都先经过整批环检测再原子写入，Backlog 在读取 next pending 和真正领取任务时都会执行相同的依赖清理，因此遗留环、缺失依赖和失败依赖会进入明确的 skipped 终态，而不是伪装成空队列。工程师与审查者仍保留同范围迭代内环，但跨范围重规划必须携带计划版本并通过 compare-and-swap 提交；连续三次没有可提交 replacement 时，当前节点 fail-closed。暂停、回答和升级也都获得独立退出边：外部可恢复暂停自动开始新 attempt，操作员回答会重接全部下游依赖，长实验期间的升级请求立即返回并在自然边界后继续执行；已完成 workspace 接收新 intent 时还会重新打开 terminal stage。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第二张图逐项给出十三个原始活性风险的关闭证明。最高风险的六条路径由写入前环拒绝、读取时强连通分量终结、版本化计划替换、三次熔断、自动唤醒和依赖重接处理；五条持久阻塞路径则由 HOLD 终结当前节点、非阻塞升级复查、未定价成本保守占位、Manager 反馈熔断和带上下文哈希的去重签名处理。并发层统一使用先 pipeline 后 session 的锁顺序，Planner 没有 runner 或发生异常时进入十五秒到三百秒的指数退避，因此不会形成快速重试风暴。验证不仅覆盖单元路径，还包括扩大 life、Manager 和 daemon 测试、连续二十轮并发压力测试，以及完整的终端和网页前端测试；在这些验证中没有出现重复领取、重复 continuation 或无法退出的状态分量。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rgus_state_machine_c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rgus_state_machine_c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381000" y="260985"/>
            <a:ext cx="11434953" cy="737235"/>
            <a:chOff x="381000" y="260985"/>
            <a:chExt cx="11434953" cy="737235"/>
          </a:xfrm>
        </p:grpSpPr>
        <p:sp>
          <p:nvSpPr>
            <p:cNvPr id="2" name="Rectangle 2"/>
            <p:cNvSpPr/>
            <p:nvPr/>
          </p:nvSpPr>
          <p:spPr>
            <a:xfrm>
              <a:off x="381000" y="276225"/>
              <a:ext cx="66675" cy="3619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7309" y="260985"/>
              <a:ext cx="815206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Argus 修复后状态机：每条等待路径都有退出边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3405" y="704850"/>
              <a:ext cx="72847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跨范围、等待和失败路径分别由原子提交、自动唤醒、有限熔断或人工仲裁终止。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508117" y="304324"/>
              <a:ext cx="23078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b="1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FIG. 1 · REPAIRED CONTROL PLANE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9791700" y="552450"/>
              <a:ext cx="2019300" cy="9525"/>
            </a:xfrm>
            <a:custGeom>
              <a:avLst/>
              <a:gdLst/>
              <a:ahLst/>
              <a:cxnLst/>
              <a:rect l="l" t="t" r="r" b="b"/>
              <a:pathLst>
                <a:path w="2019300" h="9525">
                  <a:moveTo>
                    <a:pt x="0" y="0"/>
                  </a:moveTo>
                  <a:lnTo>
                    <a:pt x="20193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824483" y="675799"/>
              <a:ext cx="29914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绿色＝推进 · 红色＝fail-closed · 紫色＝权威仲裁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81000" y="1143000"/>
            <a:ext cx="8572500" cy="1200150"/>
            <a:chOff x="381000" y="1143000"/>
            <a:chExt cx="8572500" cy="1200150"/>
          </a:xfrm>
        </p:grpSpPr>
        <p:sp>
          <p:nvSpPr>
            <p:cNvPr id="9" name="Rectangle 9"/>
            <p:cNvSpPr/>
            <p:nvPr/>
          </p:nvSpPr>
          <p:spPr>
            <a:xfrm>
              <a:off x="381000" y="1143000"/>
              <a:ext cx="438150" cy="1200150"/>
            </a:xfrm>
            <a:prstGeom prst="roundRect">
              <a:avLst>
                <a:gd name="adj" fmla="val 1739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75840" y="14954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BFCFE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36047" y="1774031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BFCFE"/>
                  </a:solidFill>
                  <a:latin typeface="+mn-lt"/>
                  <a:ea typeface="+mn-ea"/>
                  <a:cs typeface="+mn-cs"/>
                </a:rPr>
                <a:t>控制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52500" y="1143000"/>
              <a:ext cx="8001000" cy="1200150"/>
            </a:xfrm>
            <a:prstGeom prst="roundRect">
              <a:avLst>
                <a:gd name="adj" fmla="val 7937"/>
              </a:avLst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99185" y="1240631"/>
              <a:ext cx="34215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CONTROL AUTHORITY · stage 只有一个写入者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143000" y="1524000"/>
              <a:ext cx="1428750" cy="609600"/>
            </a:xfrm>
            <a:prstGeom prst="roundRect">
              <a:avLst>
                <a:gd name="adj" fmla="val 10938"/>
              </a:avLst>
            </a:prstGeom>
            <a:solidFill>
              <a:schemeClr val="lt1"/>
            </a:solidFill>
            <a:ln w="19050">
              <a:solidFill>
                <a:srgbClr val="AA3377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358644" y="1647825"/>
              <a:ext cx="9974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Operator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04922" y="1914049"/>
              <a:ext cx="11049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目标 · 授权 · 回答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143250" y="1524000"/>
              <a:ext cx="1619250" cy="609600"/>
            </a:xfrm>
            <a:prstGeom prst="roundRect">
              <a:avLst>
                <a:gd name="adj" fmla="val 10938"/>
              </a:avLst>
            </a:prstGeom>
            <a:solidFill>
              <a:schemeClr val="lt1"/>
            </a:solidFill>
            <a:ln w="19050">
              <a:solidFill>
                <a:srgbClr val="AA3377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512429" y="1638300"/>
              <a:ext cx="8808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Manager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031399" y="1904524"/>
              <a:ext cx="18429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ADVANCE · HOLD · ROLLBACK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0" y="1524000"/>
              <a:ext cx="1428750" cy="609600"/>
            </a:xfrm>
            <a:prstGeom prst="roundRect">
              <a:avLst>
                <a:gd name="adj" fmla="val 10938"/>
              </a:avLst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656021" y="1647825"/>
              <a:ext cx="7847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Planner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69107" y="19140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 DAG / replacement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334250" y="1524000"/>
              <a:ext cx="1428750" cy="609600"/>
            </a:xfrm>
            <a:prstGeom prst="roundRect">
              <a:avLst>
                <a:gd name="adj" fmla="val 10938"/>
              </a:avLst>
            </a:prstGeom>
            <a:solidFill>
              <a:schemeClr val="accent6">
                <a:alpha val="8000"/>
              </a:schemeClr>
            </a:solidFill>
            <a:ln w="19050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405908" y="1653064"/>
              <a:ext cx="12854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Atomic commit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20314" y="1904524"/>
              <a:ext cx="12566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validate → write-all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2571750" y="1828800"/>
              <a:ext cx="495300" cy="1"/>
            </a:xfrm>
            <a:prstGeom prst="line">
              <a:avLst/>
            </a:prstGeom>
            <a:noFill/>
            <a:ln w="23812">
              <a:solidFill>
                <a:srgbClr val="AA3377"/>
              </a:solidFill>
              <a:prstDash val="lgDashDot"/>
              <a:tailEnd type="triangle" w="lg" len="lg"/>
            </a:ln>
          </p:spPr>
        </p:sp>
        <p:sp>
          <p:nvSpPr>
            <p:cNvPr id="27" name="Line 27"/>
            <p:cNvSpPr/>
            <p:nvPr/>
          </p:nvSpPr>
          <p:spPr>
            <a:xfrm>
              <a:off x="4762500" y="1828800"/>
              <a:ext cx="495300" cy="1"/>
            </a:xfrm>
            <a:prstGeom prst="line">
              <a:avLst/>
            </a:prstGeom>
            <a:noFill/>
            <a:ln w="23812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8" name="Line 28"/>
            <p:cNvSpPr/>
            <p:nvPr/>
          </p:nvSpPr>
          <p:spPr>
            <a:xfrm>
              <a:off x="6762750" y="1828800"/>
              <a:ext cx="495300" cy="1"/>
            </a:xfrm>
            <a:prstGeom prst="line">
              <a:avLst/>
            </a:prstGeom>
            <a:noFill/>
            <a:ln w="23812">
              <a:solidFill>
                <a:schemeClr val="accent6"/>
              </a:solidFill>
              <a:tailEnd type="triangle" w="lg" len="lg"/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381000" y="2495550"/>
            <a:ext cx="8572500" cy="1809750"/>
            <a:chOff x="381000" y="2495550"/>
            <a:chExt cx="8572500" cy="1809750"/>
          </a:xfrm>
        </p:grpSpPr>
        <p:sp>
          <p:nvSpPr>
            <p:cNvPr id="30" name="Rectangle 30"/>
            <p:cNvSpPr/>
            <p:nvPr/>
          </p:nvSpPr>
          <p:spPr>
            <a:xfrm>
              <a:off x="381000" y="2495550"/>
              <a:ext cx="438150" cy="1809750"/>
            </a:xfrm>
            <a:prstGeom prst="roundRect">
              <a:avLst>
                <a:gd name="adj" fmla="val 17391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75840" y="312420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BFCFE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36047" y="340280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BFCFE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52500" y="2495550"/>
              <a:ext cx="8001000" cy="1809750"/>
            </a:xfrm>
            <a:prstGeom prst="roundRect">
              <a:avLst>
                <a:gd name="adj" fmla="val 5263"/>
              </a:avLst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99185" y="2602706"/>
              <a:ext cx="41833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BACKLOG RECONCILIATION · 无 ready 节点时也执行清理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143000" y="2971800"/>
              <a:ext cx="1809750" cy="876300"/>
            </a:xfrm>
            <a:prstGeom prst="roundRect">
              <a:avLst>
                <a:gd name="adj" fmla="val 8696"/>
              </a:avLst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186196" y="3083242"/>
              <a:ext cx="17233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Backlog Reconciler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205182" y="3352324"/>
              <a:ext cx="16853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next_pending + claim_next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227242" y="3561874"/>
              <a:ext cx="16412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SCC / dead deps → skipped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667125" y="2971800"/>
              <a:ext cx="1666875" cy="876300"/>
            </a:xfrm>
            <a:prstGeom prst="roundRect">
              <a:avLst>
                <a:gd name="adj" fmla="val 8696"/>
              </a:avLst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045112" y="3171825"/>
              <a:ext cx="9013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Engineer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864371" y="3479006"/>
              <a:ext cx="1262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修复 · 实验 · 证据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191250" y="2971800"/>
              <a:ext cx="1666875" cy="876300"/>
            </a:xfrm>
            <a:prstGeom prst="roundRect">
              <a:avLst>
                <a:gd name="adj" fmla="val 8696"/>
              </a:avLst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47884" y="3171825"/>
              <a:ext cx="9440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Reviewer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39495" y="3479006"/>
              <a:ext cx="1360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验收 · next_action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2952750" y="3409950"/>
              <a:ext cx="638175" cy="1"/>
            </a:xfrm>
            <a:prstGeom prst="line">
              <a:avLst/>
            </a:prstGeom>
            <a:noFill/>
            <a:ln w="23812">
              <a:solidFill>
                <a:schemeClr val="accent6"/>
              </a:solidFill>
              <a:tailEnd type="triangle" w="lg" len="lg"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080722" y="3171349"/>
              <a:ext cx="3727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ready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5334000" y="3409950"/>
              <a:ext cx="781050" cy="1"/>
            </a:xfrm>
            <a:prstGeom prst="line">
              <a:avLst/>
            </a:prstGeom>
            <a:noFill/>
            <a:ln w="23812">
              <a:solidFill>
                <a:schemeClr val="accent6"/>
              </a:solidFill>
              <a:tailEnd type="triangle" w="lg" len="lg"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445822" y="3171349"/>
              <a:ext cx="5574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evidence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4495800" y="3848100"/>
              <a:ext cx="2524125" cy="323850"/>
            </a:xfrm>
            <a:custGeom>
              <a:avLst/>
              <a:gdLst/>
              <a:ahLst/>
              <a:cxnLst/>
              <a:rect l="l" t="t" r="r" b="b"/>
              <a:pathLst>
                <a:path w="2524125" h="323850">
                  <a:moveTo>
                    <a:pt x="2524125" y="0"/>
                  </a:moveTo>
                  <a:cubicBezTo>
                    <a:pt x="2524125" y="323850"/>
                    <a:pt x="0" y="323850"/>
                    <a:pt x="0" y="76200"/>
                  </a:cubicBezTo>
                </a:path>
              </a:pathLst>
            </a:custGeom>
            <a:noFill/>
            <a:ln w="23812">
              <a:solidFill>
                <a:schemeClr val="accent6"/>
              </a:solidFill>
              <a:tailEnd type="triangle" w="lg" len="lg"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741829" y="4057174"/>
              <a:ext cx="20415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continue_same_scope → round+1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020050" y="2971800"/>
              <a:ext cx="742950" cy="876300"/>
            </a:xfrm>
            <a:prstGeom prst="roundRect">
              <a:avLst>
                <a:gd name="adj" fmla="val 10256"/>
              </a:avLst>
            </a:prstGeom>
            <a:solidFill>
              <a:srgbClr val="EE6677">
                <a:alpha val="8000"/>
              </a:srgbClr>
            </a:solidFill>
            <a:ln w="19050">
              <a:solidFill>
                <a:srgbClr val="EE6677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293809" y="314563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EE6677"/>
                  </a:solidFill>
                  <a:latin typeface="Consolas"/>
                  <a:ea typeface="Consolas"/>
                  <a:cs typeface="Consolas"/>
                </a:rPr>
                <a:t>CB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132611" y="3371374"/>
              <a:ext cx="5178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retry=3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036964" y="3571399"/>
              <a:ext cx="7091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fail-closed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381000" y="4457700"/>
            <a:ext cx="8572500" cy="1581150"/>
            <a:chOff x="381000" y="4457700"/>
            <a:chExt cx="8572500" cy="1581150"/>
          </a:xfrm>
        </p:grpSpPr>
        <p:sp>
          <p:nvSpPr>
            <p:cNvPr id="56" name="Rectangle 56"/>
            <p:cNvSpPr/>
            <p:nvPr/>
          </p:nvSpPr>
          <p:spPr>
            <a:xfrm>
              <a:off x="381000" y="4457700"/>
              <a:ext cx="438150" cy="1581150"/>
            </a:xfrm>
            <a:prstGeom prst="roundRect">
              <a:avLst>
                <a:gd name="adj" fmla="val 17391"/>
              </a:avLst>
            </a:prstGeom>
            <a:solidFill>
              <a:srgbClr val="CCBB44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75840" y="49720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36047" y="525065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退出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952500" y="4457700"/>
              <a:ext cx="8001000" cy="1581150"/>
            </a:xfrm>
            <a:prstGeom prst="roundRect">
              <a:avLst>
                <a:gd name="adj" fmla="val 6024"/>
              </a:avLst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99185" y="4564856"/>
              <a:ext cx="39005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CBB44"/>
                  </a:solidFill>
                  <a:latin typeface="+mn-lt"/>
                  <a:ea typeface="+mn-ea"/>
                  <a:cs typeface="+mn-cs"/>
                </a:rPr>
                <a:t>PERSISTENT STATE EXITS · 自动唤醒与人工边界分离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1143000" y="4914900"/>
              <a:ext cx="1714500" cy="838200"/>
            </a:xfrm>
            <a:prstGeom prst="roundRect">
              <a:avLst>
                <a:gd name="adj" fmla="val 9091"/>
              </a:avLst>
            </a:prstGeom>
            <a:solidFill>
              <a:schemeClr val="lt1"/>
            </a:solidFill>
            <a:ln w="19050">
              <a:solidFill>
                <a:srgbClr val="AA3377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564803" y="5035868"/>
              <a:ext cx="8708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AA3377"/>
                  </a:solidFill>
                  <a:latin typeface="Consolas"/>
                  <a:ea typeface="Consolas"/>
                  <a:cs typeface="Consolas"/>
                </a:rPr>
                <a:t>stage = S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296641" y="5304949"/>
              <a:ext cx="14072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HOLD → 当前 item 终结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34469" y="5485924"/>
              <a:ext cx="17315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 intent → 重开 done stage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3143250" y="4914900"/>
              <a:ext cx="1714500" cy="838200"/>
            </a:xfrm>
            <a:prstGeom prst="roundRect">
              <a:avLst>
                <a:gd name="adj" fmla="val 9091"/>
              </a:avLst>
            </a:prstGeom>
            <a:solidFill>
              <a:schemeClr val="lt1"/>
            </a:solidFill>
            <a:ln w="19050">
              <a:solidFill>
                <a:srgbClr val="CCBB44"/>
              </a:solidFill>
              <a:prstDash val="dash"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3425419" y="5034439"/>
              <a:ext cx="11501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Auto-resume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3200683" y="5304949"/>
              <a:ext cx="15996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budget/provider/daemon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3312822" y="5485924"/>
              <a:ext cx="13753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attempt → attempt+1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143500" y="4914900"/>
              <a:ext cx="1714500" cy="838200"/>
            </a:xfrm>
            <a:prstGeom prst="roundRect">
              <a:avLst>
                <a:gd name="adj" fmla="val 9091"/>
              </a:avLst>
            </a:prstGeom>
            <a:solidFill>
              <a:schemeClr val="lt1"/>
            </a:solidFill>
            <a:ln w="19050">
              <a:solidFill>
                <a:srgbClr val="AA3377"/>
              </a:solidFill>
              <a:prstDash val="lgDashDot"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231298" y="5034439"/>
              <a:ext cx="15389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Operator answer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252821" y="5304949"/>
              <a:ext cx="14958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failed ID → continuation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336159" y="548592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rewire(all live deps)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7143750" y="4914900"/>
              <a:ext cx="1619250" cy="838200"/>
            </a:xfrm>
            <a:prstGeom prst="roundRect">
              <a:avLst>
                <a:gd name="adj" fmla="val 9091"/>
              </a:avLst>
            </a:prstGeom>
            <a:solidFill>
              <a:schemeClr val="lt1"/>
            </a:solidFill>
            <a:ln w="19050">
              <a:solidFill>
                <a:schemeClr val="accent2"/>
              </a:solidFill>
              <a:prstDash val="dash"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251830" y="5034439"/>
              <a:ext cx="1403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Daemon upgrade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216224" y="5304949"/>
              <a:ext cx="14743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drain request → return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400922" y="5485924"/>
              <a:ext cx="11049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recheck every 5s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2000250" y="2133600"/>
            <a:ext cx="6391275" cy="2705100"/>
            <a:chOff x="2000250" y="2133600"/>
            <a:chExt cx="6391275" cy="2705100"/>
          </a:xfrm>
        </p:grpSpPr>
        <p:sp>
          <p:nvSpPr>
            <p:cNvPr id="78" name="Freeform 78"/>
            <p:cNvSpPr/>
            <p:nvPr/>
          </p:nvSpPr>
          <p:spPr>
            <a:xfrm>
              <a:off x="2047875" y="2133600"/>
              <a:ext cx="6000750" cy="762000"/>
            </a:xfrm>
            <a:custGeom>
              <a:avLst/>
              <a:gdLst/>
              <a:ahLst/>
              <a:cxnLst/>
              <a:rect l="l" t="t" r="r" b="b"/>
              <a:pathLst>
                <a:path w="6000750" h="762000">
                  <a:moveTo>
                    <a:pt x="6000750" y="0"/>
                  </a:moveTo>
                  <a:lnTo>
                    <a:pt x="6000750" y="247650"/>
                  </a:lnTo>
                  <a:lnTo>
                    <a:pt x="0" y="247650"/>
                  </a:lnTo>
                  <a:lnTo>
                    <a:pt x="0" y="762000"/>
                  </a:lnTo>
                </a:path>
              </a:pathLst>
            </a:custGeom>
            <a:noFill/>
            <a:ln w="23812">
              <a:solidFill>
                <a:schemeClr val="accent6"/>
              </a:solidFill>
              <a:tailEnd type="triangle" w="lg" len="lg"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4107664" y="2228374"/>
              <a:ext cx="21669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atomic batch → reconciled backlog</a:t>
              </a:r>
            </a:p>
          </p:txBody>
        </p:sp>
        <p:sp>
          <p:nvSpPr>
            <p:cNvPr id="80" name="Freeform 80"/>
            <p:cNvSpPr/>
            <p:nvPr/>
          </p:nvSpPr>
          <p:spPr>
            <a:xfrm>
              <a:off x="3952875" y="2133600"/>
              <a:ext cx="3067050" cy="838200"/>
            </a:xfrm>
            <a:custGeom>
              <a:avLst/>
              <a:gdLst/>
              <a:ahLst/>
              <a:cxnLst/>
              <a:rect l="l" t="t" r="r" b="b"/>
              <a:pathLst>
                <a:path w="3067050" h="838200">
                  <a:moveTo>
                    <a:pt x="3067050" y="838200"/>
                  </a:moveTo>
                  <a:cubicBezTo>
                    <a:pt x="3000375" y="438150"/>
                    <a:pt x="1000125" y="247650"/>
                    <a:pt x="0" y="0"/>
                  </a:cubicBezTo>
                </a:path>
              </a:pathLst>
            </a:custGeom>
            <a:noFill/>
            <a:ln w="23812">
              <a:solidFill>
                <a:srgbClr val="AA3377"/>
              </a:solidFill>
              <a:prstDash val="lgDashDot"/>
              <a:tailEnd type="triangle" w="lg" len="lg"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5325128" y="2485549"/>
              <a:ext cx="15798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AA3377"/>
                  </a:solidFill>
                  <a:latin typeface="Consolas"/>
                  <a:ea typeface="Consolas"/>
                  <a:cs typeface="Consolas"/>
                </a:rPr>
                <a:t>done / replan_requested</a:t>
              </a:r>
            </a:p>
          </p:txBody>
        </p:sp>
        <p:sp>
          <p:nvSpPr>
            <p:cNvPr id="82" name="Freeform 82"/>
            <p:cNvSpPr/>
            <p:nvPr/>
          </p:nvSpPr>
          <p:spPr>
            <a:xfrm>
              <a:off x="3952875" y="2133600"/>
              <a:ext cx="2095500" cy="495300"/>
            </a:xfrm>
            <a:custGeom>
              <a:avLst/>
              <a:gdLst/>
              <a:ahLst/>
              <a:cxnLst/>
              <a:rect l="l" t="t" r="r" b="b"/>
              <a:pathLst>
                <a:path w="2095500" h="495300">
                  <a:moveTo>
                    <a:pt x="0" y="0"/>
                  </a:moveTo>
                  <a:cubicBezTo>
                    <a:pt x="0" y="400050"/>
                    <a:pt x="1190625" y="495300"/>
                    <a:pt x="2095500" y="0"/>
                  </a:cubicBezTo>
                </a:path>
              </a:pathLst>
            </a:custGeom>
            <a:noFill/>
            <a:ln w="23812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4270070" y="261889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versioned replacement</a:t>
              </a:r>
            </a:p>
          </p:txBody>
        </p:sp>
        <p:sp>
          <p:nvSpPr>
            <p:cNvPr id="84" name="Freeform 84"/>
            <p:cNvSpPr/>
            <p:nvPr/>
          </p:nvSpPr>
          <p:spPr>
            <a:xfrm>
              <a:off x="2000250" y="3848100"/>
              <a:ext cx="6391275" cy="990600"/>
            </a:xfrm>
            <a:custGeom>
              <a:avLst/>
              <a:gdLst/>
              <a:ahLst/>
              <a:cxnLst/>
              <a:rect l="l" t="t" r="r" b="b"/>
              <a:pathLst>
                <a:path w="6391275" h="990600">
                  <a:moveTo>
                    <a:pt x="6391275" y="0"/>
                  </a:moveTo>
                  <a:lnTo>
                    <a:pt x="6391275" y="495300"/>
                  </a:lnTo>
                  <a:lnTo>
                    <a:pt x="0" y="990600"/>
                  </a:lnTo>
                </a:path>
              </a:pathLst>
            </a:custGeom>
            <a:noFill/>
            <a:ln w="23812">
              <a:solidFill>
                <a:srgbClr val="EE6677"/>
              </a:solidFill>
              <a:tailEnd type="triangle" w="lg" len="lg"/>
            </a:ln>
          </p:spPr>
        </p:sp>
        <p:sp>
          <p:nvSpPr>
            <p:cNvPr id="85" name="Freeform 85"/>
            <p:cNvSpPr/>
            <p:nvPr/>
          </p:nvSpPr>
          <p:spPr>
            <a:xfrm>
              <a:off x="4000500" y="3848100"/>
              <a:ext cx="495300" cy="990600"/>
            </a:xfrm>
            <a:custGeom>
              <a:avLst/>
              <a:gdLst/>
              <a:ahLst/>
              <a:cxnLst/>
              <a:rect l="l" t="t" r="r" b="b"/>
              <a:pathLst>
                <a:path w="495300" h="990600">
                  <a:moveTo>
                    <a:pt x="495300" y="0"/>
                  </a:moveTo>
                  <a:lnTo>
                    <a:pt x="495300" y="514350"/>
                  </a:lnTo>
                  <a:lnTo>
                    <a:pt x="0" y="990600"/>
                  </a:lnTo>
                </a:path>
              </a:pathLst>
            </a:custGeom>
            <a:noFill/>
            <a:ln w="23812">
              <a:solidFill>
                <a:srgbClr val="CCBB44"/>
              </a:solidFill>
              <a:prstDash val="dash"/>
              <a:tailEnd type="triangle" w="lg" len="lg"/>
            </a:ln>
          </p:spPr>
        </p:sp>
        <p:sp>
          <p:nvSpPr>
            <p:cNvPr id="86" name="Freeform 86"/>
            <p:cNvSpPr/>
            <p:nvPr/>
          </p:nvSpPr>
          <p:spPr>
            <a:xfrm>
              <a:off x="6000750" y="3848100"/>
              <a:ext cx="1019175" cy="990600"/>
            </a:xfrm>
            <a:custGeom>
              <a:avLst/>
              <a:gdLst/>
              <a:ahLst/>
              <a:cxnLst/>
              <a:rect l="l" t="t" r="r" b="b"/>
              <a:pathLst>
                <a:path w="1019175" h="990600">
                  <a:moveTo>
                    <a:pt x="1019175" y="0"/>
                  </a:moveTo>
                  <a:lnTo>
                    <a:pt x="1019175" y="514350"/>
                  </a:lnTo>
                  <a:lnTo>
                    <a:pt x="0" y="990600"/>
                  </a:lnTo>
                </a:path>
              </a:pathLst>
            </a:custGeom>
            <a:noFill/>
            <a:ln w="23812">
              <a:solidFill>
                <a:srgbClr val="AA3377"/>
              </a:solidFill>
              <a:prstDash val="lgDashDot"/>
              <a:tailEnd type="triangle" w="lg" len="lg"/>
            </a:ln>
          </p:spPr>
        </p:sp>
      </p:grpSp>
      <p:grpSp>
        <p:nvGrpSpPr>
          <p:cNvPr id="101" name="Group 101"/>
          <p:cNvGrpSpPr/>
          <p:nvPr/>
        </p:nvGrpSpPr>
        <p:grpSpPr>
          <a:xfrm>
            <a:off x="9163050" y="1143000"/>
            <a:ext cx="2647950" cy="3143250"/>
            <a:chOff x="9163050" y="1143000"/>
            <a:chExt cx="2647950" cy="3143250"/>
          </a:xfrm>
        </p:grpSpPr>
        <p:sp>
          <p:nvSpPr>
            <p:cNvPr id="88" name="Rectangle 88"/>
            <p:cNvSpPr/>
            <p:nvPr/>
          </p:nvSpPr>
          <p:spPr>
            <a:xfrm>
              <a:off x="9163050" y="1143000"/>
              <a:ext cx="2647950" cy="3143250"/>
            </a:xfrm>
            <a:prstGeom prst="roundRect">
              <a:avLst>
                <a:gd name="adj" fmla="val 3597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9345930" y="1276350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活性不变量</a:t>
              </a:r>
            </a:p>
          </p:txBody>
        </p:sp>
        <p:sp>
          <p:nvSpPr>
            <p:cNvPr id="90" name="Line 90"/>
            <p:cNvSpPr/>
            <p:nvPr/>
          </p:nvSpPr>
          <p:spPr>
            <a:xfrm>
              <a:off x="9353550" y="1562100"/>
              <a:ext cx="2266950" cy="9525"/>
            </a:xfrm>
            <a:custGeom>
              <a:avLst/>
              <a:gdLst/>
              <a:ahLst/>
              <a:cxnLst/>
              <a:rect l="l" t="t" r="r" b="b"/>
              <a:pathLst>
                <a:path w="2266950" h="9525">
                  <a:moveTo>
                    <a:pt x="0" y="0"/>
                  </a:moveTo>
                  <a:lnTo>
                    <a:pt x="22669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9347835" y="1726406"/>
              <a:ext cx="17001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cycle → reject | skipped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347835" y="2012156"/>
              <a:ext cx="15883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replan[v] → CAS → v+1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9347835" y="2297906"/>
              <a:ext cx="18282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filtered × 3 → fail-closed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9347835" y="2583656"/>
              <a:ext cx="20468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external pause → attempt+1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9347835" y="2869406"/>
              <a:ext cx="17001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answer → rewire(deps)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9347835" y="3155156"/>
              <a:ext cx="22579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no-runner → backoff(15…300s)</a:t>
              </a:r>
            </a:p>
          </p:txBody>
        </p:sp>
        <p:sp>
          <p:nvSpPr>
            <p:cNvPr id="97" name="Line 97"/>
            <p:cNvSpPr/>
            <p:nvPr/>
          </p:nvSpPr>
          <p:spPr>
            <a:xfrm>
              <a:off x="9353550" y="3476625"/>
              <a:ext cx="2266950" cy="9525"/>
            </a:xfrm>
            <a:custGeom>
              <a:avLst/>
              <a:gdLst/>
              <a:ahLst/>
              <a:cxnLst/>
              <a:rect l="l" t="t" r="r" b="b"/>
              <a:pathLst>
                <a:path w="2266950" h="9525">
                  <a:moveTo>
                    <a:pt x="0" y="0"/>
                  </a:moveTo>
                  <a:lnTo>
                    <a:pt x="22669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9348597" y="3609499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安全性质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9348597" y="3809524"/>
              <a:ext cx="21603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任何 pending/waiting 分量最终进入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9348597" y="3990499"/>
              <a:ext cx="20745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running | skipped | failed | human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9163050" y="4457700"/>
            <a:ext cx="2647950" cy="1581150"/>
            <a:chOff x="9163050" y="4457700"/>
            <a:chExt cx="2647950" cy="1581150"/>
          </a:xfrm>
        </p:grpSpPr>
        <p:sp>
          <p:nvSpPr>
            <p:cNvPr id="102" name="Rectangle 102"/>
            <p:cNvSpPr/>
            <p:nvPr/>
          </p:nvSpPr>
          <p:spPr>
            <a:xfrm>
              <a:off x="9163050" y="4457700"/>
              <a:ext cx="2647950" cy="1581150"/>
            </a:xfrm>
            <a:prstGeom prst="roundRect">
              <a:avLst>
                <a:gd name="adj" fmla="val 6024"/>
              </a:avLst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9345930" y="4591050"/>
              <a:ext cx="14042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MODEL SPEND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9348597" y="4847749"/>
              <a:ext cx="11041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仅模型 / API 调用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9348597" y="5000149"/>
              <a:ext cx="15781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不含 GPU 与基础设施成本</a:t>
              </a:r>
            </a:p>
          </p:txBody>
        </p:sp>
        <p:sp>
          <p:nvSpPr>
            <p:cNvPr id="106" name="Line 106"/>
            <p:cNvSpPr/>
            <p:nvPr/>
          </p:nvSpPr>
          <p:spPr>
            <a:xfrm>
              <a:off x="9353550" y="5200650"/>
              <a:ext cx="2266950" cy="9525"/>
            </a:xfrm>
            <a:custGeom>
              <a:avLst/>
              <a:gdLst/>
              <a:ahLst/>
              <a:cxnLst/>
              <a:rect l="l" t="t" r="r" b="b"/>
              <a:pathLst>
                <a:path w="2266950" h="9525">
                  <a:moveTo>
                    <a:pt x="0" y="0"/>
                  </a:moveTo>
                  <a:lnTo>
                    <a:pt x="22669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07" name="Line 107"/>
            <p:cNvSpPr/>
            <p:nvPr/>
          </p:nvSpPr>
          <p:spPr>
            <a:xfrm>
              <a:off x="9353550" y="5362575"/>
              <a:ext cx="504825" cy="1"/>
            </a:xfrm>
            <a:prstGeom prst="line">
              <a:avLst/>
            </a:prstGeom>
            <a:noFill/>
            <a:ln w="23812">
              <a:solidFill>
                <a:schemeClr val="accent6"/>
              </a:solidFill>
              <a:tailEnd type="triangle" w="lg" len="lg"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9996297" y="531447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正常推进</a:t>
              </a:r>
            </a:p>
          </p:txBody>
        </p:sp>
        <p:sp>
          <p:nvSpPr>
            <p:cNvPr id="109" name="Line 109"/>
            <p:cNvSpPr/>
            <p:nvPr/>
          </p:nvSpPr>
          <p:spPr>
            <a:xfrm>
              <a:off x="9353550" y="5600700"/>
              <a:ext cx="504825" cy="1"/>
            </a:xfrm>
            <a:prstGeom prst="line">
              <a:avLst/>
            </a:prstGeom>
            <a:noFill/>
            <a:ln w="23812">
              <a:solidFill>
                <a:srgbClr val="CCBB44"/>
              </a:solidFill>
              <a:prstDash val="dash"/>
              <a:tailEnd type="triangle" w="lg" len="lg"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9996297" y="555259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可恢复等待</a:t>
              </a:r>
            </a:p>
          </p:txBody>
        </p:sp>
        <p:sp>
          <p:nvSpPr>
            <p:cNvPr id="111" name="Line 111"/>
            <p:cNvSpPr/>
            <p:nvPr/>
          </p:nvSpPr>
          <p:spPr>
            <a:xfrm>
              <a:off x="10791825" y="5362575"/>
              <a:ext cx="504825" cy="1"/>
            </a:xfrm>
            <a:prstGeom prst="line">
              <a:avLst/>
            </a:prstGeom>
            <a:noFill/>
            <a:ln w="23812">
              <a:solidFill>
                <a:srgbClr val="EE6677"/>
              </a:solidFill>
              <a:tailEnd type="triangle" w="lg" len="lg"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11161192" y="531447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熔断</a:t>
              </a:r>
            </a:p>
          </p:txBody>
        </p:sp>
        <p:sp>
          <p:nvSpPr>
            <p:cNvPr id="113" name="Line 113"/>
            <p:cNvSpPr/>
            <p:nvPr/>
          </p:nvSpPr>
          <p:spPr>
            <a:xfrm>
              <a:off x="10791825" y="5600700"/>
              <a:ext cx="504825" cy="1"/>
            </a:xfrm>
            <a:prstGeom prst="line">
              <a:avLst/>
            </a:prstGeom>
            <a:noFill/>
            <a:ln w="23812">
              <a:solidFill>
                <a:srgbClr val="AA3377"/>
              </a:solidFill>
              <a:prstDash val="lgDashDot"/>
              <a:tailEnd type="triangle" w="lg" len="lg"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11161192" y="55525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仲裁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9348597" y="580024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结论：无隐式无限循环。</a:t>
              </a:r>
            </a:p>
          </p:txBody>
        </p:sp>
      </p:grpSp>
      <p:grpSp>
        <p:nvGrpSpPr>
          <p:cNvPr id="120" name="Group 120"/>
          <p:cNvGrpSpPr/>
          <p:nvPr/>
        </p:nvGrpSpPr>
        <p:grpSpPr>
          <a:xfrm>
            <a:off x="376047" y="6438900"/>
            <a:ext cx="11439906" cy="275939"/>
            <a:chOff x="376047" y="6438900"/>
            <a:chExt cx="11439906" cy="275939"/>
          </a:xfrm>
        </p:grpSpPr>
        <p:sp>
          <p:nvSpPr>
            <p:cNvPr id="117" name="Line 117"/>
            <p:cNvSpPr/>
            <p:nvPr/>
          </p:nvSpPr>
          <p:spPr>
            <a:xfrm>
              <a:off x="381000" y="64389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376047" y="6524149"/>
              <a:ext cx="47390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 1｜修复后的控制权、任务执行、Backlog reconciliation 与持久状态退出边。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9847544" y="6524149"/>
              <a:ext cx="19684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LIVENESS-SAFE STATE MACHINE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381000" y="260985"/>
            <a:ext cx="11434953" cy="737235"/>
            <a:chOff x="381000" y="260985"/>
            <a:chExt cx="11434953" cy="737235"/>
          </a:xfrm>
        </p:grpSpPr>
        <p:sp>
          <p:nvSpPr>
            <p:cNvPr id="2" name="Rectangle 2"/>
            <p:cNvSpPr/>
            <p:nvPr/>
          </p:nvSpPr>
          <p:spPr>
            <a:xfrm>
              <a:off x="381000" y="276225"/>
              <a:ext cx="66675" cy="3619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7309" y="260985"/>
              <a:ext cx="628645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活性保护图谱：13 个风险如何被关闭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3405" y="704850"/>
              <a:ext cx="7082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每个原死锁或活锁分量都获得确定退出机制；重复失败不能无限消耗模型预算。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983803" y="304324"/>
              <a:ext cx="18321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b="1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FIG. 2 · LIVENESS CLOSURE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10048875" y="552450"/>
              <a:ext cx="1762125" cy="9525"/>
            </a:xfrm>
            <a:custGeom>
              <a:avLst/>
              <a:gdLst/>
              <a:ahLst/>
              <a:cxnLst/>
              <a:rect l="l" t="t" r="r" b="b"/>
              <a:pathLst>
                <a:path w="1762125" h="9525">
                  <a:moveTo>
                    <a:pt x="0" y="0"/>
                  </a:moveTo>
                  <a:lnTo>
                    <a:pt x="1762125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870658" y="675799"/>
              <a:ext cx="29452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原风险（红）→ 保护器（蓝/紫）→ 安全终态（绿）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81000" y="1162050"/>
            <a:ext cx="2324100" cy="4629150"/>
            <a:chOff x="381000" y="1162050"/>
            <a:chExt cx="2324100" cy="4629150"/>
          </a:xfrm>
        </p:grpSpPr>
        <p:sp>
          <p:nvSpPr>
            <p:cNvPr id="9" name="Rectangle 9"/>
            <p:cNvSpPr/>
            <p:nvPr/>
          </p:nvSpPr>
          <p:spPr>
            <a:xfrm>
              <a:off x="381000" y="1162050"/>
              <a:ext cx="2324100" cy="4629150"/>
            </a:xfrm>
            <a:prstGeom prst="roundRect">
              <a:avLst>
                <a:gd name="adj" fmla="val 4098"/>
              </a:avLst>
            </a:prstGeom>
            <a:solidFill>
              <a:schemeClr val="accent5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63880" y="1295400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安全推进主干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6547" y="157114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每一步均有后继或明确终态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571500" y="1809750"/>
              <a:ext cx="1943100" cy="9525"/>
            </a:xfrm>
            <a:custGeom>
              <a:avLst/>
              <a:gdLst/>
              <a:ahLst/>
              <a:cxnLst/>
              <a:rect l="l" t="t" r="r" b="b"/>
              <a:pathLst>
                <a:path w="1943100" h="9525">
                  <a:moveTo>
                    <a:pt x="0" y="0"/>
                  </a:moveTo>
                  <a:lnTo>
                    <a:pt x="19431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704850" y="2000250"/>
              <a:ext cx="1676400" cy="419100"/>
            </a:xfrm>
            <a:prstGeom prst="roundRect">
              <a:avLst>
                <a:gd name="adj" fmla="val 15909"/>
              </a:avLst>
            </a:prstGeom>
            <a:solidFill>
              <a:schemeClr val="lt1"/>
            </a:solidFill>
            <a:ln w="14288">
              <a:solidFill>
                <a:schemeClr val="accent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67121" y="2145506"/>
              <a:ext cx="9518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DAG validate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543050" y="2419350"/>
              <a:ext cx="1" cy="190500"/>
            </a:xfrm>
            <a:prstGeom prst="line">
              <a:avLst/>
            </a:prstGeom>
            <a:noFill/>
            <a:ln w="23812">
              <a:solidFill>
                <a:schemeClr val="accent6"/>
              </a:solidFill>
              <a:tailEnd type="triangle" w="lg" len="lg"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04850" y="2686050"/>
              <a:ext cx="1676400" cy="419100"/>
            </a:xfrm>
            <a:prstGeom prst="roundRect">
              <a:avLst>
                <a:gd name="adj" fmla="val 15909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76378" y="2831306"/>
              <a:ext cx="13333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reconcile → ready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1543050" y="3105150"/>
              <a:ext cx="1" cy="190500"/>
            </a:xfrm>
            <a:prstGeom prst="line">
              <a:avLst/>
            </a:prstGeom>
            <a:noFill/>
            <a:ln w="23812">
              <a:solidFill>
                <a:schemeClr val="accent6"/>
              </a:solidFill>
              <a:tailEnd type="triangle" w="lg" len="lg"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04850" y="3371850"/>
              <a:ext cx="1676400" cy="419100"/>
            </a:xfrm>
            <a:prstGeom prst="roundRect">
              <a:avLst>
                <a:gd name="adj" fmla="val 15909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84293" y="3517106"/>
              <a:ext cx="13175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execute → review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1543050" y="3790950"/>
              <a:ext cx="1" cy="190500"/>
            </a:xfrm>
            <a:prstGeom prst="line">
              <a:avLst/>
            </a:prstGeom>
            <a:noFill/>
            <a:ln w="23812">
              <a:solidFill>
                <a:schemeClr val="accent6"/>
              </a:solidFill>
              <a:tailEnd type="triangle" w="lg" len="lg"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04850" y="4057650"/>
              <a:ext cx="1676400" cy="419100"/>
            </a:xfrm>
            <a:prstGeom prst="roundRect">
              <a:avLst>
                <a:gd name="adj" fmla="val 15909"/>
              </a:avLst>
            </a:prstGeom>
            <a:solidFill>
              <a:schemeClr val="lt1"/>
            </a:solidFill>
            <a:ln w="14288">
              <a:solidFill>
                <a:srgbClr val="AA3377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81829" y="4202906"/>
              <a:ext cx="13224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Manager decision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1543050" y="4476750"/>
              <a:ext cx="1" cy="190500"/>
            </a:xfrm>
            <a:prstGeom prst="line">
              <a:avLst/>
            </a:prstGeom>
            <a:noFill/>
            <a:ln w="23812">
              <a:solidFill>
                <a:schemeClr val="accent6"/>
              </a:solidFill>
              <a:tailEnd type="triangle" w="lg" len="lg"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04850" y="4743450"/>
              <a:ext cx="1676400" cy="495300"/>
            </a:xfrm>
            <a:prstGeom prst="roundRect">
              <a:avLst>
                <a:gd name="adj" fmla="val 13462"/>
              </a:avLst>
            </a:prstGeom>
            <a:solidFill>
              <a:schemeClr val="accent6">
                <a:alpha val="8000"/>
              </a:schemeClr>
            </a:solidFill>
            <a:ln w="19050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220709" y="483155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安全终态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98113" y="5038249"/>
              <a:ext cx="18898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done | skipped | failed | human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6547" y="5400199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统一条件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6547" y="5590699"/>
              <a:ext cx="19822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pending ⇒ successor ∨ terminal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2952750" y="1162050"/>
            <a:ext cx="4095750" cy="4629150"/>
            <a:chOff x="2952750" y="1162050"/>
            <a:chExt cx="4095750" cy="4629150"/>
          </a:xfrm>
        </p:grpSpPr>
        <p:sp>
          <p:nvSpPr>
            <p:cNvPr id="31" name="Rectangle 31"/>
            <p:cNvSpPr/>
            <p:nvPr/>
          </p:nvSpPr>
          <p:spPr>
            <a:xfrm>
              <a:off x="2952750" y="1162050"/>
              <a:ext cx="4095750" cy="4629150"/>
            </a:xfrm>
            <a:prstGeom prst="roundRect">
              <a:avLst>
                <a:gd name="adj" fmla="val 2326"/>
              </a:avLst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2952750" y="1162050"/>
              <a:ext cx="4095750" cy="400050"/>
            </a:xfrm>
            <a:prstGeom prst="roundRect">
              <a:avLst>
                <a:gd name="adj" fmla="val 21429"/>
              </a:avLst>
            </a:prstGeom>
            <a:solidFill>
              <a:schemeClr val="accent6">
                <a:alpha val="8000"/>
              </a:scheme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134106" y="1243965"/>
              <a:ext cx="13355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P0 CLOSED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490085" y="1307306"/>
              <a:ext cx="22990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永久不可执行路径 → fail-closed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137535" y="1688306"/>
              <a:ext cx="10652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EE6677"/>
                  </a:solidFill>
                  <a:latin typeface="Consolas"/>
                  <a:ea typeface="Microsoft YaHei"/>
                  <a:cs typeface="Consolas"/>
                </a:rPr>
                <a:t>P0-1 · DAG 环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280535" y="1688306"/>
              <a:ext cx="2378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写入前拒绝；遗留 SCC → skipped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138297" y="1904524"/>
              <a:ext cx="21494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cycle → ValueError | terminal skip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3143250" y="2152650"/>
              <a:ext cx="3714750" cy="9525"/>
            </a:xfrm>
            <a:custGeom>
              <a:avLst/>
              <a:gdLst/>
              <a:ahLst/>
              <a:cxnLst/>
              <a:rect l="l" t="t" r="r" b="b"/>
              <a:pathLst>
                <a:path w="3714750" h="9525">
                  <a:moveTo>
                    <a:pt x="0" y="0"/>
                  </a:moveTo>
                  <a:lnTo>
                    <a:pt x="37147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137535" y="2307431"/>
              <a:ext cx="11194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EE6677"/>
                  </a:solidFill>
                  <a:latin typeface="Consolas"/>
                  <a:ea typeface="Consolas"/>
                  <a:cs typeface="Consolas"/>
                </a:rPr>
                <a:t>P0-2 · cleanup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471035" y="2307431"/>
              <a:ext cx="23861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两个调度入口共享 reconciliation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138297" y="252364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next_pending ≡ claim_next preflight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3143250" y="2771775"/>
              <a:ext cx="3714750" cy="9525"/>
            </a:xfrm>
            <a:custGeom>
              <a:avLst/>
              <a:gdLst/>
              <a:ahLst/>
              <a:cxnLst/>
              <a:rect l="l" t="t" r="r" b="b"/>
              <a:pathLst>
                <a:path w="3714750" h="9525">
                  <a:moveTo>
                    <a:pt x="0" y="0"/>
                  </a:moveTo>
                  <a:lnTo>
                    <a:pt x="37147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137535" y="2926556"/>
              <a:ext cx="10328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EE6677"/>
                  </a:solidFill>
                  <a:latin typeface="Consolas"/>
                  <a:ea typeface="Consolas"/>
                  <a:cs typeface="Consolas"/>
                </a:rPr>
                <a:t>P0-3 · replan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471035" y="2926556"/>
              <a:ext cx="15587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版本化 CAS 原子替换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138297" y="3142774"/>
              <a:ext cx="17777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expected[v] → commit[v+1]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3143250" y="3390900"/>
              <a:ext cx="3714750" cy="9525"/>
            </a:xfrm>
            <a:custGeom>
              <a:avLst/>
              <a:gdLst/>
              <a:ahLst/>
              <a:cxnLst/>
              <a:rect l="l" t="t" r="r" b="b"/>
              <a:pathLst>
                <a:path w="3714750" h="9525">
                  <a:moveTo>
                    <a:pt x="0" y="0"/>
                  </a:moveTo>
                  <a:lnTo>
                    <a:pt x="37147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137535" y="3545681"/>
              <a:ext cx="17054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EE6677"/>
                  </a:solidFill>
                  <a:latin typeface="Consolas"/>
                  <a:ea typeface="Microsoft YaHei"/>
                  <a:cs typeface="Consolas"/>
                </a:rPr>
                <a:t>P0-4 · 空 replacement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852035" y="3545681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三次熔断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138297" y="3761899"/>
              <a:ext cx="15996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filtered × 3 → node failed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3143250" y="4010025"/>
              <a:ext cx="3714750" cy="9525"/>
            </a:xfrm>
            <a:custGeom>
              <a:avLst/>
              <a:gdLst/>
              <a:ahLst/>
              <a:cxnLst/>
              <a:rect l="l" t="t" r="r" b="b"/>
              <a:pathLst>
                <a:path w="3714750" h="9525">
                  <a:moveTo>
                    <a:pt x="0" y="0"/>
                  </a:moveTo>
                  <a:lnTo>
                    <a:pt x="37147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137535" y="4164806"/>
              <a:ext cx="986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EE6677"/>
                  </a:solidFill>
                  <a:latin typeface="Consolas"/>
                  <a:ea typeface="Consolas"/>
                  <a:cs typeface="Consolas"/>
                </a:rPr>
                <a:t>P0-5 · pause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280535" y="4164806"/>
              <a:ext cx="22832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外部条件恢复后自动新 attempt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138297" y="4381024"/>
              <a:ext cx="24307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budget/provider/daemon → attempt+1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3143250" y="4629150"/>
              <a:ext cx="3714750" cy="9525"/>
            </a:xfrm>
            <a:custGeom>
              <a:avLst/>
              <a:gdLst/>
              <a:ahLst/>
              <a:cxnLst/>
              <a:rect l="l" t="t" r="r" b="b"/>
              <a:pathLst>
                <a:path w="3714750" h="9525">
                  <a:moveTo>
                    <a:pt x="0" y="0"/>
                  </a:moveTo>
                  <a:lnTo>
                    <a:pt x="37147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3137535" y="4783931"/>
              <a:ext cx="11046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EE6677"/>
                  </a:solidFill>
                  <a:latin typeface="Consolas"/>
                  <a:ea typeface="Consolas"/>
                  <a:cs typeface="Consolas"/>
                </a:rPr>
                <a:t>P0-6 · answer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375785" y="4783931"/>
              <a:ext cx="19111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原子重接所有活跃下游依赖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138297" y="5000149"/>
              <a:ext cx="18802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old failed ID → continuation ID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3143250" y="5314950"/>
              <a:ext cx="3714750" cy="285750"/>
            </a:xfrm>
            <a:prstGeom prst="roundRect">
              <a:avLst>
                <a:gd name="adj" fmla="val 20000"/>
              </a:avLst>
            </a:prstGeom>
            <a:solidFill>
              <a:schemeClr val="accent6">
                <a:alpha val="8000"/>
              </a:schemeClr>
            </a:solidFill>
            <a:ln w="9525">
              <a:solidFill>
                <a:schemeClr val="accent6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768036" y="5400199"/>
              <a:ext cx="24651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结果：P0 分量均无法保持 pending 闭环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7239000" y="1162050"/>
            <a:ext cx="2457450" cy="4629150"/>
            <a:chOff x="7239000" y="1162050"/>
            <a:chExt cx="2457450" cy="4629150"/>
          </a:xfrm>
        </p:grpSpPr>
        <p:sp>
          <p:nvSpPr>
            <p:cNvPr id="61" name="Rectangle 61"/>
            <p:cNvSpPr/>
            <p:nvPr/>
          </p:nvSpPr>
          <p:spPr>
            <a:xfrm>
              <a:off x="7239000" y="1162050"/>
              <a:ext cx="2457450" cy="4629150"/>
            </a:xfrm>
            <a:prstGeom prst="roundRect">
              <a:avLst>
                <a:gd name="adj" fmla="val 3876"/>
              </a:avLst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7239000" y="1162050"/>
              <a:ext cx="2457450" cy="400050"/>
            </a:xfrm>
            <a:prstGeom prst="roundRect">
              <a:avLst>
                <a:gd name="adj" fmla="val 21429"/>
              </a:avLst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420356" y="1243965"/>
              <a:ext cx="13355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P1 CLOSED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423785" y="1697831"/>
              <a:ext cx="14283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 · stage lifecycle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424547" y="1914049"/>
              <a:ext cx="20932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HOLD→failed; new intent→reopen</a:t>
              </a:r>
            </a:p>
          </p:txBody>
        </p:sp>
        <p:sp>
          <p:nvSpPr>
            <p:cNvPr id="66" name="Line 66"/>
            <p:cNvSpPr/>
            <p:nvPr/>
          </p:nvSpPr>
          <p:spPr>
            <a:xfrm>
              <a:off x="7429500" y="2171700"/>
              <a:ext cx="2076450" cy="9525"/>
            </a:xfrm>
            <a:custGeom>
              <a:avLst/>
              <a:gdLst/>
              <a:ahLst/>
              <a:cxnLst/>
              <a:rect l="l" t="t" r="r" b="b"/>
              <a:pathLst>
                <a:path w="2076450" h="9525">
                  <a:moveTo>
                    <a:pt x="0" y="0"/>
                  </a:moveTo>
                  <a:lnTo>
                    <a:pt x="20764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423785" y="2326481"/>
              <a:ext cx="14125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 · upgrade 不阻塞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424547" y="2542699"/>
              <a:ext cx="13555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drain=0s → timer(5s)</a:t>
              </a:r>
            </a:p>
          </p:txBody>
        </p:sp>
        <p:sp>
          <p:nvSpPr>
            <p:cNvPr id="69" name="Line 69"/>
            <p:cNvSpPr/>
            <p:nvPr/>
          </p:nvSpPr>
          <p:spPr>
            <a:xfrm>
              <a:off x="7429500" y="2800350"/>
              <a:ext cx="2076450" cy="9525"/>
            </a:xfrm>
            <a:custGeom>
              <a:avLst/>
              <a:gdLst/>
              <a:ahLst/>
              <a:cxnLst/>
              <a:rect l="l" t="t" r="r" b="b"/>
              <a:pathLst>
                <a:path w="2076450" h="9525">
                  <a:moveTo>
                    <a:pt x="0" y="0"/>
                  </a:moveTo>
                  <a:lnTo>
                    <a:pt x="20764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423785" y="2955131"/>
              <a:ext cx="10721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 · 未定价成本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424547" y="3171349"/>
              <a:ext cx="17051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reserve hold ≠ global block</a:t>
              </a:r>
            </a:p>
          </p:txBody>
        </p:sp>
        <p:sp>
          <p:nvSpPr>
            <p:cNvPr id="72" name="Line 72"/>
            <p:cNvSpPr/>
            <p:nvPr/>
          </p:nvSpPr>
          <p:spPr>
            <a:xfrm>
              <a:off x="7429500" y="3429000"/>
              <a:ext cx="2076450" cy="9525"/>
            </a:xfrm>
            <a:custGeom>
              <a:avLst/>
              <a:gdLst/>
              <a:ahLst/>
              <a:cxnLst/>
              <a:rect l="l" t="t" r="r" b="b"/>
              <a:pathLst>
                <a:path w="2076450" h="9525">
                  <a:moveTo>
                    <a:pt x="0" y="0"/>
                  </a:moveTo>
                  <a:lnTo>
                    <a:pt x="20764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423785" y="3583781"/>
              <a:ext cx="16720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 · Manager feedback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424547" y="3799999"/>
              <a:ext cx="15138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same evidence × 3 → idle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424547" y="3971449"/>
              <a:ext cx="21786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Operator / artifact revision 唤醒</a:t>
              </a:r>
            </a:p>
          </p:txBody>
        </p:sp>
        <p:sp>
          <p:nvSpPr>
            <p:cNvPr id="76" name="Line 76"/>
            <p:cNvSpPr/>
            <p:nvPr/>
          </p:nvSpPr>
          <p:spPr>
            <a:xfrm>
              <a:off x="7429500" y="4229100"/>
              <a:ext cx="2076450" cy="9525"/>
            </a:xfrm>
            <a:custGeom>
              <a:avLst/>
              <a:gdLst/>
              <a:ahLst/>
              <a:cxnLst/>
              <a:rect l="l" t="t" r="r" b="b"/>
              <a:pathLst>
                <a:path w="2076450" h="9525">
                  <a:moveTo>
                    <a:pt x="0" y="0"/>
                  </a:moveTo>
                  <a:lnTo>
                    <a:pt x="20764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423785" y="4383881"/>
              <a:ext cx="9138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 · 合法复跑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424547" y="4600099"/>
              <a:ext cx="16919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signature += context hash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424547" y="4771549"/>
              <a:ext cx="18634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证据变化即新 acceptance unit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7429500" y="5219700"/>
              <a:ext cx="2076450" cy="381000"/>
            </a:xfrm>
            <a:prstGeom prst="roundRect">
              <a:avLst>
                <a:gd name="adj" fmla="val 15000"/>
              </a:avLst>
            </a:prstGeom>
            <a:solidFill>
              <a:schemeClr val="accent2">
                <a:alpha val="8000"/>
              </a:schemeClr>
            </a:solidFill>
            <a:ln w="9525">
              <a:solidFill>
                <a:schemeClr val="accent2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7562366" y="5352574"/>
              <a:ext cx="18107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进程可活，进度也必须可增长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9886950" y="1162050"/>
            <a:ext cx="1924050" cy="4629150"/>
            <a:chOff x="9886950" y="1162050"/>
            <a:chExt cx="1924050" cy="4629150"/>
          </a:xfrm>
        </p:grpSpPr>
        <p:sp>
          <p:nvSpPr>
            <p:cNvPr id="83" name="Rectangle 83"/>
            <p:cNvSpPr/>
            <p:nvPr/>
          </p:nvSpPr>
          <p:spPr>
            <a:xfrm>
              <a:off x="9886950" y="1162050"/>
              <a:ext cx="1924050" cy="4629150"/>
            </a:xfrm>
            <a:prstGeom prst="roundRect">
              <a:avLst>
                <a:gd name="adj" fmla="val 4950"/>
              </a:avLst>
            </a:prstGeom>
            <a:solidFill>
              <a:schemeClr val="lt1"/>
            </a:solidFill>
            <a:ln w="19050">
              <a:solidFill>
                <a:srgbClr val="AA3377"/>
              </a:solidFill>
            </a:ln>
          </p:spPr>
        </p:sp>
        <p:sp>
          <p:nvSpPr>
            <p:cNvPr id="84" name="Rectangle 84"/>
            <p:cNvSpPr/>
            <p:nvPr/>
          </p:nvSpPr>
          <p:spPr>
            <a:xfrm>
              <a:off x="9886950" y="1162050"/>
              <a:ext cx="1924050" cy="400050"/>
            </a:xfrm>
            <a:prstGeom prst="roundRect">
              <a:avLst>
                <a:gd name="adj" fmla="val 21429"/>
              </a:avLst>
            </a:prstGeom>
            <a:solidFill>
              <a:srgbClr val="AA3377">
                <a:alpha val="8000"/>
              </a:srgbClr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10068306" y="1243965"/>
              <a:ext cx="13355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AA3377"/>
                  </a:solidFill>
                  <a:latin typeface="Consolas"/>
                  <a:ea typeface="Consolas"/>
                  <a:cs typeface="Consolas"/>
                </a:rPr>
                <a:t>P2 CLOSED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10077450" y="1790700"/>
              <a:ext cx="1543050" cy="1466850"/>
            </a:xfrm>
            <a:prstGeom prst="roundRect">
              <a:avLst>
                <a:gd name="adj" fmla="val 5195"/>
              </a:avLst>
            </a:prstGeom>
            <a:solidFill>
              <a:srgbClr val="AA3377">
                <a:alpha val="5000"/>
              </a:srgbClr>
            </a:solidFill>
            <a:ln w="14288">
              <a:solidFill>
                <a:srgbClr val="AA3377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10205085" y="1926431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统一锁顺序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0205847" y="2237899"/>
              <a:ext cx="4914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AA3377"/>
                  </a:solidFill>
                  <a:latin typeface="Consolas"/>
                  <a:ea typeface="Consolas"/>
                  <a:cs typeface="Consolas"/>
                </a:rPr>
                <a:t>pipeline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0205847" y="24283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↓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0205847" y="2618899"/>
              <a:ext cx="4848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AA3377"/>
                  </a:solidFill>
                  <a:latin typeface="Consolas"/>
                  <a:ea typeface="Consolas"/>
                  <a:cs typeface="Consolas"/>
                </a:rPr>
                <a:t>session</a:t>
              </a:r>
            </a:p>
          </p:txBody>
        </p:sp>
        <p:sp>
          <p:nvSpPr>
            <p:cNvPr id="91" name="Line 91"/>
            <p:cNvSpPr/>
            <p:nvPr/>
          </p:nvSpPr>
          <p:spPr>
            <a:xfrm>
              <a:off x="10210800" y="2857500"/>
              <a:ext cx="1276350" cy="9525"/>
            </a:xfrm>
            <a:custGeom>
              <a:avLst/>
              <a:gdLst/>
              <a:ahLst/>
              <a:cxnLst/>
              <a:rect l="l" t="t" r="r" b="b"/>
              <a:pathLst>
                <a:path w="1276350" h="9525">
                  <a:moveTo>
                    <a:pt x="0" y="0"/>
                  </a:moveTo>
                  <a:lnTo>
                    <a:pt x="1276350" y="0"/>
                  </a:lnTo>
                </a:path>
              </a:pathLst>
            </a:custGeom>
            <a:noFill/>
            <a:ln w="14288">
              <a:solidFill>
                <a:srgbClr val="AA3377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10205847" y="2961799"/>
              <a:ext cx="12714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禁止 A→B / B→A 反转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10077450" y="3486150"/>
              <a:ext cx="1543050" cy="1466850"/>
            </a:xfrm>
            <a:prstGeom prst="roundRect">
              <a:avLst>
                <a:gd name="adj" fmla="val 5195"/>
              </a:avLst>
            </a:prstGeom>
            <a:solidFill>
              <a:srgbClr val="AA3377">
                <a:alpha val="5000"/>
              </a:srgbClr>
            </a:solidFill>
            <a:ln w="14288">
              <a:solidFill>
                <a:srgbClr val="AA3377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10205085" y="3621881"/>
              <a:ext cx="12722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Planner 失败退避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0205847" y="3933349"/>
              <a:ext cx="6629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AA3377"/>
                  </a:solidFill>
                  <a:latin typeface="Consolas"/>
                  <a:ea typeface="Consolas"/>
                  <a:cs typeface="Consolas"/>
                </a:rPr>
                <a:t>no-runner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0205847" y="4123849"/>
              <a:ext cx="6299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AA3377"/>
                  </a:solidFill>
                  <a:latin typeface="Consolas"/>
                  <a:ea typeface="Consolas"/>
                  <a:cs typeface="Consolas"/>
                </a:rPr>
                <a:t>exception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0205847" y="4333399"/>
              <a:ext cx="9202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→ 15,30,…300s</a:t>
              </a:r>
            </a:p>
          </p:txBody>
        </p:sp>
        <p:sp>
          <p:nvSpPr>
            <p:cNvPr id="98" name="Line 98"/>
            <p:cNvSpPr/>
            <p:nvPr/>
          </p:nvSpPr>
          <p:spPr>
            <a:xfrm>
              <a:off x="10210800" y="4572000"/>
              <a:ext cx="1276350" cy="9525"/>
            </a:xfrm>
            <a:custGeom>
              <a:avLst/>
              <a:gdLst/>
              <a:ahLst/>
              <a:cxnLst/>
              <a:rect l="l" t="t" r="r" b="b"/>
              <a:pathLst>
                <a:path w="1276350" h="9525">
                  <a:moveTo>
                    <a:pt x="0" y="0"/>
                  </a:moveTo>
                  <a:lnTo>
                    <a:pt x="1276350" y="0"/>
                  </a:lnTo>
                </a:path>
              </a:pathLst>
            </a:custGeom>
            <a:noFill/>
            <a:ln w="14288">
              <a:solidFill>
                <a:srgbClr val="AA3377"/>
              </a:solidFill>
              <a:prstDash val="lgDashDot"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10205847" y="4676299"/>
              <a:ext cx="14479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 busy loop / 资源抖动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0072497" y="5200174"/>
              <a:ext cx="7025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并发不变量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0072497" y="540019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one claim / one answer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0072497" y="5571649"/>
              <a:ext cx="12500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无重复 continuation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2952750" y="5924550"/>
            <a:ext cx="8858250" cy="476250"/>
            <a:chOff x="2952750" y="5924550"/>
            <a:chExt cx="8858250" cy="476250"/>
          </a:xfrm>
        </p:grpSpPr>
        <p:sp>
          <p:nvSpPr>
            <p:cNvPr id="104" name="Rectangle 104"/>
            <p:cNvSpPr/>
            <p:nvPr/>
          </p:nvSpPr>
          <p:spPr>
            <a:xfrm>
              <a:off x="2952750" y="5924550"/>
              <a:ext cx="8858250" cy="476250"/>
            </a:xfrm>
            <a:prstGeom prst="roundRect">
              <a:avLst>
                <a:gd name="adj" fmla="val 16000"/>
              </a:avLst>
            </a:prstGeom>
            <a:solidFill>
              <a:schemeClr val="accent6">
                <a:alpha val="8000"/>
              </a:schemeClr>
            </a:solidFill>
            <a:ln w="19050">
              <a:solidFill>
                <a:schemeClr val="accent6"/>
              </a:solidFill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3137535" y="6079331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验证通过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3994785" y="6079331"/>
              <a:ext cx="44130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life/manager/daemon suite · stress ×20 · TUI 189 · Web 107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9648506" y="6095524"/>
              <a:ext cx="19769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 deadlock · 0 duplicate claim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376047" y="6515100"/>
            <a:ext cx="11439906" cy="266414"/>
            <a:chOff x="376047" y="6515100"/>
            <a:chExt cx="11439906" cy="266414"/>
          </a:xfrm>
        </p:grpSpPr>
        <p:sp>
          <p:nvSpPr>
            <p:cNvPr id="109" name="Line 109"/>
            <p:cNvSpPr/>
            <p:nvPr/>
          </p:nvSpPr>
          <p:spPr>
            <a:xfrm>
              <a:off x="381000" y="65151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376047" y="6590824"/>
              <a:ext cx="46075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 2｜原风险保留红色编号；绿色文字表示实际实现的退出状态与通过的验证。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9840575" y="6590824"/>
              <a:ext cx="19753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ALL 13 LIVENESS RISKS CLOSED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rgus_state_machine_cn">
  <a:themeElements>
    <a:clrScheme name="argus_state_machine_cn">
      <a:dk1>
        <a:srgbClr val="25364A"/>
      </a:dk1>
      <a:lt1>
        <a:srgbClr val="FBFCFE"/>
      </a:lt1>
      <a:dk2>
        <a:srgbClr val="25364A"/>
      </a:dk2>
      <a:lt2>
        <a:srgbClr val="FBFCFE"/>
      </a:lt2>
      <a:accent1>
        <a:srgbClr val="25364A"/>
      </a:accent1>
      <a:accent2>
        <a:srgbClr val="4477AA"/>
      </a:accent2>
      <a:accent3>
        <a:srgbClr val="4477AA"/>
      </a:accent3>
      <a:accent4>
        <a:srgbClr val="CBD5E1"/>
      </a:accent4>
      <a:accent5>
        <a:srgbClr val="F1F5F9"/>
      </a:accent5>
      <a:accent6>
        <a:srgbClr val="228833"/>
      </a:accent6>
      <a:hlink>
        <a:srgbClr val="4477AA"/>
      </a:hlink>
      <a:folHlink>
        <a:srgbClr val="4477AA"/>
      </a:folHlink>
    </a:clrScheme>
    <a:fontScheme name="argus_state_machine_c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rgus_state_machine_c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rgus_state_machine_cn">
  <a:themeElements>
    <a:clrScheme name="argus_state_machine_cn">
      <a:dk1>
        <a:srgbClr val="25364A"/>
      </a:dk1>
      <a:lt1>
        <a:srgbClr val="FBFCFE"/>
      </a:lt1>
      <a:dk2>
        <a:srgbClr val="25364A"/>
      </a:dk2>
      <a:lt2>
        <a:srgbClr val="FBFCFE"/>
      </a:lt2>
      <a:accent1>
        <a:srgbClr val="25364A"/>
      </a:accent1>
      <a:accent2>
        <a:srgbClr val="4477AA"/>
      </a:accent2>
      <a:accent3>
        <a:srgbClr val="4477AA"/>
      </a:accent3>
      <a:accent4>
        <a:srgbClr val="CBD5E1"/>
      </a:accent4>
      <a:accent5>
        <a:srgbClr val="F1F5F9"/>
      </a:accent5>
      <a:accent6>
        <a:srgbClr val="228833"/>
      </a:accent6>
      <a:hlink>
        <a:srgbClr val="4477AA"/>
      </a:hlink>
      <a:folHlink>
        <a:srgbClr val="4477AA"/>
      </a:folHlink>
    </a:clrScheme>
    <a:fontScheme name="argus_state_machine_c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rgus_state_machine_c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2026-07-20T16:38:48Z</dcterms:created>
  <dcterms:modified xsi:type="dcterms:W3CDTF">2026-07-20T16:38:48Z</dcterms:modified>
  <cp:category/>
  <cp:contentStatus/>
</cp:coreProperties>
</file>
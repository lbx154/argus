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59436"/>
          </a:xfrm>
          <a:prstGeom prst="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0241280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E2732"/>
                </a:solidFill>
                <a:latin typeface="Aptos"/>
              </a:rPr>
              <a:t>SWE-Bench Pro: accuracy gain and runtime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585216"/>
            <a:ext cx="101498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5E6875"/>
                </a:solidFill>
                <a:latin typeface="Aptos"/>
              </a:rPr>
              <a:t>One continuous 731-task evaluation · GPT-5.5/xhigh · Skill and Wiki state updated throughout the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2926080" cy="46634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2560320" cy="2926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73B70"/>
                </a:solidFill>
                <a:latin typeface="Aptos"/>
              </a:rPr>
              <a:t>(a) Full-suite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536192"/>
            <a:ext cx="237744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E2732"/>
                </a:solidFill>
                <a:latin typeface="Aptos"/>
              </a:rPr>
              <a:t>Accuracy on 731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627631"/>
            <a:ext cx="128016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69" b="0">
                <a:solidFill>
                  <a:srgbClr val="1E2732"/>
                </a:solidFill>
                <a:latin typeface="Aptos"/>
              </a:rPr>
              <a:t>Direct Copilot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874519"/>
            <a:ext cx="233172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874519"/>
            <a:ext cx="1375714" cy="256032"/>
          </a:xfrm>
          <a:prstGeom prst="rect">
            <a:avLst/>
          </a:prstGeom>
          <a:solidFill>
            <a:srgbClr val="7A838E"/>
          </a:solidFill>
          <a:ln w="10160">
            <a:solidFill>
              <a:srgbClr val="7A8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3418" y="1865376"/>
            <a:ext cx="512064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≈59%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128016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1E2732"/>
                </a:solidFill>
                <a:latin typeface="Aptos"/>
              </a:rPr>
              <a:t>Argus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2468880"/>
            <a:ext cx="233172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" y="2468880"/>
            <a:ext cx="1818741" cy="256032"/>
          </a:xfrm>
          <a:prstGeom prst="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6445" y="2459736"/>
            <a:ext cx="512064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≈78%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907791"/>
            <a:ext cx="2331720" cy="30175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350" b="1">
                <a:solidFill>
                  <a:srgbClr val="315BCE"/>
                </a:solidFill>
                <a:latin typeface="Aptos"/>
              </a:rPr>
              <a:t>+19 percentage 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" y="3319272"/>
            <a:ext cx="2596896" cy="0"/>
          </a:xfrm>
          <a:prstGeom prst="line">
            <a:avLst/>
          </a:prstGeom>
          <a:ln w="10160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4632" y="3474720"/>
            <a:ext cx="2377440" cy="2286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E2732"/>
                </a:solidFill>
                <a:latin typeface="Aptos"/>
              </a:rPr>
              <a:t>Normalized aggregate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602735"/>
            <a:ext cx="128016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732"/>
                </a:solidFill>
                <a:latin typeface="Aptos"/>
              </a:rPr>
              <a:t>Direct Copilot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3822191"/>
            <a:ext cx="2331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" y="3822191"/>
            <a:ext cx="1554480" cy="201168"/>
          </a:xfrm>
          <a:prstGeom prst="rect">
            <a:avLst/>
          </a:prstGeom>
          <a:solidFill>
            <a:srgbClr val="7A838E"/>
          </a:solidFill>
          <a:ln w="10160">
            <a:solidFill>
              <a:srgbClr val="7A8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43784" y="3794759"/>
            <a:ext cx="4114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7A838E"/>
                </a:solidFill>
                <a:latin typeface="Aptos"/>
              </a:rPr>
              <a:t>1.00×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123944"/>
            <a:ext cx="128016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1E2732"/>
                </a:solidFill>
                <a:latin typeface="Aptos"/>
              </a:rPr>
              <a:t>Argus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" y="4343400"/>
            <a:ext cx="233172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" y="4343400"/>
            <a:ext cx="2191816" cy="201168"/>
          </a:xfrm>
          <a:prstGeom prst="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43784" y="4315968"/>
            <a:ext cx="4114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315BCE"/>
                </a:solidFill>
                <a:latin typeface="Aptos"/>
              </a:rPr>
              <a:t>1.41×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828031"/>
            <a:ext cx="2542032" cy="5029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810" b="0">
                <a:solidFill>
                  <a:srgbClr val="5E6875"/>
                </a:solidFill>
                <a:latin typeface="Aptos"/>
              </a:rPr>
              <a:t>Only the aggregate Token ratio is available;
Copilot per-wave Token/time was not logged.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1051560"/>
            <a:ext cx="722376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1124712"/>
            <a:ext cx="693115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173B70"/>
                </a:solidFill>
                <a:latin typeface="Aptos"/>
              </a:rPr>
              <a:t>(b) Argus solve input per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38944" y="1490472"/>
            <a:ext cx="640080" cy="1335024"/>
          </a:xfrm>
          <a:prstGeom prst="rect">
            <a:avLst/>
          </a:prstGeom>
          <a:solidFill>
            <a:srgbClr val="FCF6E5"/>
          </a:solidFill>
          <a:ln w="10160">
            <a:solidFill>
              <a:srgbClr val="FCF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941064" y="2825496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02152" y="2724912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41064" y="2507633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02152" y="2407049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41064" y="2189770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502152" y="2089186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941064" y="1871907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502152" y="1771323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41064" y="1554044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02152" y="1453460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4</a:t>
            </a:r>
          </a:p>
        </p:txBody>
      </p:sp>
      <p:sp>
        <p:nvSpPr>
          <p:cNvPr id="41" name="Oval 40"/>
          <p:cNvSpPr/>
          <p:nvPr/>
        </p:nvSpPr>
        <p:spPr>
          <a:xfrm>
            <a:off x="3872484" y="1819394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21024" y="1595366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2.95M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7872" y="2889503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W1–6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38144" y="307238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Start-up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941064" y="1887974"/>
            <a:ext cx="1554480" cy="278881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426964" y="2098275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75504" y="1874247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2.07M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2352" y="2889503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W7–12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92624" y="307238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Early reuse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95544" y="2166855"/>
            <a:ext cx="1554480" cy="190885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981444" y="2289160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9984" y="2065132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1.47M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2889503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W13–18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7104" y="307238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Composition shift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7050024" y="2085845"/>
            <a:ext cx="1554480" cy="271895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535924" y="2017265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4" y="1793237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2.33M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889503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W19–22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01583" y="307238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Mature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8604504" y="1643373"/>
            <a:ext cx="1554480" cy="442472"/>
          </a:xfrm>
          <a:prstGeom prst="line">
            <a:avLst/>
          </a:prstGeom>
          <a:ln w="25400">
            <a:solidFill>
              <a:srgbClr val="C38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0090404" y="1574793"/>
            <a:ext cx="137160" cy="137160"/>
          </a:xfrm>
          <a:prstGeom prst="ellipse">
            <a:avLst/>
          </a:prstGeom>
          <a:solidFill>
            <a:srgbClr val="C38A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38944" y="1350765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C38A20"/>
                </a:solidFill>
                <a:latin typeface="Aptos"/>
              </a:rPr>
              <a:t>3.72M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65792" y="2889503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W23–24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56064" y="307238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Late difficult tasks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96528" y="1143000"/>
            <a:ext cx="1664208" cy="2468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0" b="1">
                <a:solidFill>
                  <a:srgbClr val="315BCE"/>
                </a:solidFill>
                <a:latin typeface="Aptos"/>
              </a:rPr>
              <a:t>Start-up → mature: −21%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31920" y="1389888"/>
            <a:ext cx="192024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780" b="0">
                <a:solidFill>
                  <a:srgbClr val="5E6875"/>
                </a:solidFill>
                <a:latin typeface="Aptos"/>
              </a:rPr>
              <a:t>Best six-wave regime: −50%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29000" y="3474720"/>
            <a:ext cx="722376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75304" y="3547872"/>
            <a:ext cx="6931152" cy="27432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173B70"/>
                </a:solidFill>
                <a:latin typeface="Aptos"/>
              </a:rPr>
              <a:t>(c) Argus active workflow time per task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38944" y="3913631"/>
            <a:ext cx="640080" cy="1335024"/>
          </a:xfrm>
          <a:prstGeom prst="rect">
            <a:avLst/>
          </a:prstGeom>
          <a:solidFill>
            <a:srgbClr val="FCF6E5"/>
          </a:solidFill>
          <a:ln w="10160">
            <a:solidFill>
              <a:srgbClr val="FCF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3941064" y="5248655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502152" y="5148071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0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941064" y="5026151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502152" y="4925567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2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941064" y="4803648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502152" y="4703063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4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941064" y="4581144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502152" y="4480559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941064" y="4358639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502152" y="4258055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8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941064" y="4136135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502152" y="4035551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10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941064" y="3913631"/>
            <a:ext cx="6217920" cy="0"/>
          </a:xfrm>
          <a:prstGeom prst="line">
            <a:avLst/>
          </a:prstGeom>
          <a:ln w="8255">
            <a:solidFill>
              <a:srgbClr val="DB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2152" y="3813047"/>
            <a:ext cx="347472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750" b="0">
                <a:solidFill>
                  <a:srgbClr val="5E6875"/>
                </a:solidFill>
                <a:latin typeface="Aptos"/>
              </a:rPr>
              <a:t>12</a:t>
            </a:r>
          </a:p>
        </p:txBody>
      </p:sp>
      <p:sp>
        <p:nvSpPr>
          <p:cNvPr id="84" name="Oval 83"/>
          <p:cNvSpPr/>
          <p:nvPr/>
        </p:nvSpPr>
        <p:spPr>
          <a:xfrm>
            <a:off x="3872484" y="4232187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21024" y="4008159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8.52m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47872" y="5312664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W1–6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38144" y="549554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Start-up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941064" y="4300767"/>
            <a:ext cx="1554480" cy="138228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5426964" y="4370415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75504" y="4146387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7.28m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2352" y="5312664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W7–12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92624" y="549554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Early reuse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5495544" y="4089287"/>
            <a:ext cx="1554480" cy="349708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6981444" y="4020707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729984" y="3796679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10.42m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56832" y="5312664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W13–18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47104" y="549554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Composition shift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050024" y="4089287"/>
            <a:ext cx="1554480" cy="352912"/>
          </a:xfrm>
          <a:prstGeom prst="line">
            <a:avLst/>
          </a:prstGeom>
          <a:ln w="25400">
            <a:solidFill>
              <a:srgbClr val="A6B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8535924" y="4373619"/>
            <a:ext cx="137160" cy="137160"/>
          </a:xfrm>
          <a:prstGeom prst="ellipse">
            <a:avLst/>
          </a:prstGeom>
          <a:solidFill>
            <a:srgbClr val="315B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84464" y="4149591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315BCE"/>
                </a:solidFill>
                <a:latin typeface="Aptos"/>
              </a:rPr>
              <a:t>7.25m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11312" y="5312664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W19–22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01583" y="549554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Mature</a:t>
            </a: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8604504" y="4245784"/>
            <a:ext cx="1554480" cy="196415"/>
          </a:xfrm>
          <a:prstGeom prst="line">
            <a:avLst/>
          </a:prstGeom>
          <a:ln w="25400">
            <a:solidFill>
              <a:srgbClr val="C38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10090404" y="4177204"/>
            <a:ext cx="137160" cy="137160"/>
          </a:xfrm>
          <a:prstGeom prst="ellipse">
            <a:avLst/>
          </a:prstGeom>
          <a:solidFill>
            <a:srgbClr val="C38A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38944" y="3953176"/>
            <a:ext cx="6400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C38A20"/>
                </a:solidFill>
                <a:latin typeface="Aptos"/>
              </a:rPr>
              <a:t>9.01m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765792" y="5312664"/>
            <a:ext cx="786384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60" b="1">
                <a:solidFill>
                  <a:srgbClr val="1E2732"/>
                </a:solidFill>
                <a:latin typeface="Aptos"/>
              </a:rPr>
              <a:t>W23–24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56064" y="5495544"/>
            <a:ext cx="1005840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00" b="0">
                <a:solidFill>
                  <a:srgbClr val="5E6875"/>
                </a:solidFill>
                <a:latin typeface="Aptos"/>
              </a:rPr>
              <a:t>Late difficult tasks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96528" y="3566160"/>
            <a:ext cx="1664208" cy="2468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0" b="1">
                <a:solidFill>
                  <a:srgbClr val="315BCE"/>
                </a:solidFill>
                <a:latin typeface="Aptos"/>
              </a:rPr>
              <a:t>Start-up → mature: −15%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28816" y="4199015"/>
            <a:ext cx="1042415" cy="18288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20" b="1">
                <a:solidFill>
                  <a:srgbClr val="C38A20"/>
                </a:solidFill>
                <a:latin typeface="Aptos"/>
              </a:rPr>
              <a:t>composition shift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" y="5852160"/>
            <a:ext cx="10241280" cy="2011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720" b="0">
                <a:solidFill>
                  <a:srgbClr val="5E6875"/>
                </a:solidFill>
                <a:latin typeface="Aptos"/>
              </a:rPr>
              <a:t>Task-weighted window means. Two incomplete Waves are omitted; W23–24 are shown separately as late difficult-task stress. Active time excludes orchestration wait, environment preparation, external verification, infrastructure recovery, and post-task knowledge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
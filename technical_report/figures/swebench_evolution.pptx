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4937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untain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81728"/>
            <a:ext cx="10972800" cy="25603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972800" cy="50292"/>
          </a:xfrm>
          <a:prstGeom prst="rect">
            <a:avLst/>
          </a:prstGeom>
          <a:solidFill>
            <a:srgbClr val="24465D"/>
          </a:solidFill>
          <a:ln w="10160">
            <a:solidFill>
              <a:srgbClr val="244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228600"/>
            <a:ext cx="2926080" cy="443484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320040"/>
            <a:ext cx="2377440" cy="29260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rial"/>
              </a:rPr>
              <a:t>(a) Outcome +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685800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4465D"/>
                </a:solidFill>
                <a:latin typeface="Arial"/>
              </a:rPr>
              <a:t>Accuracy · 731 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" y="786383"/>
            <a:ext cx="128016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69" b="0">
                <a:solidFill>
                  <a:srgbClr val="24465D"/>
                </a:solidFill>
                <a:latin typeface="Arial"/>
              </a:rPr>
              <a:t>Direct Copilot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" y="1033271"/>
            <a:ext cx="2331720" cy="256032"/>
          </a:xfrm>
          <a:prstGeom prst="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" y="1033271"/>
            <a:ext cx="1375714" cy="256032"/>
          </a:xfrm>
          <a:prstGeom prst="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3418" y="1024127"/>
            <a:ext cx="512064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FFFDF8"/>
                </a:solidFill>
                <a:latin typeface="Arial"/>
              </a:rPr>
              <a:t>≈59%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280160"/>
            <a:ext cx="128016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69" b="1">
                <a:solidFill>
                  <a:srgbClr val="24465D"/>
                </a:solidFill>
                <a:latin typeface="Arial"/>
              </a:rPr>
              <a:t>Argus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" y="1527048"/>
            <a:ext cx="2331720" cy="256032"/>
          </a:xfrm>
          <a:prstGeom prst="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" y="1527048"/>
            <a:ext cx="1818741" cy="256032"/>
          </a:xfrm>
          <a:prstGeom prst="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6445" y="1517904"/>
            <a:ext cx="512064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1000" b="1">
                <a:solidFill>
                  <a:srgbClr val="FFFDF8"/>
                </a:solidFill>
                <a:latin typeface="Arial"/>
              </a:rPr>
              <a:t>≈78%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" y="1929384"/>
            <a:ext cx="1133856" cy="475488"/>
          </a:xfrm>
          <a:prstGeom prst="roundRect">
            <a:avLst/>
          </a:prstGeom>
          <a:solidFill>
            <a:srgbClr val="E8EEFC"/>
          </a:solidFill>
          <a:ln w="10160">
            <a:solidFill>
              <a:srgbClr val="A6B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1993391"/>
            <a:ext cx="1024128" cy="3200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315BCE"/>
                </a:solidFill>
                <a:latin typeface="Arial"/>
              </a:rPr>
              <a:t>+19 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60" y="1929384"/>
            <a:ext cx="1133856" cy="475488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C38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92224" y="1993391"/>
            <a:ext cx="1024128" cy="32004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50" b="1">
                <a:solidFill>
                  <a:srgbClr val="C38A20"/>
                </a:solidFill>
                <a:latin typeface="Arial"/>
              </a:rPr>
              <a:t>1.41× tokens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4632" y="2560320"/>
            <a:ext cx="2596896" cy="0"/>
          </a:xfrm>
          <a:prstGeom prst="line">
            <a:avLst/>
          </a:prstGeom>
          <a:ln w="10160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4632" y="2679192"/>
            <a:ext cx="2377440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4465D"/>
                </a:solidFill>
                <a:latin typeface="Arial"/>
              </a:rPr>
              <a:t>Reviewer routing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" y="2953512"/>
            <a:ext cx="2331720" cy="256032"/>
          </a:xfrm>
          <a:prstGeom prst="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" y="2953512"/>
            <a:ext cx="1486431" cy="256032"/>
          </a:xfrm>
          <a:prstGeom prst="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71063" y="2953512"/>
            <a:ext cx="845288" cy="256032"/>
          </a:xfrm>
          <a:prstGeom prst="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953512"/>
            <a:ext cx="1394991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FFFDF8"/>
                </a:solidFill>
                <a:latin typeface="Arial"/>
              </a:rPr>
              <a:t>466 Reviewer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71063" y="2953512"/>
            <a:ext cx="808712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19" b="1">
                <a:solidFill>
                  <a:srgbClr val="FFFDF8"/>
                </a:solidFill>
                <a:latin typeface="Arial"/>
              </a:rPr>
              <a:t>265 self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3282696"/>
            <a:ext cx="2596896" cy="2286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69" b="1">
                <a:solidFill>
                  <a:srgbClr val="173B70"/>
                </a:solidFill>
                <a:latin typeface="Arial"/>
              </a:rPr>
              <a:t>routed workload · 2.75× tokens · 1.80×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" y="3593592"/>
            <a:ext cx="2377440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24465D"/>
                </a:solidFill>
                <a:latin typeface="Arial"/>
              </a:rPr>
              <a:t>Review outcomes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" y="3849624"/>
            <a:ext cx="658368" cy="438912"/>
          </a:xfrm>
          <a:prstGeom prst="roundRect">
            <a:avLst/>
          </a:prstGeom>
          <a:solidFill>
            <a:srgbClr val="E8EEFC"/>
          </a:solidFill>
          <a:ln w="10160">
            <a:solidFill>
              <a:srgbClr val="173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8" y="3877056"/>
            <a:ext cx="5852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173B70"/>
                </a:solidFill>
                <a:latin typeface="Arial"/>
              </a:rPr>
              <a:t>388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" y="4078224"/>
            <a:ext cx="603504" cy="14630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30" b="0">
                <a:solidFill>
                  <a:srgbClr val="66717D"/>
                </a:solidFill>
                <a:latin typeface="Arial"/>
              </a:rPr>
              <a:t>first-pass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07592" y="3849624"/>
            <a:ext cx="658368" cy="438912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C38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4168" y="3877056"/>
            <a:ext cx="5852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C38A20"/>
                </a:solidFill>
                <a:latin typeface="Arial"/>
              </a:rPr>
              <a:t>43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5024" y="4078224"/>
            <a:ext cx="603504" cy="14630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30" b="0">
                <a:solidFill>
                  <a:srgbClr val="66717D"/>
                </a:solidFill>
                <a:latin typeface="Arial"/>
              </a:rPr>
              <a:t>revise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30552" y="3849624"/>
            <a:ext cx="658368" cy="438912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67128" y="3877056"/>
            <a:ext cx="5852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7A838E"/>
                </a:solidFill>
                <a:latin typeface="Arial"/>
              </a:rPr>
              <a:t>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57984" y="4078224"/>
            <a:ext cx="603504" cy="14630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30" b="0">
                <a:solidFill>
                  <a:srgbClr val="66717D"/>
                </a:solidFill>
                <a:latin typeface="Arial"/>
              </a:rPr>
              <a:t>blocked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380743" y="4288536"/>
            <a:ext cx="256033" cy="128016"/>
          </a:xfrm>
          <a:prstGeom prst="line">
            <a:avLst/>
          </a:prstGeom>
          <a:ln w="1651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36776" y="4288536"/>
            <a:ext cx="566928" cy="128016"/>
          </a:xfrm>
          <a:prstGeom prst="line">
            <a:avLst/>
          </a:prstGeom>
          <a:ln w="1651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69848" y="4389120"/>
            <a:ext cx="621792" cy="438912"/>
          </a:xfrm>
          <a:prstGeom prst="roundRect">
            <a:avLst/>
          </a:prstGeom>
          <a:solidFill>
            <a:srgbClr val="E8EEFC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424" y="4416552"/>
            <a:ext cx="5486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315BCE"/>
                </a:solidFill>
                <a:latin typeface="Arial"/>
              </a:rPr>
              <a:t>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4617720"/>
            <a:ext cx="566928" cy="14630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30" b="0">
                <a:solidFill>
                  <a:srgbClr val="66717D"/>
                </a:solidFill>
                <a:latin typeface="Arial"/>
              </a:rPr>
              <a:t>verifier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92807" y="4389120"/>
            <a:ext cx="621792" cy="438912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C38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29384" y="4416552"/>
            <a:ext cx="548640" cy="21031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1200" b="1">
                <a:solidFill>
                  <a:srgbClr val="C38A20"/>
                </a:solidFill>
                <a:latin typeface="Arial"/>
              </a:rP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617720"/>
            <a:ext cx="566928" cy="146304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730" b="0">
                <a:solidFill>
                  <a:srgbClr val="66717D"/>
                </a:solidFill>
                <a:latin typeface="Arial"/>
              </a:rPr>
              <a:t>strict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29000" y="228600"/>
            <a:ext cx="7223760" cy="205740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75304" y="301752"/>
            <a:ext cx="6931152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019" b="1">
                <a:solidFill>
                  <a:srgbClr val="173B70"/>
                </a:solidFill>
                <a:latin typeface="Arial"/>
              </a:rPr>
              <a:t>(b) Solve tokens / task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667512"/>
            <a:ext cx="640080" cy="1197864"/>
          </a:xfrm>
          <a:prstGeom prst="rect">
            <a:avLst/>
          </a:prstGeom>
          <a:solidFill>
            <a:srgbClr val="FCF6E5"/>
          </a:solidFill>
          <a:ln w="10160">
            <a:solidFill>
              <a:srgbClr val="FCF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941064" y="1865376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02152" y="1764792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0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41064" y="1580170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502152" y="1479586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1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941064" y="1294964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502152" y="1194380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941064" y="1009758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502152" y="909174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41064" y="724553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502152" y="623969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4</a:t>
            </a:r>
          </a:p>
        </p:txBody>
      </p:sp>
      <p:sp>
        <p:nvSpPr>
          <p:cNvPr id="58" name="Oval 57"/>
          <p:cNvSpPr/>
          <p:nvPr/>
        </p:nvSpPr>
        <p:spPr>
          <a:xfrm>
            <a:off x="3872484" y="955594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21024" y="731566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2.95M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547872" y="195681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W1–6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941064" y="1024174"/>
            <a:ext cx="1554480" cy="250229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5426964" y="1205823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75504" y="981795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2.07M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02352" y="195681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W7–12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495544" y="1274403"/>
            <a:ext cx="1554480" cy="171274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6981444" y="1377097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29984" y="1153069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1.47M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6832" y="195681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W13–18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7050024" y="1201717"/>
            <a:ext cx="1554480" cy="243960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8535924" y="1133137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84464" y="909109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2.33M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11312" y="195681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W19–22</a:t>
            </a:r>
          </a:p>
        </p:txBody>
      </p:sp>
      <p:cxnSp>
        <p:nvCxnSpPr>
          <p:cNvPr id="73" name="Connector 72"/>
          <p:cNvCxnSpPr/>
          <p:nvPr/>
        </p:nvCxnSpPr>
        <p:spPr>
          <a:xfrm flipV="1">
            <a:off x="8604504" y="804704"/>
            <a:ext cx="1554480" cy="397013"/>
          </a:xfrm>
          <a:prstGeom prst="line">
            <a:avLst/>
          </a:prstGeom>
          <a:ln w="2540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10090404" y="736124"/>
            <a:ext cx="137160" cy="137160"/>
          </a:xfrm>
          <a:prstGeom prst="ellipse">
            <a:avLst/>
          </a:prstGeom>
          <a:solidFill>
            <a:srgbClr val="C38A20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38944" y="512096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C38A20"/>
                </a:solidFill>
                <a:latin typeface="Arial"/>
              </a:rPr>
              <a:t>3.72M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65792" y="195681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W23–24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20040"/>
            <a:ext cx="1664208" cy="24688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910" b="1">
                <a:solidFill>
                  <a:srgbClr val="315BCE"/>
                </a:solidFill>
                <a:latin typeface="Arial"/>
              </a:rPr>
              <a:t>Start-up → mature: −21%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429000" y="2606040"/>
            <a:ext cx="7223760" cy="205740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575304" y="2679192"/>
            <a:ext cx="6931152" cy="27432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/>
            <a:r>
              <a:rPr sz="1019" b="1">
                <a:solidFill>
                  <a:srgbClr val="173B70"/>
                </a:solidFill>
                <a:latin typeface="Arial"/>
              </a:rPr>
              <a:t>(c) Active time / task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38944" y="3044952"/>
            <a:ext cx="640080" cy="1197864"/>
          </a:xfrm>
          <a:prstGeom prst="rect">
            <a:avLst/>
          </a:prstGeom>
          <a:solidFill>
            <a:srgbClr val="FCF6E5"/>
          </a:solidFill>
          <a:ln w="10160">
            <a:solidFill>
              <a:srgbClr val="FCF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3941064" y="4242816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502152" y="4142232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0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941064" y="4043172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502152" y="3942588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3941064" y="3843528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3502152" y="3742944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4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941064" y="3643884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3502152" y="3543300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6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941064" y="3444240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3502152" y="3343656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8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941064" y="3244596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3502152" y="3144012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10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3941064" y="3044952"/>
            <a:ext cx="6217920" cy="0"/>
          </a:xfrm>
          <a:prstGeom prst="line">
            <a:avLst/>
          </a:prstGeom>
          <a:ln w="8255">
            <a:solidFill>
              <a:srgbClr val="D8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502152" y="2944368"/>
            <a:ext cx="347472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750" b="0">
                <a:solidFill>
                  <a:srgbClr val="66717D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3872484" y="3323733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21024" y="3099705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8.52m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47872" y="433425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W1–6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941064" y="3392313"/>
            <a:ext cx="1554480" cy="124027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Oval 98"/>
          <p:cNvSpPr/>
          <p:nvPr/>
        </p:nvSpPr>
        <p:spPr>
          <a:xfrm>
            <a:off x="5426964" y="3447760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75504" y="3223732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7.28m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02352" y="433425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W7–12</a:t>
            </a:r>
          </a:p>
        </p:txBody>
      </p:sp>
      <p:cxnSp>
        <p:nvCxnSpPr>
          <p:cNvPr id="102" name="Connector 101"/>
          <p:cNvCxnSpPr/>
          <p:nvPr/>
        </p:nvCxnSpPr>
        <p:spPr>
          <a:xfrm flipV="1">
            <a:off x="5495544" y="3202561"/>
            <a:ext cx="1554480" cy="313779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6981444" y="3133981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729984" y="2909953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10.42m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656832" y="433425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W13–18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7050024" y="3202561"/>
            <a:ext cx="1554480" cy="316653"/>
          </a:xfrm>
          <a:prstGeom prst="line">
            <a:avLst/>
          </a:prstGeom>
          <a:ln w="25400">
            <a:solidFill>
              <a:srgbClr val="A6BC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8535924" y="3450634"/>
            <a:ext cx="137160" cy="137160"/>
          </a:xfrm>
          <a:prstGeom prst="ellipse">
            <a:avLst/>
          </a:prstGeom>
          <a:solidFill>
            <a:srgbClr val="315BCE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84464" y="3226606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315BCE"/>
                </a:solidFill>
                <a:latin typeface="Arial"/>
              </a:rPr>
              <a:t>7.25m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11312" y="433425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W19–22</a:t>
            </a:r>
          </a:p>
        </p:txBody>
      </p:sp>
      <p:cxnSp>
        <p:nvCxnSpPr>
          <p:cNvPr id="110" name="Connector 109"/>
          <p:cNvCxnSpPr/>
          <p:nvPr/>
        </p:nvCxnSpPr>
        <p:spPr>
          <a:xfrm flipV="1">
            <a:off x="8604504" y="3342979"/>
            <a:ext cx="1554480" cy="176235"/>
          </a:xfrm>
          <a:prstGeom prst="line">
            <a:avLst/>
          </a:prstGeom>
          <a:ln w="2540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Oval 110"/>
          <p:cNvSpPr/>
          <p:nvPr/>
        </p:nvSpPr>
        <p:spPr>
          <a:xfrm>
            <a:off x="10090404" y="3274399"/>
            <a:ext cx="137160" cy="137160"/>
          </a:xfrm>
          <a:prstGeom prst="ellipse">
            <a:avLst/>
          </a:prstGeom>
          <a:solidFill>
            <a:srgbClr val="C38A20"/>
          </a:solidFill>
          <a:ln w="12700">
            <a:solidFill>
              <a:srgbClr val="FFF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38944" y="3050371"/>
            <a:ext cx="640080" cy="20116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00" b="1">
                <a:solidFill>
                  <a:srgbClr val="C38A20"/>
                </a:solidFill>
                <a:latin typeface="Arial"/>
              </a:rPr>
              <a:t>9.01m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765792" y="4334256"/>
            <a:ext cx="786384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/>
            <a:r>
              <a:rPr sz="840" b="1">
                <a:solidFill>
                  <a:srgbClr val="24465D"/>
                </a:solidFill>
                <a:latin typeface="Arial"/>
              </a:rPr>
              <a:t>W23–24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796528" y="2697480"/>
            <a:ext cx="1664208" cy="246888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r"/>
            <a:r>
              <a:rPr sz="910" b="1">
                <a:solidFill>
                  <a:srgbClr val="315BCE"/>
                </a:solidFill>
                <a:latin typeface="Arial"/>
              </a:rPr>
              <a:t>Start-up → mature: −15%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
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972800" cy="24231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untain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0972800" cy="19202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0" y="0"/>
            <a:ext cx="10972800" cy="41148"/>
          </a:xfrm>
          <a:prstGeom prst="roundRect">
            <a:avLst/>
          </a:prstGeom>
          <a:solidFill>
            <a:srgbClr val="24465D"/>
          </a:solidFill>
          <a:ln w="10160">
            <a:solidFill>
              <a:srgbClr val="2446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0040" y="146304"/>
            <a:ext cx="3063240" cy="196596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ngine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7480" y="16459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6344" y="219456"/>
            <a:ext cx="2103120" cy="25603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rial"/>
              </a:rPr>
              <a:t>(a) Routing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676656"/>
            <a:ext cx="2734056" cy="27432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84632" y="676656"/>
            <a:ext cx="1742913" cy="274320"/>
          </a:xfrm>
          <a:prstGeom prst="roundRect">
            <a:avLst/>
          </a:prstGeom>
          <a:solidFill>
            <a:srgbClr val="315BCE"/>
          </a:solidFill>
          <a:ln w="10160">
            <a:solidFill>
              <a:srgbClr val="315B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27545" y="676656"/>
            <a:ext cx="991142" cy="274320"/>
          </a:xfrm>
          <a:prstGeom prst="roundRect">
            <a:avLst/>
          </a:prstGeom>
          <a:solidFill>
            <a:srgbClr val="7A838E"/>
          </a:solidFill>
          <a:ln w="10160">
            <a:solidFill>
              <a:srgbClr val="7A83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" y="676656"/>
            <a:ext cx="1651473" cy="27432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919" b="1">
                <a:solidFill>
                  <a:srgbClr val="FFFDF8"/>
                </a:solidFill>
                <a:latin typeface="Arial"/>
              </a:rPr>
              <a:t>466 · 63.7%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27545" y="676656"/>
            <a:ext cx="954566" cy="27432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860" b="1">
                <a:solidFill>
                  <a:srgbClr val="FFFDF8"/>
                </a:solidFill>
                <a:latin typeface="Arial"/>
              </a:rPr>
              <a:t>265 · 36.3%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1024128"/>
            <a:ext cx="1325880" cy="21945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950" b="1">
                <a:solidFill>
                  <a:srgbClr val="315BCE"/>
                </a:solidFill>
                <a:latin typeface="Arial"/>
              </a:rPr>
              <a:t>Reviewer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1024128"/>
            <a:ext cx="1188720" cy="21945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r"/>
            <a:r>
              <a:rPr sz="950" b="1">
                <a:solidFill>
                  <a:srgbClr val="7A838E"/>
                </a:solidFill>
                <a:latin typeface="Arial"/>
              </a:rPr>
              <a:t>Self-review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1572768"/>
            <a:ext cx="2734056" cy="25603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100" b="1">
                <a:solidFill>
                  <a:srgbClr val="173B70"/>
                </a:solidFill>
                <a:latin typeface="Arial"/>
              </a:rPr>
              <a:t>2.75× tokens · 1.80×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146304"/>
            <a:ext cx="7068312" cy="1965960"/>
          </a:xfrm>
          <a:prstGeom prst="roundRect">
            <a:avLst/>
          </a:prstGeom>
          <a:solidFill>
            <a:srgbClr val="FFFDF8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vie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64592"/>
            <a:ext cx="530352" cy="5303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730752" y="219456"/>
            <a:ext cx="4754880" cy="256032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l"/>
            <a:r>
              <a:rPr sz="1150" b="1">
                <a:solidFill>
                  <a:srgbClr val="173B70"/>
                </a:solidFill>
                <a:latin typeface="Arial"/>
              </a:rPr>
              <a:t>(b) Revision recovery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49039" y="694944"/>
            <a:ext cx="1188720" cy="932688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79" y="768096"/>
            <a:ext cx="1005840" cy="438363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rial"/>
              </a:rPr>
              <a:t>466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1179941"/>
            <a:ext cx="1005840" cy="326440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30" b="0">
                <a:solidFill>
                  <a:srgbClr val="66717D"/>
                </a:solidFill>
                <a:latin typeface="Arial"/>
              </a:rPr>
              <a:t>Invoked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4974336" y="841248"/>
            <a:ext cx="457200" cy="310896"/>
          </a:xfrm>
          <a:prstGeom prst="line">
            <a:avLst/>
          </a:prstGeom>
          <a:ln w="19050">
            <a:solidFill>
              <a:srgbClr val="D9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974336" y="1152144"/>
            <a:ext cx="457200" cy="420624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68112" y="512064"/>
            <a:ext cx="1207008" cy="603504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85216"/>
            <a:ext cx="102412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rial"/>
              </a:rPr>
              <a:t>388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825886"/>
            <a:ext cx="102412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30" b="0">
                <a:solidFill>
                  <a:srgbClr val="66717D"/>
                </a:solidFill>
                <a:latin typeface="Arial"/>
              </a:rPr>
              <a:t>Accepted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68112" y="1280160"/>
            <a:ext cx="1207008" cy="603504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59552" y="1353312"/>
            <a:ext cx="102412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C38A20"/>
                </a:solidFill>
                <a:latin typeface="Arial"/>
              </a:rPr>
              <a:t>43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1593982"/>
            <a:ext cx="102412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30" b="0">
                <a:solidFill>
                  <a:srgbClr val="66717D"/>
                </a:solidFill>
                <a:latin typeface="Arial"/>
              </a:rPr>
              <a:t>Revise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711696" y="1581912"/>
            <a:ext cx="457200" cy="0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205472" y="1280160"/>
            <a:ext cx="1298448" cy="603504"/>
          </a:xfrm>
          <a:prstGeom prst="roundRect">
            <a:avLst/>
          </a:prstGeom>
          <a:solidFill>
            <a:srgbClr val="ECF1FD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912" y="1353312"/>
            <a:ext cx="1115568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173B70"/>
                </a:solidFill>
                <a:latin typeface="Arial"/>
              </a:rPr>
              <a:t>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96912" y="1593982"/>
            <a:ext cx="1115568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30" b="0">
                <a:solidFill>
                  <a:srgbClr val="66717D"/>
                </a:solidFill>
                <a:latin typeface="Arial"/>
              </a:rPr>
              <a:t>Verifier pass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0496" y="1581912"/>
            <a:ext cx="420624" cy="0"/>
          </a:xfrm>
          <a:prstGeom prst="line">
            <a:avLst/>
          </a:prstGeom>
          <a:ln w="22860">
            <a:solidFill>
              <a:srgbClr val="C38A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997696" y="1280160"/>
            <a:ext cx="1335024" cy="603504"/>
          </a:xfrm>
          <a:prstGeom prst="roundRect">
            <a:avLst/>
          </a:prstGeom>
          <a:solidFill>
            <a:srgbClr val="FCF6E5"/>
          </a:solidFill>
          <a:ln w="10160">
            <a:solidFill>
              <a:srgbClr val="D9E0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89136" y="1353312"/>
            <a:ext cx="1152144" cy="28364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1800" b="1">
                <a:solidFill>
                  <a:srgbClr val="C38A20"/>
                </a:solidFill>
                <a:latin typeface="Arial"/>
              </a:rPr>
              <a:t>22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89136" y="1593982"/>
            <a:ext cx="1152144" cy="211226"/>
          </a:xfrm>
          <a:prstGeom prst="rect">
            <a:avLst/>
          </a:prstGeom>
          <a:noFill/>
        </p:spPr>
        <p:txBody>
          <a:bodyPr wrap="none" lIns="18288" rIns="18288" tIns="9144" bIns="9144" anchor="ctr">
            <a:spAutoFit/>
          </a:bodyPr>
          <a:lstStyle/>
          <a:p>
            <a:pPr algn="ctr"/>
            <a:r>
              <a:rPr sz="930" b="0">
                <a:solidFill>
                  <a:srgbClr val="66717D"/>
                </a:solidFill>
                <a:latin typeface="Arial"/>
              </a:rPr>
              <a:t>Strict rescue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
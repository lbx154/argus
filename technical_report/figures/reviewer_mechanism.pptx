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30632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0972800" cy="45720"/>
          </a:xfrm>
          <a:prstGeom prst="roundRect">
            <a:avLst/>
          </a:prstGeom>
          <a:solidFill>
            <a:srgbClr val="315BCE"/>
          </a:solidFill>
          <a:ln w="10160">
            <a:solidFill>
              <a:srgbClr val="31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0241280" cy="31089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800" b="1">
                <a:solidFill>
                  <a:srgbClr val="1E2732"/>
                </a:solidFill>
                <a:latin typeface="Aptos"/>
              </a:rPr>
              <a:t>Reviewer routing and recovery across 731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438912"/>
            <a:ext cx="10149840" cy="20116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80" b="0">
                <a:solidFill>
                  <a:srgbClr val="5E6875"/>
                </a:solidFill>
                <a:latin typeface="Aptos"/>
              </a:rPr>
              <a:t>Mechanism analysis from accepted trajectories · adaptive routing, not randomized ablation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749808"/>
            <a:ext cx="3063240" cy="1956816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822959"/>
            <a:ext cx="2560320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150" b="1">
                <a:solidFill>
                  <a:srgbClr val="173B70"/>
                </a:solidFill>
                <a:latin typeface="Aptos"/>
              </a:rPr>
              <a:t>(a) Reviewer 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1280160"/>
            <a:ext cx="2734056" cy="274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" y="1280160"/>
            <a:ext cx="1742913" cy="274320"/>
          </a:xfrm>
          <a:prstGeom prst="roundRect">
            <a:avLst/>
          </a:prstGeom>
          <a:solidFill>
            <a:srgbClr val="315BCE"/>
          </a:solidFill>
          <a:ln w="10160">
            <a:solidFill>
              <a:srgbClr val="31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27545" y="1280160"/>
            <a:ext cx="991142" cy="274320"/>
          </a:xfrm>
          <a:prstGeom prst="roundRect">
            <a:avLst/>
          </a:prstGeom>
          <a:solidFill>
            <a:srgbClr val="7A838E"/>
          </a:solidFill>
          <a:ln w="10160">
            <a:solidFill>
              <a:srgbClr val="7A8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280160"/>
            <a:ext cx="1651473" cy="27432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Aptos"/>
              </a:rPr>
              <a:t>466 · 63.7%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7545" y="1280160"/>
            <a:ext cx="954566" cy="27432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860" b="1">
                <a:solidFill>
                  <a:srgbClr val="FFFFFF"/>
                </a:solidFill>
                <a:latin typeface="Aptos"/>
              </a:rPr>
              <a:t>265 · 36.3%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627631"/>
            <a:ext cx="1325880" cy="21945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850" b="1">
                <a:solidFill>
                  <a:srgbClr val="315BCE"/>
                </a:solidFill>
                <a:latin typeface="Aptos"/>
              </a:rPr>
              <a:t>Independent Reviewer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627631"/>
            <a:ext cx="1188720" cy="21945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850" b="1">
                <a:solidFill>
                  <a:srgbClr val="7A838E"/>
                </a:solidFill>
                <a:latin typeface="Aptos"/>
              </a:rPr>
              <a:t>Engineer self-review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1975104"/>
            <a:ext cx="2734056" cy="20116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780" b="0">
                <a:solidFill>
                  <a:srgbClr val="5E6875"/>
                </a:solidFill>
                <a:latin typeface="Aptos"/>
              </a:rPr>
              <a:t>Reviewer routing selects the harder workload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194560"/>
            <a:ext cx="2734056" cy="21945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919" b="1">
                <a:solidFill>
                  <a:srgbClr val="173B70"/>
                </a:solidFill>
                <a:latin typeface="Aptos"/>
              </a:rPr>
              <a:t>2.75× Token · 1.80× active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84448" y="749808"/>
            <a:ext cx="7068312" cy="19568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822959"/>
            <a:ext cx="4754880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150" b="1">
                <a:solidFill>
                  <a:srgbClr val="173B70"/>
                </a:solidFill>
                <a:latin typeface="Aptos"/>
              </a:rPr>
              <a:t>(b) Reviewer intervention and recovery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1298448"/>
            <a:ext cx="1188720" cy="932688"/>
          </a:xfrm>
          <a:prstGeom prst="roundRect">
            <a:avLst/>
          </a:prstGeom>
          <a:solidFill>
            <a:srgbClr val="ECF1FD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79" y="1371600"/>
            <a:ext cx="1005840" cy="438363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173B70"/>
                </a:solidFill>
                <a:latin typeface="Aptos"/>
              </a:rPr>
              <a:t>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1783445"/>
            <a:ext cx="1005840" cy="32644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830" b="0">
                <a:solidFill>
                  <a:srgbClr val="5E6875"/>
                </a:solidFill>
                <a:latin typeface="Aptos"/>
              </a:rPr>
              <a:t>Reviewer-invoked tasks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974336" y="1444752"/>
            <a:ext cx="457200" cy="310896"/>
          </a:xfrm>
          <a:prstGeom prst="line">
            <a:avLst/>
          </a:prstGeom>
          <a:ln w="19050">
            <a:solidFill>
              <a:srgbClr val="D9E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74336" y="1755648"/>
            <a:ext cx="457200" cy="420624"/>
          </a:xfrm>
          <a:prstGeom prst="line">
            <a:avLst/>
          </a:prstGeom>
          <a:ln w="22860">
            <a:solidFill>
              <a:srgbClr val="C38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68112" y="1115568"/>
            <a:ext cx="1207008" cy="603504"/>
          </a:xfrm>
          <a:prstGeom prst="roundRect">
            <a:avLst/>
          </a:prstGeom>
          <a:solidFill>
            <a:srgbClr val="ECF1FD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59552" y="1188720"/>
            <a:ext cx="1024128" cy="28364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173B70"/>
                </a:solidFill>
                <a:latin typeface="Aptos"/>
              </a:rPr>
              <a:t>388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1429390"/>
            <a:ext cx="1024128" cy="21122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830" b="0">
                <a:solidFill>
                  <a:srgbClr val="5E6875"/>
                </a:solidFill>
                <a:latin typeface="Aptos"/>
              </a:rPr>
              <a:t>accepted first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68112" y="1883664"/>
            <a:ext cx="1207008" cy="603504"/>
          </a:xfrm>
          <a:prstGeom prst="roundRect">
            <a:avLst/>
          </a:prstGeom>
          <a:solidFill>
            <a:srgbClr val="FCF6E5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59552" y="1956816"/>
            <a:ext cx="1024128" cy="28364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C38A20"/>
                </a:solidFill>
                <a:latin typeface="Aptos"/>
              </a:rPr>
              <a:t>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9552" y="2197486"/>
            <a:ext cx="1024128" cy="21122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830" b="0">
                <a:solidFill>
                  <a:srgbClr val="5E6875"/>
                </a:solidFill>
                <a:latin typeface="Aptos"/>
              </a:rPr>
              <a:t>revision requested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0752" y="2359152"/>
            <a:ext cx="1335024" cy="16459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690" b="0">
                <a:solidFill>
                  <a:srgbClr val="7A838E"/>
                </a:solidFill>
                <a:latin typeface="Aptos"/>
              </a:rPr>
              <a:t>35 blocked without a revision loop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11696" y="2185416"/>
            <a:ext cx="457200" cy="0"/>
          </a:xfrm>
          <a:prstGeom prst="line">
            <a:avLst/>
          </a:prstGeom>
          <a:ln w="22860">
            <a:solidFill>
              <a:srgbClr val="C38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05472" y="1883664"/>
            <a:ext cx="1298448" cy="603504"/>
          </a:xfrm>
          <a:prstGeom prst="roundRect">
            <a:avLst/>
          </a:prstGeom>
          <a:solidFill>
            <a:srgbClr val="ECF1FD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96912" y="1956816"/>
            <a:ext cx="1115568" cy="28364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173B70"/>
                </a:solidFill>
                <a:latin typeface="Aptos"/>
              </a:rPr>
              <a:t>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2197486"/>
            <a:ext cx="1115568" cy="21122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830" b="0">
                <a:solidFill>
                  <a:srgbClr val="5E6875"/>
                </a:solidFill>
                <a:latin typeface="Aptos"/>
              </a:rPr>
              <a:t>passed official verifier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40496" y="2185416"/>
            <a:ext cx="420624" cy="0"/>
          </a:xfrm>
          <a:prstGeom prst="line">
            <a:avLst/>
          </a:prstGeom>
          <a:ln w="22860">
            <a:solidFill>
              <a:srgbClr val="C38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997696" y="1883664"/>
            <a:ext cx="1335024" cy="603504"/>
          </a:xfrm>
          <a:prstGeom prst="roundRect">
            <a:avLst/>
          </a:prstGeom>
          <a:solidFill>
            <a:srgbClr val="FCF6E5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1956816"/>
            <a:ext cx="1152144" cy="28364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C38A20"/>
                </a:solidFill>
                <a:latin typeface="Aptos"/>
              </a:rPr>
              <a:t>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2197486"/>
            <a:ext cx="1152144" cy="21122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830" b="0">
                <a:solidFill>
                  <a:srgbClr val="5E6875"/>
                </a:solidFill>
                <a:latin typeface="Aptos"/>
              </a:rPr>
              <a:t>strict Reviewer rescues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86016" y="2523744"/>
            <a:ext cx="3383280" cy="16459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r"/>
            <a:r>
              <a:rPr sz="710" b="0">
                <a:solidFill>
                  <a:srgbClr val="5E6875"/>
                </a:solidFill>
                <a:latin typeface="Aptos"/>
              </a:rPr>
              <a:t>Strict rescue: Reviewer continue → Engineer revision → later Reviewer done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" y="2779776"/>
            <a:ext cx="10241280" cy="16459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730" b="0">
                <a:solidFill>
                  <a:srgbClr val="5E6875"/>
                </a:solidFill>
                <a:latin typeface="Aptos"/>
              </a:rPr>
              <a:t>Group-level accuracy is intentionally omitted: Reviewer routing is conditional on task difficulty.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
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Lst>
  <p:sldSz cx="8572500" cy="364807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  <Relationship Id="rId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left panel is a schematic of Argus as a recurrent control system: Manager governs stage movement, Planner selects missions, Engineer builds and tests, and Reviewer independently validates work. Structured decisions, supervision state, and shared artifacts persist across missions rather than disappearing after one pass. The seven cards on the right retain each benchmark's native metric and direction; lower-is-better comparisons use explicitly printed truncated ranges, while no incompatible benchmarks share a normalized axis.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argus_tease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argus_tease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15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9" name="Group 9"/>
          <p:cNvGrpSpPr/>
          <p:nvPr/>
        </p:nvGrpSpPr>
        <p:grpSpPr>
          <a:xfrm>
            <a:off x="1695450" y="609600"/>
            <a:ext cx="5181600" cy="2400300"/>
            <a:chOff x="1695450" y="609600"/>
            <a:chExt cx="5181600" cy="2400300"/>
          </a:xfrm>
        </p:grpSpPr>
        <p:sp>
          <p:nvSpPr>
            <p:cNvPr id="2" name="Line 2"/>
            <p:cNvSpPr/>
            <p:nvPr/>
          </p:nvSpPr>
          <p:spPr>
            <a:xfrm>
              <a:off x="3067050" y="609600"/>
              <a:ext cx="9525" cy="171450"/>
            </a:xfrm>
            <a:custGeom>
              <a:avLst/>
              <a:gdLst/>
              <a:ahLst/>
              <a:cxnLst/>
              <a:rect l="l" t="t" r="r" b="b"/>
              <a:pathLst>
                <a:path w="9525" h="171450">
                  <a:moveTo>
                    <a:pt x="0" y="0"/>
                  </a:moveTo>
                  <a:lnTo>
                    <a:pt x="0" y="171450"/>
                  </a:lnTo>
                </a:path>
              </a:pathLst>
            </a:custGeom>
            <a:noFill/>
            <a:ln w="14288">
              <a:solidFill>
                <a:schemeClr val="accent2"/>
              </a:solidFill>
            </a:ln>
          </p:spPr>
        </p:sp>
        <p:sp>
          <p:nvSpPr>
            <p:cNvPr id="3" name="Line 3"/>
            <p:cNvSpPr/>
            <p:nvPr/>
          </p:nvSpPr>
          <p:spPr>
            <a:xfrm>
              <a:off x="5505450" y="609600"/>
              <a:ext cx="9525" cy="171450"/>
            </a:xfrm>
            <a:custGeom>
              <a:avLst/>
              <a:gdLst/>
              <a:ahLst/>
              <a:cxnLst/>
              <a:rect l="l" t="t" r="r" b="b"/>
              <a:pathLst>
                <a:path w="9525" h="171450">
                  <a:moveTo>
                    <a:pt x="0" y="0"/>
                  </a:moveTo>
                  <a:lnTo>
                    <a:pt x="0" y="171450"/>
                  </a:lnTo>
                </a:path>
              </a:pathLst>
            </a:custGeom>
            <a:noFill/>
            <a:ln w="14288">
              <a:solidFill>
                <a:srgbClr val="287D70"/>
              </a:solidFill>
            </a:ln>
          </p:spPr>
        </p:sp>
        <p:sp>
          <p:nvSpPr>
            <p:cNvPr id="4" name="Line 4"/>
            <p:cNvSpPr/>
            <p:nvPr/>
          </p:nvSpPr>
          <p:spPr>
            <a:xfrm>
              <a:off x="1695450" y="1247775"/>
              <a:ext cx="190500" cy="9525"/>
            </a:xfrm>
            <a:custGeom>
              <a:avLst/>
              <a:gdLst/>
              <a:ahLst/>
              <a:cxnLst/>
              <a:rect l="l" t="t" r="r" b="b"/>
              <a:pathLst>
                <a:path w="190500" h="9525">
                  <a:moveTo>
                    <a:pt x="0" y="0"/>
                  </a:moveTo>
                  <a:lnTo>
                    <a:pt x="190500" y="0"/>
                  </a:lnTo>
                </a:path>
              </a:pathLst>
            </a:custGeom>
            <a:noFill/>
            <a:ln w="14288">
              <a:solidFill>
                <a:schemeClr val="accent2"/>
              </a:solidFill>
            </a:ln>
          </p:spPr>
        </p:sp>
        <p:sp>
          <p:nvSpPr>
            <p:cNvPr id="5" name="Line 5"/>
            <p:cNvSpPr/>
            <p:nvPr/>
          </p:nvSpPr>
          <p:spPr>
            <a:xfrm>
              <a:off x="1695450" y="2228850"/>
              <a:ext cx="190500" cy="9525"/>
            </a:xfrm>
            <a:custGeom>
              <a:avLst/>
              <a:gdLst/>
              <a:ahLst/>
              <a:cxnLst/>
              <a:rect l="l" t="t" r="r" b="b"/>
              <a:pathLst>
                <a:path w="190500" h="9525">
                  <a:moveTo>
                    <a:pt x="0" y="0"/>
                  </a:moveTo>
                  <a:lnTo>
                    <a:pt x="190500" y="0"/>
                  </a:lnTo>
                </a:path>
              </a:pathLst>
            </a:custGeom>
            <a:noFill/>
            <a:ln w="14288">
              <a:solidFill>
                <a:srgbClr val="287D70"/>
              </a:solidFill>
            </a:ln>
          </p:spPr>
        </p:sp>
        <p:sp>
          <p:nvSpPr>
            <p:cNvPr id="6" name="Line 6"/>
            <p:cNvSpPr/>
            <p:nvPr/>
          </p:nvSpPr>
          <p:spPr>
            <a:xfrm>
              <a:off x="6686550" y="1247775"/>
              <a:ext cx="190500" cy="9525"/>
            </a:xfrm>
            <a:custGeom>
              <a:avLst/>
              <a:gdLst/>
              <a:ahLst/>
              <a:cxnLst/>
              <a:rect l="l" t="t" r="r" b="b"/>
              <a:pathLst>
                <a:path w="190500" h="9525">
                  <a:moveTo>
                    <a:pt x="0" y="0"/>
                  </a:moveTo>
                  <a:lnTo>
                    <a:pt x="190500" y="0"/>
                  </a:lnTo>
                </a:path>
              </a:pathLst>
            </a:custGeom>
            <a:noFill/>
            <a:ln w="14288">
              <a:solidFill>
                <a:schemeClr val="accent2"/>
              </a:solidFill>
            </a:ln>
          </p:spPr>
        </p:sp>
        <p:sp>
          <p:nvSpPr>
            <p:cNvPr id="7" name="Line 7"/>
            <p:cNvSpPr/>
            <p:nvPr/>
          </p:nvSpPr>
          <p:spPr>
            <a:xfrm>
              <a:off x="6686550" y="2228850"/>
              <a:ext cx="190500" cy="9525"/>
            </a:xfrm>
            <a:custGeom>
              <a:avLst/>
              <a:gdLst/>
              <a:ahLst/>
              <a:cxnLst/>
              <a:rect l="l" t="t" r="r" b="b"/>
              <a:pathLst>
                <a:path w="190500" h="9525">
                  <a:moveTo>
                    <a:pt x="0" y="0"/>
                  </a:moveTo>
                  <a:lnTo>
                    <a:pt x="190500" y="0"/>
                  </a:lnTo>
                </a:path>
              </a:pathLst>
            </a:custGeom>
            <a:noFill/>
            <a:ln w="14288">
              <a:solidFill>
                <a:srgbClr val="C38A20"/>
              </a:solidFill>
            </a:ln>
          </p:spPr>
        </p:sp>
        <p:sp>
          <p:nvSpPr>
            <p:cNvPr id="8" name="Line 8"/>
            <p:cNvSpPr/>
            <p:nvPr/>
          </p:nvSpPr>
          <p:spPr>
            <a:xfrm>
              <a:off x="4286250" y="2914650"/>
              <a:ext cx="9525" cy="95250"/>
            </a:xfrm>
            <a:custGeom>
              <a:avLst/>
              <a:gdLst/>
              <a:ahLst/>
              <a:cxnLst/>
              <a:rect l="l" t="t" r="r" b="b"/>
              <a:pathLst>
                <a:path w="9525" h="95250">
                  <a:moveTo>
                    <a:pt x="0" y="0"/>
                  </a:moveTo>
                  <a:lnTo>
                    <a:pt x="0" y="95250"/>
                  </a:lnTo>
                </a:path>
              </a:pathLst>
            </a:custGeom>
            <a:noFill/>
            <a:ln w="14288">
              <a:solidFill>
                <a:srgbClr val="287D70"/>
              </a:solidFill>
            </a:ln>
          </p:spPr>
        </p:sp>
      </p:grpSp>
      <p:grpSp>
        <p:nvGrpSpPr>
          <p:cNvPr id="67" name="Group 67"/>
          <p:cNvGrpSpPr/>
          <p:nvPr/>
        </p:nvGrpSpPr>
        <p:grpSpPr>
          <a:xfrm>
            <a:off x="1790700" y="723900"/>
            <a:ext cx="4991100" cy="2209800"/>
            <a:chOff x="1790700" y="723900"/>
            <a:chExt cx="4991100" cy="2209800"/>
          </a:xfrm>
        </p:grpSpPr>
        <p:sp>
          <p:nvSpPr>
            <p:cNvPr id="10" name="Rectangle 10"/>
            <p:cNvSpPr/>
            <p:nvPr/>
          </p:nvSpPr>
          <p:spPr>
            <a:xfrm>
              <a:off x="1790700" y="723900"/>
              <a:ext cx="4991100" cy="2190750"/>
            </a:xfrm>
            <a:prstGeom prst="roundRect">
              <a:avLst>
                <a:gd name="adj" fmla="val 4348"/>
              </a:avLst>
            </a:prstGeom>
            <a:solidFill>
              <a:schemeClr val="accent5"/>
            </a:solidFill>
            <a:ln w="13335">
              <a:solidFill>
                <a:schemeClr val="accent1"/>
              </a:solidFill>
            </a:ln>
          </p:spPr>
        </p:sp>
        <p:sp>
          <p:nvSpPr>
            <p:cNvPr id="11" name="TextBox 11"/>
            <p:cNvSpPr txBox="1"/>
            <p:nvPr/>
          </p:nvSpPr>
          <p:spPr>
            <a:xfrm>
              <a:off x="1919288" y="779145"/>
              <a:ext cx="930280"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ARGUS RUNTIME</a:t>
              </a:r>
            </a:p>
          </p:txBody>
        </p:sp>
        <p:sp>
          <p:nvSpPr>
            <p:cNvPr id="12" name="Rectangle 12"/>
            <p:cNvSpPr/>
            <p:nvPr/>
          </p:nvSpPr>
          <p:spPr>
            <a:xfrm>
              <a:off x="1924050" y="942975"/>
              <a:ext cx="1428750" cy="457200"/>
            </a:xfrm>
            <a:prstGeom prst="roundRect">
              <a:avLst>
                <a:gd name="adj" fmla="val 14583"/>
              </a:avLst>
            </a:prstGeom>
            <a:solidFill>
              <a:schemeClr val="accent5"/>
            </a:solidFill>
            <a:ln w="11430">
              <a:solidFill>
                <a:schemeClr val="accent2"/>
              </a:solidFill>
            </a:ln>
          </p:spPr>
        </p:sp>
        <p:sp>
          <p:nvSpPr>
            <p:cNvPr id="13" name="Ellipse 13"/>
            <p:cNvSpPr/>
            <p:nvPr/>
          </p:nvSpPr>
          <p:spPr>
            <a:xfrm>
              <a:off x="2009775" y="1028700"/>
              <a:ext cx="152400" cy="152400"/>
            </a:xfrm>
            <a:prstGeom prst="ellipse">
              <a:avLst/>
            </a:prstGeom>
            <a:solidFill>
              <a:schemeClr val="accent2"/>
            </a:solidFill>
            <a:ln>
              <a:noFill/>
            </a:ln>
          </p:spPr>
        </p:sp>
        <p:sp>
          <p:nvSpPr>
            <p:cNvPr id="14" name="TextBox 14"/>
            <p:cNvSpPr txBox="1"/>
            <p:nvPr/>
          </p:nvSpPr>
          <p:spPr>
            <a:xfrm>
              <a:off x="2039207" y="1062038"/>
              <a:ext cx="93536" cy="147638"/>
            </a:xfrm>
            <a:prstGeom prst="rect">
              <a:avLst/>
            </a:prstGeom>
            <a:noFill/>
            <a:ln>
              <a:noFill/>
            </a:ln>
          </p:spPr>
          <p:txBody>
            <a:bodyPr wrap="none" lIns="0" tIns="0" rIns="0" bIns="0" anchor="t" anchorCtr="0">
              <a:spAutoFit/>
            </a:bodyPr>
            <a:lstStyle/>
            <a:p>
              <a:pPr algn="ctr"/>
              <a:r>
                <a:rPr lang="en-US" sz="750" b="1" dirty="0">
                  <a:solidFill>
                    <a:srgbClr val="FFFDF8"/>
                  </a:solidFill>
                  <a:latin typeface="+mn-lt"/>
                  <a:ea typeface="+mn-ea"/>
                  <a:cs typeface="+mn-cs"/>
                </a:rPr>
                <a:t>M</a:t>
              </a:r>
            </a:p>
          </p:txBody>
        </p:sp>
        <p:sp>
          <p:nvSpPr>
            <p:cNvPr id="15" name="TextBox 15"/>
            <p:cNvSpPr txBox="1"/>
            <p:nvPr/>
          </p:nvSpPr>
          <p:spPr>
            <a:xfrm>
              <a:off x="2223135" y="983456"/>
              <a:ext cx="657783" cy="220028"/>
            </a:xfrm>
            <a:prstGeom prst="rect">
              <a:avLst/>
            </a:prstGeom>
            <a:noFill/>
            <a:ln>
              <a:noFill/>
            </a:ln>
          </p:spPr>
          <p:txBody>
            <a:bodyPr wrap="none" lIns="0" tIns="0" rIns="0" bIns="0" anchor="t" anchorCtr="0">
              <a:spAutoFit/>
            </a:bodyPr>
            <a:lstStyle/>
            <a:p>
              <a:pPr algn="l"/>
              <a:r>
                <a:rPr lang="en-US" sz="1120" b="1" dirty="0">
                  <a:solidFill>
                    <a:schemeClr val="accent6"/>
                  </a:solidFill>
                  <a:latin typeface="+mn-lt"/>
                  <a:ea typeface="+mn-ea"/>
                  <a:cs typeface="+mn-cs"/>
                </a:rPr>
                <a:t>Manager</a:t>
              </a:r>
            </a:p>
          </p:txBody>
        </p:sp>
        <p:sp>
          <p:nvSpPr>
            <p:cNvPr id="16" name="TextBox 16"/>
            <p:cNvSpPr txBox="1"/>
            <p:nvPr/>
          </p:nvSpPr>
          <p:spPr>
            <a:xfrm>
              <a:off x="2224088" y="1176338"/>
              <a:ext cx="1135285" cy="147638"/>
            </a:xfrm>
            <a:prstGeom prst="rect">
              <a:avLst/>
            </a:prstGeom>
            <a:noFill/>
            <a:ln>
              <a:noFill/>
            </a:ln>
          </p:spPr>
          <p:txBody>
            <a:bodyPr wrap="none" lIns="0" tIns="0" rIns="0" bIns="0" anchor="t" anchorCtr="0">
              <a:spAutoFit/>
            </a:bodyPr>
            <a:lstStyle/>
            <a:p>
              <a:pPr algn="l"/>
              <a:r>
                <a:rPr lang="en-US" sz="750" dirty="0">
                  <a:solidFill>
                    <a:srgbClr val="66717D"/>
                  </a:solidFill>
                  <a:latin typeface="+mn-lt"/>
                  <a:ea typeface="+mn-ea"/>
                  <a:cs typeface="+mn-cs"/>
                </a:rPr>
                <a:t>task · vertical · stage</a:t>
              </a:r>
            </a:p>
          </p:txBody>
        </p:sp>
        <p:sp>
          <p:nvSpPr>
            <p:cNvPr id="17" name="Rectangle 17"/>
            <p:cNvSpPr/>
            <p:nvPr/>
          </p:nvSpPr>
          <p:spPr>
            <a:xfrm>
              <a:off x="3476625" y="942975"/>
              <a:ext cx="3171825" cy="457200"/>
            </a:xfrm>
            <a:prstGeom prst="roundRect">
              <a:avLst>
                <a:gd name="adj" fmla="val 14583"/>
              </a:avLst>
            </a:prstGeom>
            <a:solidFill>
              <a:schemeClr val="accent5"/>
            </a:solidFill>
            <a:ln w="11430">
              <a:solidFill>
                <a:schemeClr val="accent2"/>
              </a:solidFill>
            </a:ln>
          </p:spPr>
        </p:sp>
        <p:sp>
          <p:nvSpPr>
            <p:cNvPr id="18" name="TextBox 18"/>
            <p:cNvSpPr txBox="1"/>
            <p:nvPr/>
          </p:nvSpPr>
          <p:spPr>
            <a:xfrm>
              <a:off x="3614738" y="998220"/>
              <a:ext cx="780741"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Manager I/O</a:t>
              </a:r>
            </a:p>
          </p:txBody>
        </p:sp>
        <p:sp>
          <p:nvSpPr>
            <p:cNvPr id="19" name="Rectangle 19"/>
            <p:cNvSpPr/>
            <p:nvPr/>
          </p:nvSpPr>
          <p:spPr>
            <a:xfrm>
              <a:off x="3619500" y="1152525"/>
              <a:ext cx="904875" cy="161925"/>
            </a:xfrm>
            <a:prstGeom prst="roundRect">
              <a:avLst>
                <a:gd name="adj" fmla="val 17647"/>
              </a:avLst>
            </a:prstGeom>
            <a:solidFill>
              <a:schemeClr val="lt1"/>
            </a:solidFill>
            <a:ln w="9525">
              <a:solidFill>
                <a:srgbClr val="D8E0E8"/>
              </a:solidFill>
            </a:ln>
          </p:spPr>
        </p:sp>
        <p:sp>
          <p:nvSpPr>
            <p:cNvPr id="20" name="Rectangle 20"/>
            <p:cNvSpPr/>
            <p:nvPr/>
          </p:nvSpPr>
          <p:spPr>
            <a:xfrm>
              <a:off x="4581525" y="1152525"/>
              <a:ext cx="904875" cy="161925"/>
            </a:xfrm>
            <a:prstGeom prst="roundRect">
              <a:avLst>
                <a:gd name="adj" fmla="val 17647"/>
              </a:avLst>
            </a:prstGeom>
            <a:solidFill>
              <a:schemeClr val="lt1"/>
            </a:solidFill>
            <a:ln w="9525">
              <a:solidFill>
                <a:srgbClr val="D8E0E8"/>
              </a:solidFill>
            </a:ln>
          </p:spPr>
        </p:sp>
        <p:sp>
          <p:nvSpPr>
            <p:cNvPr id="21" name="Rectangle 21"/>
            <p:cNvSpPr/>
            <p:nvPr/>
          </p:nvSpPr>
          <p:spPr>
            <a:xfrm>
              <a:off x="5543550" y="1152525"/>
              <a:ext cx="962025" cy="161925"/>
            </a:xfrm>
            <a:prstGeom prst="roundRect">
              <a:avLst>
                <a:gd name="adj" fmla="val 17647"/>
              </a:avLst>
            </a:prstGeom>
            <a:solidFill>
              <a:schemeClr val="lt1"/>
            </a:solidFill>
            <a:ln w="9525">
              <a:solidFill>
                <a:srgbClr val="D8E0E8"/>
              </a:solidFill>
            </a:ln>
          </p:spPr>
        </p:sp>
        <p:sp>
          <p:nvSpPr>
            <p:cNvPr id="22" name="TextBox 22"/>
            <p:cNvSpPr txBox="1"/>
            <p:nvPr/>
          </p:nvSpPr>
          <p:spPr>
            <a:xfrm>
              <a:off x="3732105" y="1185862"/>
              <a:ext cx="679666" cy="147638"/>
            </a:xfrm>
            <a:prstGeom prst="rect">
              <a:avLst/>
            </a:prstGeom>
            <a:noFill/>
            <a:ln>
              <a:noFill/>
            </a:ln>
          </p:spPr>
          <p:txBody>
            <a:bodyPr wrap="none" lIns="0" tIns="0" rIns="0" bIns="0" anchor="t" anchorCtr="0">
              <a:spAutoFit/>
            </a:bodyPr>
            <a:lstStyle/>
            <a:p>
              <a:pPr algn="ctr"/>
              <a:r>
                <a:rPr lang="en-US" sz="750" dirty="0">
                  <a:solidFill>
                    <a:schemeClr val="dk1"/>
                  </a:solidFill>
                  <a:latin typeface="+mn-lt"/>
                  <a:ea typeface="+mn-ea"/>
                  <a:cs typeface="+mn-cs"/>
                </a:rPr>
                <a:t>Task + review</a:t>
              </a:r>
            </a:p>
          </p:txBody>
        </p:sp>
        <p:sp>
          <p:nvSpPr>
            <p:cNvPr id="23" name="TextBox 23"/>
            <p:cNvSpPr txBox="1"/>
            <p:nvPr/>
          </p:nvSpPr>
          <p:spPr>
            <a:xfrm>
              <a:off x="4633722" y="1185862"/>
              <a:ext cx="800481" cy="147638"/>
            </a:xfrm>
            <a:prstGeom prst="rect">
              <a:avLst/>
            </a:prstGeom>
            <a:noFill/>
            <a:ln>
              <a:noFill/>
            </a:ln>
          </p:spPr>
          <p:txBody>
            <a:bodyPr wrap="none" lIns="0" tIns="0" rIns="0" bIns="0" anchor="t" anchorCtr="0">
              <a:spAutoFit/>
            </a:bodyPr>
            <a:lstStyle/>
            <a:p>
              <a:pPr algn="ctr"/>
              <a:r>
                <a:rPr lang="en-US" sz="750" dirty="0">
                  <a:solidFill>
                    <a:schemeClr val="dk1"/>
                  </a:solidFill>
                  <a:latin typeface="+mn-lt"/>
                  <a:ea typeface="+mn-ea"/>
                  <a:cs typeface="+mn-cs"/>
                </a:rPr>
                <a:t>Vertical + stage</a:t>
              </a:r>
            </a:p>
          </p:txBody>
        </p:sp>
        <p:sp>
          <p:nvSpPr>
            <p:cNvPr id="24" name="TextBox 24"/>
            <p:cNvSpPr txBox="1"/>
            <p:nvPr/>
          </p:nvSpPr>
          <p:spPr>
            <a:xfrm>
              <a:off x="5497868" y="1185862"/>
              <a:ext cx="1053389" cy="147638"/>
            </a:xfrm>
            <a:prstGeom prst="rect">
              <a:avLst/>
            </a:prstGeom>
            <a:noFill/>
            <a:ln>
              <a:noFill/>
            </a:ln>
          </p:spPr>
          <p:txBody>
            <a:bodyPr wrap="none" lIns="0" tIns="0" rIns="0" bIns="0" anchor="t" anchorCtr="0">
              <a:spAutoFit/>
            </a:bodyPr>
            <a:lstStyle/>
            <a:p>
              <a:pPr algn="ctr"/>
              <a:r>
                <a:rPr lang="en-US" sz="750" dirty="0">
                  <a:solidFill>
                    <a:schemeClr val="dk1"/>
                  </a:solidFill>
                  <a:latin typeface="+mn-lt"/>
                  <a:ea typeface="+mn-ea"/>
                  <a:cs typeface="+mn-cs"/>
                </a:rPr>
                <a:t>Advance · hold · back</a:t>
              </a:r>
            </a:p>
          </p:txBody>
        </p:sp>
        <p:sp>
          <p:nvSpPr>
            <p:cNvPr id="25" name="Line 25"/>
            <p:cNvSpPr/>
            <p:nvPr/>
          </p:nvSpPr>
          <p:spPr>
            <a:xfrm>
              <a:off x="2638425" y="1400175"/>
              <a:ext cx="9525" cy="95250"/>
            </a:xfrm>
            <a:custGeom>
              <a:avLst/>
              <a:gdLst/>
              <a:ahLst/>
              <a:cxnLst/>
              <a:rect l="l" t="t" r="r" b="b"/>
              <a:pathLst>
                <a:path w="9525" h="95250">
                  <a:moveTo>
                    <a:pt x="0" y="0"/>
                  </a:moveTo>
                  <a:lnTo>
                    <a:pt x="0" y="95250"/>
                  </a:lnTo>
                </a:path>
              </a:pathLst>
            </a:custGeom>
            <a:noFill/>
            <a:ln w="12382">
              <a:solidFill>
                <a:schemeClr val="accent1"/>
              </a:solidFill>
            </a:ln>
          </p:spPr>
        </p:sp>
        <p:sp>
          <p:nvSpPr>
            <p:cNvPr id="26" name="Polygon 26"/>
            <p:cNvSpPr/>
            <p:nvPr/>
          </p:nvSpPr>
          <p:spPr>
            <a:xfrm>
              <a:off x="2600325" y="1466850"/>
              <a:ext cx="76200" cy="57150"/>
            </a:xfrm>
            <a:custGeom>
              <a:avLst/>
              <a:gdLst/>
              <a:ahLst/>
              <a:cxnLst/>
              <a:rect l="l" t="t" r="r" b="b"/>
              <a:pathLst>
                <a:path w="76200" h="57150">
                  <a:moveTo>
                    <a:pt x="38100" y="57150"/>
                  </a:moveTo>
                  <a:lnTo>
                    <a:pt x="0" y="0"/>
                  </a:lnTo>
                  <a:lnTo>
                    <a:pt x="76200" y="0"/>
                  </a:lnTo>
                  <a:close/>
                </a:path>
              </a:pathLst>
            </a:custGeom>
            <a:solidFill>
              <a:schemeClr val="accent1"/>
            </a:solidFill>
            <a:ln>
              <a:noFill/>
            </a:ln>
          </p:spPr>
        </p:sp>
        <p:sp>
          <p:nvSpPr>
            <p:cNvPr id="27" name="Rectangle 27"/>
            <p:cNvSpPr/>
            <p:nvPr/>
          </p:nvSpPr>
          <p:spPr>
            <a:xfrm>
              <a:off x="1924050" y="1524000"/>
              <a:ext cx="1066800" cy="495300"/>
            </a:xfrm>
            <a:prstGeom prst="roundRect">
              <a:avLst>
                <a:gd name="adj" fmla="val 13462"/>
              </a:avLst>
            </a:prstGeom>
            <a:solidFill>
              <a:schemeClr val="accent5"/>
            </a:solidFill>
            <a:ln w="11430">
              <a:solidFill>
                <a:srgbClr val="287D70"/>
              </a:solidFill>
            </a:ln>
          </p:spPr>
        </p:sp>
        <p:sp>
          <p:nvSpPr>
            <p:cNvPr id="28" name="Ellipse 28"/>
            <p:cNvSpPr/>
            <p:nvPr/>
          </p:nvSpPr>
          <p:spPr>
            <a:xfrm>
              <a:off x="2009775" y="1619250"/>
              <a:ext cx="152400" cy="152400"/>
            </a:xfrm>
            <a:prstGeom prst="ellipse">
              <a:avLst/>
            </a:prstGeom>
            <a:solidFill>
              <a:srgbClr val="287D70"/>
            </a:solidFill>
            <a:ln>
              <a:noFill/>
            </a:ln>
          </p:spPr>
        </p:sp>
        <p:sp>
          <p:nvSpPr>
            <p:cNvPr id="29" name="TextBox 29"/>
            <p:cNvSpPr txBox="1"/>
            <p:nvPr/>
          </p:nvSpPr>
          <p:spPr>
            <a:xfrm>
              <a:off x="2050409" y="1652588"/>
              <a:ext cx="71133" cy="147638"/>
            </a:xfrm>
            <a:prstGeom prst="rect">
              <a:avLst/>
            </a:prstGeom>
            <a:noFill/>
            <a:ln>
              <a:noFill/>
            </a:ln>
          </p:spPr>
          <p:txBody>
            <a:bodyPr wrap="none" lIns="0" tIns="0" rIns="0" bIns="0" anchor="t" anchorCtr="0">
              <a:spAutoFit/>
            </a:bodyPr>
            <a:lstStyle/>
            <a:p>
              <a:pPr algn="ctr"/>
              <a:r>
                <a:rPr lang="en-US" sz="750" b="1" dirty="0">
                  <a:solidFill>
                    <a:srgbClr val="FFFDF8"/>
                  </a:solidFill>
                  <a:latin typeface="+mn-lt"/>
                  <a:ea typeface="+mn-ea"/>
                  <a:cs typeface="+mn-cs"/>
                </a:rPr>
                <a:t>P</a:t>
              </a:r>
            </a:p>
          </p:txBody>
        </p:sp>
        <p:sp>
          <p:nvSpPr>
            <p:cNvPr id="30" name="TextBox 30"/>
            <p:cNvSpPr txBox="1"/>
            <p:nvPr/>
          </p:nvSpPr>
          <p:spPr>
            <a:xfrm>
              <a:off x="2214562" y="1598295"/>
              <a:ext cx="471206"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Planner</a:t>
              </a:r>
            </a:p>
          </p:txBody>
        </p:sp>
        <p:sp>
          <p:nvSpPr>
            <p:cNvPr id="31" name="TextBox 31"/>
            <p:cNvSpPr txBox="1"/>
            <p:nvPr/>
          </p:nvSpPr>
          <p:spPr>
            <a:xfrm>
              <a:off x="2214562" y="1785938"/>
              <a:ext cx="428530" cy="147638"/>
            </a:xfrm>
            <a:prstGeom prst="rect">
              <a:avLst/>
            </a:prstGeom>
            <a:noFill/>
            <a:ln>
              <a:noFill/>
            </a:ln>
          </p:spPr>
          <p:txBody>
            <a:bodyPr wrap="none" lIns="0" tIns="0" rIns="0" bIns="0" anchor="t" anchorCtr="0">
              <a:spAutoFit/>
            </a:bodyPr>
            <a:lstStyle/>
            <a:p>
              <a:pPr algn="l"/>
              <a:r>
                <a:rPr lang="en-US" sz="750" dirty="0">
                  <a:solidFill>
                    <a:srgbClr val="66717D"/>
                  </a:solidFill>
                  <a:latin typeface="+mn-lt"/>
                  <a:ea typeface="+mn-ea"/>
                  <a:cs typeface="+mn-cs"/>
                </a:rPr>
                <a:t>schedule</a:t>
              </a:r>
            </a:p>
          </p:txBody>
        </p:sp>
        <p:sp>
          <p:nvSpPr>
            <p:cNvPr id="32" name="Rectangle 32"/>
            <p:cNvSpPr/>
            <p:nvPr/>
          </p:nvSpPr>
          <p:spPr>
            <a:xfrm>
              <a:off x="3105150" y="1524000"/>
              <a:ext cx="1200150" cy="495300"/>
            </a:xfrm>
            <a:prstGeom prst="roundRect">
              <a:avLst>
                <a:gd name="adj" fmla="val 13462"/>
              </a:avLst>
            </a:prstGeom>
            <a:solidFill>
              <a:schemeClr val="accent5"/>
            </a:solidFill>
            <a:ln w="11430">
              <a:solidFill>
                <a:schemeClr val="accent1"/>
              </a:solidFill>
            </a:ln>
          </p:spPr>
        </p:sp>
        <p:sp>
          <p:nvSpPr>
            <p:cNvPr id="33" name="Ellipse 33"/>
            <p:cNvSpPr/>
            <p:nvPr/>
          </p:nvSpPr>
          <p:spPr>
            <a:xfrm>
              <a:off x="3190875" y="1619250"/>
              <a:ext cx="152400" cy="152400"/>
            </a:xfrm>
            <a:prstGeom prst="ellipse">
              <a:avLst/>
            </a:prstGeom>
            <a:solidFill>
              <a:schemeClr val="accent1"/>
            </a:solidFill>
            <a:ln>
              <a:noFill/>
            </a:ln>
          </p:spPr>
        </p:sp>
        <p:sp>
          <p:nvSpPr>
            <p:cNvPr id="34" name="TextBox 34"/>
            <p:cNvSpPr txBox="1"/>
            <p:nvPr/>
          </p:nvSpPr>
          <p:spPr>
            <a:xfrm>
              <a:off x="3231509" y="1652588"/>
              <a:ext cx="71133" cy="147638"/>
            </a:xfrm>
            <a:prstGeom prst="rect">
              <a:avLst/>
            </a:prstGeom>
            <a:noFill/>
            <a:ln>
              <a:noFill/>
            </a:ln>
          </p:spPr>
          <p:txBody>
            <a:bodyPr wrap="none" lIns="0" tIns="0" rIns="0" bIns="0" anchor="t" anchorCtr="0">
              <a:spAutoFit/>
            </a:bodyPr>
            <a:lstStyle/>
            <a:p>
              <a:pPr algn="ctr"/>
              <a:r>
                <a:rPr lang="en-US" sz="750" b="1" dirty="0">
                  <a:solidFill>
                    <a:srgbClr val="FFFDF8"/>
                  </a:solidFill>
                  <a:latin typeface="+mn-lt"/>
                  <a:ea typeface="+mn-ea"/>
                  <a:cs typeface="+mn-cs"/>
                </a:rPr>
                <a:t>E</a:t>
              </a:r>
            </a:p>
          </p:txBody>
        </p:sp>
        <p:sp>
          <p:nvSpPr>
            <p:cNvPr id="35" name="TextBox 35"/>
            <p:cNvSpPr txBox="1"/>
            <p:nvPr/>
          </p:nvSpPr>
          <p:spPr>
            <a:xfrm>
              <a:off x="3405188" y="1598295"/>
              <a:ext cx="541206"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Engineer</a:t>
              </a:r>
            </a:p>
          </p:txBody>
        </p:sp>
        <p:sp>
          <p:nvSpPr>
            <p:cNvPr id="36" name="TextBox 36"/>
            <p:cNvSpPr txBox="1"/>
            <p:nvPr/>
          </p:nvSpPr>
          <p:spPr>
            <a:xfrm>
              <a:off x="3405188" y="1785938"/>
              <a:ext cx="797052" cy="147638"/>
            </a:xfrm>
            <a:prstGeom prst="rect">
              <a:avLst/>
            </a:prstGeom>
            <a:noFill/>
            <a:ln>
              <a:noFill/>
            </a:ln>
          </p:spPr>
          <p:txBody>
            <a:bodyPr wrap="none" lIns="0" tIns="0" rIns="0" bIns="0" anchor="t" anchorCtr="0">
              <a:spAutoFit/>
            </a:bodyPr>
            <a:lstStyle/>
            <a:p>
              <a:pPr algn="l"/>
              <a:r>
                <a:rPr lang="en-US" sz="750" dirty="0">
                  <a:solidFill>
                    <a:srgbClr val="66717D"/>
                  </a:solidFill>
                  <a:latin typeface="+mn-lt"/>
                  <a:ea typeface="+mn-ea"/>
                  <a:cs typeface="+mn-cs"/>
                </a:rPr>
                <a:t>research · build</a:t>
              </a:r>
            </a:p>
          </p:txBody>
        </p:sp>
        <p:sp>
          <p:nvSpPr>
            <p:cNvPr id="37" name="Rectangle 37"/>
            <p:cNvSpPr/>
            <p:nvPr/>
          </p:nvSpPr>
          <p:spPr>
            <a:xfrm>
              <a:off x="4419600" y="1524000"/>
              <a:ext cx="1219200" cy="495300"/>
            </a:xfrm>
            <a:prstGeom prst="roundRect">
              <a:avLst>
                <a:gd name="adj" fmla="val 13462"/>
              </a:avLst>
            </a:prstGeom>
            <a:solidFill>
              <a:schemeClr val="accent5"/>
            </a:solidFill>
            <a:ln w="11430">
              <a:solidFill>
                <a:srgbClr val="C38A20"/>
              </a:solidFill>
            </a:ln>
          </p:spPr>
        </p:sp>
        <p:sp>
          <p:nvSpPr>
            <p:cNvPr id="38" name="Ellipse 38"/>
            <p:cNvSpPr/>
            <p:nvPr/>
          </p:nvSpPr>
          <p:spPr>
            <a:xfrm>
              <a:off x="4505325" y="1619250"/>
              <a:ext cx="152400" cy="152400"/>
            </a:xfrm>
            <a:prstGeom prst="ellipse">
              <a:avLst/>
            </a:prstGeom>
            <a:solidFill>
              <a:srgbClr val="C38A20"/>
            </a:solidFill>
            <a:ln>
              <a:noFill/>
            </a:ln>
          </p:spPr>
        </p:sp>
        <p:sp>
          <p:nvSpPr>
            <p:cNvPr id="39" name="TextBox 39"/>
            <p:cNvSpPr txBox="1"/>
            <p:nvPr/>
          </p:nvSpPr>
          <p:spPr>
            <a:xfrm>
              <a:off x="4545959" y="1652588"/>
              <a:ext cx="71133" cy="147638"/>
            </a:xfrm>
            <a:prstGeom prst="rect">
              <a:avLst/>
            </a:prstGeom>
            <a:noFill/>
            <a:ln>
              <a:noFill/>
            </a:ln>
          </p:spPr>
          <p:txBody>
            <a:bodyPr wrap="none" lIns="0" tIns="0" rIns="0" bIns="0" anchor="t" anchorCtr="0">
              <a:spAutoFit/>
            </a:bodyPr>
            <a:lstStyle/>
            <a:p>
              <a:pPr algn="ctr"/>
              <a:r>
                <a:rPr lang="en-US" sz="750" b="1" dirty="0">
                  <a:solidFill>
                    <a:srgbClr val="FFFDF8"/>
                  </a:solidFill>
                  <a:latin typeface="+mn-lt"/>
                  <a:ea typeface="+mn-ea"/>
                  <a:cs typeface="+mn-cs"/>
                </a:rPr>
                <a:t>R</a:t>
              </a:r>
            </a:p>
          </p:txBody>
        </p:sp>
        <p:sp>
          <p:nvSpPr>
            <p:cNvPr id="40" name="TextBox 40"/>
            <p:cNvSpPr txBox="1"/>
            <p:nvPr/>
          </p:nvSpPr>
          <p:spPr>
            <a:xfrm>
              <a:off x="4719638" y="1598295"/>
              <a:ext cx="566830"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Reviewer</a:t>
              </a:r>
            </a:p>
          </p:txBody>
        </p:sp>
        <p:sp>
          <p:nvSpPr>
            <p:cNvPr id="41" name="TextBox 41"/>
            <p:cNvSpPr txBox="1"/>
            <p:nvPr/>
          </p:nvSpPr>
          <p:spPr>
            <a:xfrm>
              <a:off x="4719638" y="1785938"/>
              <a:ext cx="403289" cy="147638"/>
            </a:xfrm>
            <a:prstGeom prst="rect">
              <a:avLst/>
            </a:prstGeom>
            <a:noFill/>
            <a:ln>
              <a:noFill/>
            </a:ln>
          </p:spPr>
          <p:txBody>
            <a:bodyPr wrap="none" lIns="0" tIns="0" rIns="0" bIns="0" anchor="t" anchorCtr="0">
              <a:spAutoFit/>
            </a:bodyPr>
            <a:lstStyle/>
            <a:p>
              <a:pPr algn="l"/>
              <a:r>
                <a:rPr lang="en-US" sz="750" dirty="0">
                  <a:solidFill>
                    <a:srgbClr val="66717D"/>
                  </a:solidFill>
                  <a:latin typeface="+mn-lt"/>
                  <a:ea typeface="+mn-ea"/>
                  <a:cs typeface="+mn-cs"/>
                </a:rPr>
                <a:t>validate</a:t>
              </a:r>
            </a:p>
          </p:txBody>
        </p:sp>
        <p:sp>
          <p:nvSpPr>
            <p:cNvPr id="42" name="Rectangle 42"/>
            <p:cNvSpPr/>
            <p:nvPr/>
          </p:nvSpPr>
          <p:spPr>
            <a:xfrm>
              <a:off x="5753100" y="1524000"/>
              <a:ext cx="895350" cy="495300"/>
            </a:xfrm>
            <a:prstGeom prst="roundRect">
              <a:avLst>
                <a:gd name="adj" fmla="val 13462"/>
              </a:avLst>
            </a:prstGeom>
            <a:solidFill>
              <a:schemeClr val="accent5"/>
            </a:solidFill>
            <a:ln w="11430">
              <a:solidFill>
                <a:schemeClr val="accent2"/>
              </a:solidFill>
            </a:ln>
          </p:spPr>
        </p:sp>
        <p:sp>
          <p:nvSpPr>
            <p:cNvPr id="43" name="TextBox 43"/>
            <p:cNvSpPr txBox="1"/>
            <p:nvPr/>
          </p:nvSpPr>
          <p:spPr>
            <a:xfrm>
              <a:off x="5957983" y="1576388"/>
              <a:ext cx="485585" cy="147638"/>
            </a:xfrm>
            <a:prstGeom prst="rect">
              <a:avLst/>
            </a:prstGeom>
            <a:noFill/>
            <a:ln>
              <a:noFill/>
            </a:ln>
          </p:spPr>
          <p:txBody>
            <a:bodyPr wrap="none" lIns="0" tIns="0" rIns="0" bIns="0" anchor="t" anchorCtr="0">
              <a:spAutoFit/>
            </a:bodyPr>
            <a:lstStyle/>
            <a:p>
              <a:pPr algn="ctr"/>
              <a:r>
                <a:rPr lang="en-US" sz="750" b="1" dirty="0">
                  <a:solidFill>
                    <a:schemeClr val="accent6"/>
                  </a:solidFill>
                  <a:latin typeface="+mn-lt"/>
                  <a:ea typeface="+mn-ea"/>
                  <a:cs typeface="+mn-cs"/>
                </a:rPr>
                <a:t>CONTROL</a:t>
              </a:r>
            </a:p>
          </p:txBody>
        </p:sp>
        <p:sp>
          <p:nvSpPr>
            <p:cNvPr id="44" name="TextBox 44"/>
            <p:cNvSpPr txBox="1"/>
            <p:nvPr/>
          </p:nvSpPr>
          <p:spPr>
            <a:xfrm>
              <a:off x="6030397" y="1709738"/>
              <a:ext cx="340757" cy="147638"/>
            </a:xfrm>
            <a:prstGeom prst="rect">
              <a:avLst/>
            </a:prstGeom>
            <a:noFill/>
            <a:ln>
              <a:noFill/>
            </a:ln>
          </p:spPr>
          <p:txBody>
            <a:bodyPr wrap="none" lIns="0" tIns="0" rIns="0" bIns="0" anchor="t" anchorCtr="0">
              <a:spAutoFit/>
            </a:bodyPr>
            <a:lstStyle/>
            <a:p>
              <a:pPr algn="ctr"/>
              <a:r>
                <a:rPr lang="en-US" sz="750" dirty="0">
                  <a:solidFill>
                    <a:schemeClr val="accent2"/>
                  </a:solidFill>
                  <a:latin typeface="+mn-lt"/>
                  <a:ea typeface="+mn-ea"/>
                  <a:cs typeface="+mn-cs"/>
                </a:rPr>
                <a:t>Review</a:t>
              </a:r>
            </a:p>
          </p:txBody>
        </p:sp>
        <p:sp>
          <p:nvSpPr>
            <p:cNvPr id="45" name="TextBox 45"/>
            <p:cNvSpPr txBox="1"/>
            <p:nvPr/>
          </p:nvSpPr>
          <p:spPr>
            <a:xfrm>
              <a:off x="5816370" y="1824038"/>
              <a:ext cx="768810" cy="147638"/>
            </a:xfrm>
            <a:prstGeom prst="rect">
              <a:avLst/>
            </a:prstGeom>
            <a:noFill/>
            <a:ln>
              <a:noFill/>
            </a:ln>
          </p:spPr>
          <p:txBody>
            <a:bodyPr wrap="none" lIns="0" tIns="0" rIns="0" bIns="0" anchor="t" anchorCtr="0">
              <a:spAutoFit/>
            </a:bodyPr>
            <a:lstStyle/>
            <a:p>
              <a:pPr algn="ctr"/>
              <a:r>
                <a:rPr lang="en-US" sz="750" dirty="0">
                  <a:solidFill>
                    <a:srgbClr val="287D70"/>
                  </a:solidFill>
                  <a:latin typeface="+mn-lt"/>
                  <a:ea typeface="+mn-ea"/>
                  <a:cs typeface="+mn-cs"/>
                </a:rPr>
                <a:t>Stage · Mission</a:t>
              </a:r>
            </a:p>
          </p:txBody>
        </p:sp>
        <p:sp>
          <p:nvSpPr>
            <p:cNvPr id="46" name="Line 46"/>
            <p:cNvSpPr/>
            <p:nvPr/>
          </p:nvSpPr>
          <p:spPr>
            <a:xfrm>
              <a:off x="2990850" y="1771650"/>
              <a:ext cx="114300" cy="9525"/>
            </a:xfrm>
            <a:custGeom>
              <a:avLst/>
              <a:gdLst/>
              <a:ahLst/>
              <a:cxnLst/>
              <a:rect l="l" t="t" r="r" b="b"/>
              <a:pathLst>
                <a:path w="114300" h="9525">
                  <a:moveTo>
                    <a:pt x="0" y="0"/>
                  </a:moveTo>
                  <a:lnTo>
                    <a:pt x="114300" y="0"/>
                  </a:lnTo>
                </a:path>
              </a:pathLst>
            </a:custGeom>
            <a:noFill/>
            <a:ln w="12382">
              <a:solidFill>
                <a:schemeClr val="accent1"/>
              </a:solidFill>
            </a:ln>
          </p:spPr>
        </p:sp>
        <p:sp>
          <p:nvSpPr>
            <p:cNvPr id="47" name="Polygon 47"/>
            <p:cNvSpPr/>
            <p:nvPr/>
          </p:nvSpPr>
          <p:spPr>
            <a:xfrm>
              <a:off x="3048000" y="1733550"/>
              <a:ext cx="57150" cy="76200"/>
            </a:xfrm>
            <a:custGeom>
              <a:avLst/>
              <a:gdLst/>
              <a:ahLst/>
              <a:cxnLst/>
              <a:rect l="l" t="t" r="r" b="b"/>
              <a:pathLst>
                <a:path w="57150" h="76200">
                  <a:moveTo>
                    <a:pt x="57150" y="38100"/>
                  </a:moveTo>
                  <a:lnTo>
                    <a:pt x="0" y="0"/>
                  </a:lnTo>
                  <a:lnTo>
                    <a:pt x="0" y="76200"/>
                  </a:lnTo>
                  <a:close/>
                </a:path>
              </a:pathLst>
            </a:custGeom>
            <a:solidFill>
              <a:schemeClr val="accent1"/>
            </a:solidFill>
            <a:ln>
              <a:noFill/>
            </a:ln>
          </p:spPr>
        </p:sp>
        <p:sp>
          <p:nvSpPr>
            <p:cNvPr id="48" name="Line 48"/>
            <p:cNvSpPr/>
            <p:nvPr/>
          </p:nvSpPr>
          <p:spPr>
            <a:xfrm>
              <a:off x="4305300" y="1771650"/>
              <a:ext cx="114300" cy="9525"/>
            </a:xfrm>
            <a:custGeom>
              <a:avLst/>
              <a:gdLst/>
              <a:ahLst/>
              <a:cxnLst/>
              <a:rect l="l" t="t" r="r" b="b"/>
              <a:pathLst>
                <a:path w="114300" h="9525">
                  <a:moveTo>
                    <a:pt x="0" y="0"/>
                  </a:moveTo>
                  <a:lnTo>
                    <a:pt x="114300" y="0"/>
                  </a:lnTo>
                </a:path>
              </a:pathLst>
            </a:custGeom>
            <a:noFill/>
            <a:ln w="12382">
              <a:solidFill>
                <a:schemeClr val="accent1"/>
              </a:solidFill>
            </a:ln>
          </p:spPr>
        </p:sp>
        <p:sp>
          <p:nvSpPr>
            <p:cNvPr id="49" name="Polygon 49"/>
            <p:cNvSpPr/>
            <p:nvPr/>
          </p:nvSpPr>
          <p:spPr>
            <a:xfrm>
              <a:off x="4362450" y="1733550"/>
              <a:ext cx="57150" cy="76200"/>
            </a:xfrm>
            <a:custGeom>
              <a:avLst/>
              <a:gdLst/>
              <a:ahLst/>
              <a:cxnLst/>
              <a:rect l="l" t="t" r="r" b="b"/>
              <a:pathLst>
                <a:path w="57150" h="76200">
                  <a:moveTo>
                    <a:pt x="57150" y="38100"/>
                  </a:moveTo>
                  <a:lnTo>
                    <a:pt x="0" y="0"/>
                  </a:lnTo>
                  <a:lnTo>
                    <a:pt x="0" y="76200"/>
                  </a:lnTo>
                  <a:close/>
                </a:path>
              </a:pathLst>
            </a:custGeom>
            <a:solidFill>
              <a:schemeClr val="accent1"/>
            </a:solidFill>
            <a:ln>
              <a:noFill/>
            </a:ln>
          </p:spPr>
        </p:sp>
        <p:sp>
          <p:nvSpPr>
            <p:cNvPr id="50" name="Line 50"/>
            <p:cNvSpPr/>
            <p:nvPr/>
          </p:nvSpPr>
          <p:spPr>
            <a:xfrm>
              <a:off x="5638800" y="1771650"/>
              <a:ext cx="114300" cy="9525"/>
            </a:xfrm>
            <a:custGeom>
              <a:avLst/>
              <a:gdLst/>
              <a:ahLst/>
              <a:cxnLst/>
              <a:rect l="l" t="t" r="r" b="b"/>
              <a:pathLst>
                <a:path w="114300" h="9525">
                  <a:moveTo>
                    <a:pt x="0" y="0"/>
                  </a:moveTo>
                  <a:lnTo>
                    <a:pt x="114300" y="0"/>
                  </a:lnTo>
                </a:path>
              </a:pathLst>
            </a:custGeom>
            <a:noFill/>
            <a:ln w="12382">
              <a:solidFill>
                <a:schemeClr val="accent1"/>
              </a:solidFill>
            </a:ln>
          </p:spPr>
        </p:sp>
        <p:sp>
          <p:nvSpPr>
            <p:cNvPr id="51" name="Polygon 51"/>
            <p:cNvSpPr/>
            <p:nvPr/>
          </p:nvSpPr>
          <p:spPr>
            <a:xfrm>
              <a:off x="5695950" y="1733550"/>
              <a:ext cx="57150" cy="76200"/>
            </a:xfrm>
            <a:custGeom>
              <a:avLst/>
              <a:gdLst/>
              <a:ahLst/>
              <a:cxnLst/>
              <a:rect l="l" t="t" r="r" b="b"/>
              <a:pathLst>
                <a:path w="57150" h="76200">
                  <a:moveTo>
                    <a:pt x="57150" y="38100"/>
                  </a:moveTo>
                  <a:lnTo>
                    <a:pt x="0" y="0"/>
                  </a:lnTo>
                  <a:lnTo>
                    <a:pt x="0" y="76200"/>
                  </a:lnTo>
                  <a:close/>
                </a:path>
              </a:pathLst>
            </a:custGeom>
            <a:solidFill>
              <a:schemeClr val="accent1"/>
            </a:solidFill>
            <a:ln>
              <a:noFill/>
            </a:ln>
          </p:spPr>
        </p:sp>
        <p:sp>
          <p:nvSpPr>
            <p:cNvPr id="52" name="Freeform 52"/>
            <p:cNvSpPr/>
            <p:nvPr/>
          </p:nvSpPr>
          <p:spPr>
            <a:xfrm>
              <a:off x="3705225" y="2019300"/>
              <a:ext cx="1323975" cy="76200"/>
            </a:xfrm>
            <a:custGeom>
              <a:avLst/>
              <a:gdLst/>
              <a:ahLst/>
              <a:cxnLst/>
              <a:rect l="l" t="t" r="r" b="b"/>
              <a:pathLst>
                <a:path w="1323975" h="76200">
                  <a:moveTo>
                    <a:pt x="1323975" y="0"/>
                  </a:moveTo>
                  <a:lnTo>
                    <a:pt x="1323975" y="76200"/>
                  </a:lnTo>
                  <a:lnTo>
                    <a:pt x="0" y="76200"/>
                  </a:lnTo>
                  <a:lnTo>
                    <a:pt x="0" y="0"/>
                  </a:lnTo>
                </a:path>
              </a:pathLst>
            </a:custGeom>
            <a:noFill/>
            <a:ln w="12382">
              <a:solidFill>
                <a:srgbClr val="C38A20"/>
              </a:solidFill>
            </a:ln>
          </p:spPr>
        </p:sp>
        <p:sp>
          <p:nvSpPr>
            <p:cNvPr id="53" name="Polygon 53"/>
            <p:cNvSpPr/>
            <p:nvPr/>
          </p:nvSpPr>
          <p:spPr>
            <a:xfrm>
              <a:off x="3667125" y="2019300"/>
              <a:ext cx="76200" cy="57150"/>
            </a:xfrm>
            <a:custGeom>
              <a:avLst/>
              <a:gdLst/>
              <a:ahLst/>
              <a:cxnLst/>
              <a:rect l="l" t="t" r="r" b="b"/>
              <a:pathLst>
                <a:path w="76200" h="57150">
                  <a:moveTo>
                    <a:pt x="38100" y="0"/>
                  </a:moveTo>
                  <a:lnTo>
                    <a:pt x="0" y="57150"/>
                  </a:lnTo>
                  <a:lnTo>
                    <a:pt x="76200" y="57150"/>
                  </a:lnTo>
                  <a:close/>
                </a:path>
              </a:pathLst>
            </a:custGeom>
            <a:solidFill>
              <a:srgbClr val="C38A20"/>
            </a:solidFill>
            <a:ln>
              <a:noFill/>
            </a:ln>
          </p:spPr>
        </p:sp>
        <p:sp>
          <p:nvSpPr>
            <p:cNvPr id="54" name="Rectangle 54"/>
            <p:cNvSpPr/>
            <p:nvPr/>
          </p:nvSpPr>
          <p:spPr>
            <a:xfrm>
              <a:off x="1924050" y="2114550"/>
              <a:ext cx="4724400" cy="209550"/>
            </a:xfrm>
            <a:prstGeom prst="roundRect">
              <a:avLst>
                <a:gd name="adj" fmla="val 22727"/>
              </a:avLst>
            </a:prstGeom>
            <a:solidFill>
              <a:schemeClr val="lt1"/>
            </a:solidFill>
            <a:ln w="11430">
              <a:solidFill>
                <a:schemeClr val="accent2"/>
              </a:solidFill>
            </a:ln>
          </p:spPr>
        </p:sp>
        <p:sp>
          <p:nvSpPr>
            <p:cNvPr id="55" name="TextBox 55"/>
            <p:cNvSpPr txBox="1"/>
            <p:nvPr/>
          </p:nvSpPr>
          <p:spPr>
            <a:xfrm>
              <a:off x="3679972" y="2160270"/>
              <a:ext cx="1212555" cy="176212"/>
            </a:xfrm>
            <a:prstGeom prst="rect">
              <a:avLst/>
            </a:prstGeom>
            <a:noFill/>
            <a:ln>
              <a:noFill/>
            </a:ln>
          </p:spPr>
          <p:txBody>
            <a:bodyPr wrap="none" lIns="0" tIns="0" rIns="0" bIns="0" anchor="t" anchorCtr="0">
              <a:spAutoFit/>
            </a:bodyPr>
            <a:lstStyle/>
            <a:p>
              <a:pPr algn="ctr"/>
              <a:r>
                <a:rPr lang="en-US" sz="900" b="1" dirty="0">
                  <a:solidFill>
                    <a:schemeClr val="accent6"/>
                  </a:solidFill>
                  <a:latin typeface="+mn-lt"/>
                  <a:ea typeface="+mn-ea"/>
                  <a:cs typeface="+mn-cs"/>
                </a:rPr>
                <a:t>SHARED WORKSPACE</a:t>
              </a:r>
            </a:p>
          </p:txBody>
        </p:sp>
        <p:sp>
          <p:nvSpPr>
            <p:cNvPr id="56" name="Rectangle 56"/>
            <p:cNvSpPr/>
            <p:nvPr/>
          </p:nvSpPr>
          <p:spPr>
            <a:xfrm>
              <a:off x="1924050" y="2381250"/>
              <a:ext cx="1438275" cy="333375"/>
            </a:xfrm>
            <a:prstGeom prst="roundRect">
              <a:avLst>
                <a:gd name="adj" fmla="val 17143"/>
              </a:avLst>
            </a:prstGeom>
            <a:solidFill>
              <a:schemeClr val="accent5"/>
            </a:solidFill>
            <a:ln w="10478">
              <a:solidFill>
                <a:schemeClr val="accent2"/>
              </a:solidFill>
            </a:ln>
          </p:spPr>
        </p:sp>
        <p:sp>
          <p:nvSpPr>
            <p:cNvPr id="57" name="Rectangle 57"/>
            <p:cNvSpPr/>
            <p:nvPr/>
          </p:nvSpPr>
          <p:spPr>
            <a:xfrm>
              <a:off x="3562350" y="2381250"/>
              <a:ext cx="1438275" cy="333375"/>
            </a:xfrm>
            <a:prstGeom prst="roundRect">
              <a:avLst>
                <a:gd name="adj" fmla="val 17143"/>
              </a:avLst>
            </a:prstGeom>
            <a:solidFill>
              <a:schemeClr val="accent5"/>
            </a:solidFill>
            <a:ln w="10478">
              <a:solidFill>
                <a:srgbClr val="287D70"/>
              </a:solidFill>
            </a:ln>
          </p:spPr>
        </p:sp>
        <p:sp>
          <p:nvSpPr>
            <p:cNvPr id="58" name="Rectangle 58"/>
            <p:cNvSpPr/>
            <p:nvPr/>
          </p:nvSpPr>
          <p:spPr>
            <a:xfrm>
              <a:off x="5200650" y="2381250"/>
              <a:ext cx="1447800" cy="333375"/>
            </a:xfrm>
            <a:prstGeom prst="roundRect">
              <a:avLst>
                <a:gd name="adj" fmla="val 17143"/>
              </a:avLst>
            </a:prstGeom>
            <a:solidFill>
              <a:schemeClr val="accent5"/>
            </a:solidFill>
            <a:ln w="10478">
              <a:solidFill>
                <a:schemeClr val="accent1"/>
              </a:solidFill>
            </a:ln>
          </p:spPr>
        </p:sp>
        <p:sp>
          <p:nvSpPr>
            <p:cNvPr id="59" name="TextBox 59"/>
            <p:cNvSpPr txBox="1"/>
            <p:nvPr/>
          </p:nvSpPr>
          <p:spPr>
            <a:xfrm>
              <a:off x="2377059" y="2443162"/>
              <a:ext cx="532257" cy="147638"/>
            </a:xfrm>
            <a:prstGeom prst="rect">
              <a:avLst/>
            </a:prstGeom>
            <a:noFill/>
            <a:ln>
              <a:noFill/>
            </a:ln>
          </p:spPr>
          <p:txBody>
            <a:bodyPr wrap="none" lIns="0" tIns="0" rIns="0" bIns="0" anchor="t" anchorCtr="0">
              <a:spAutoFit/>
            </a:bodyPr>
            <a:lstStyle/>
            <a:p>
              <a:pPr algn="ctr"/>
              <a:r>
                <a:rPr lang="en-US" sz="750" b="1" dirty="0">
                  <a:solidFill>
                    <a:schemeClr val="accent6"/>
                  </a:solidFill>
                  <a:latin typeface="+mn-lt"/>
                  <a:ea typeface="+mn-ea"/>
                  <a:cs typeface="+mn-cs"/>
                </a:rPr>
                <a:t>Knowledge</a:t>
              </a:r>
            </a:p>
          </p:txBody>
        </p:sp>
        <p:sp>
          <p:nvSpPr>
            <p:cNvPr id="60" name="TextBox 60"/>
            <p:cNvSpPr txBox="1"/>
            <p:nvPr/>
          </p:nvSpPr>
          <p:spPr>
            <a:xfrm>
              <a:off x="2352523" y="2566988"/>
              <a:ext cx="581330" cy="147638"/>
            </a:xfrm>
            <a:prstGeom prst="rect">
              <a:avLst/>
            </a:prstGeom>
            <a:noFill/>
            <a:ln>
              <a:noFill/>
            </a:ln>
          </p:spPr>
          <p:txBody>
            <a:bodyPr wrap="none" lIns="0" tIns="0" rIns="0" bIns="0" anchor="t" anchorCtr="0">
              <a:spAutoFit/>
            </a:bodyPr>
            <a:lstStyle/>
            <a:p>
              <a:pPr algn="ctr"/>
              <a:r>
                <a:rPr lang="en-US" sz="750" dirty="0">
                  <a:solidFill>
                    <a:srgbClr val="66717D"/>
                  </a:solidFill>
                  <a:latin typeface="+mn-lt"/>
                  <a:ea typeface="+mn-ea"/>
                  <a:cs typeface="+mn-cs"/>
                </a:rPr>
                <a:t>Wiki · Skills</a:t>
              </a:r>
            </a:p>
          </p:txBody>
        </p:sp>
        <p:sp>
          <p:nvSpPr>
            <p:cNvPr id="61" name="TextBox 61"/>
            <p:cNvSpPr txBox="1"/>
            <p:nvPr/>
          </p:nvSpPr>
          <p:spPr>
            <a:xfrm>
              <a:off x="4187614" y="2443162"/>
              <a:ext cx="187747" cy="147638"/>
            </a:xfrm>
            <a:prstGeom prst="rect">
              <a:avLst/>
            </a:prstGeom>
            <a:noFill/>
            <a:ln>
              <a:noFill/>
            </a:ln>
          </p:spPr>
          <p:txBody>
            <a:bodyPr wrap="none" lIns="0" tIns="0" rIns="0" bIns="0" anchor="t" anchorCtr="0">
              <a:spAutoFit/>
            </a:bodyPr>
            <a:lstStyle/>
            <a:p>
              <a:pPr algn="ctr"/>
              <a:r>
                <a:rPr lang="en-US" sz="750" b="1" dirty="0">
                  <a:solidFill>
                    <a:schemeClr val="accent6"/>
                  </a:solidFill>
                  <a:latin typeface="+mn-lt"/>
                  <a:ea typeface="+mn-ea"/>
                  <a:cs typeface="+mn-cs"/>
                </a:rPr>
                <a:t>Log</a:t>
              </a:r>
            </a:p>
          </p:txBody>
        </p:sp>
        <p:sp>
          <p:nvSpPr>
            <p:cNvPr id="62" name="TextBox 62"/>
            <p:cNvSpPr txBox="1"/>
            <p:nvPr/>
          </p:nvSpPr>
          <p:spPr>
            <a:xfrm>
              <a:off x="3824040" y="2566988"/>
              <a:ext cx="914895" cy="147638"/>
            </a:xfrm>
            <a:prstGeom prst="rect">
              <a:avLst/>
            </a:prstGeom>
            <a:noFill/>
            <a:ln>
              <a:noFill/>
            </a:ln>
          </p:spPr>
          <p:txBody>
            <a:bodyPr wrap="none" lIns="0" tIns="0" rIns="0" bIns="0" anchor="t" anchorCtr="0">
              <a:spAutoFit/>
            </a:bodyPr>
            <a:lstStyle/>
            <a:p>
              <a:pPr algn="ctr"/>
              <a:r>
                <a:rPr lang="en-US" sz="750" dirty="0">
                  <a:solidFill>
                    <a:srgbClr val="66717D"/>
                  </a:solidFill>
                  <a:latin typeface="+mn-lt"/>
                  <a:ea typeface="+mn-ea"/>
                  <a:cs typeface="+mn-cs"/>
                </a:rPr>
                <a:t>Events · Decisions</a:t>
              </a:r>
            </a:p>
          </p:txBody>
        </p:sp>
        <p:sp>
          <p:nvSpPr>
            <p:cNvPr id="63" name="TextBox 63"/>
            <p:cNvSpPr txBox="1"/>
            <p:nvPr/>
          </p:nvSpPr>
          <p:spPr>
            <a:xfrm>
              <a:off x="5669089" y="2443162"/>
              <a:ext cx="510921" cy="147638"/>
            </a:xfrm>
            <a:prstGeom prst="rect">
              <a:avLst/>
            </a:prstGeom>
            <a:noFill/>
            <a:ln>
              <a:noFill/>
            </a:ln>
          </p:spPr>
          <p:txBody>
            <a:bodyPr wrap="none" lIns="0" tIns="0" rIns="0" bIns="0" anchor="t" anchorCtr="0">
              <a:spAutoFit/>
            </a:bodyPr>
            <a:lstStyle/>
            <a:p>
              <a:pPr algn="ctr"/>
              <a:r>
                <a:rPr lang="en-US" sz="750" b="1" dirty="0">
                  <a:solidFill>
                    <a:schemeClr val="accent6"/>
                  </a:solidFill>
                  <a:latin typeface="+mn-lt"/>
                  <a:ea typeface="+mn-ea"/>
                  <a:cs typeface="+mn-cs"/>
                </a:rPr>
                <a:t>Artifacts</a:t>
              </a:r>
            </a:p>
          </p:txBody>
        </p:sp>
        <p:sp>
          <p:nvSpPr>
            <p:cNvPr id="64" name="TextBox 64"/>
            <p:cNvSpPr txBox="1"/>
            <p:nvPr/>
          </p:nvSpPr>
          <p:spPr>
            <a:xfrm>
              <a:off x="5565323" y="2566988"/>
              <a:ext cx="718453" cy="147638"/>
            </a:xfrm>
            <a:prstGeom prst="rect">
              <a:avLst/>
            </a:prstGeom>
            <a:noFill/>
            <a:ln>
              <a:noFill/>
            </a:ln>
          </p:spPr>
          <p:txBody>
            <a:bodyPr wrap="none" lIns="0" tIns="0" rIns="0" bIns="0" anchor="t" anchorCtr="0">
              <a:spAutoFit/>
            </a:bodyPr>
            <a:lstStyle/>
            <a:p>
              <a:pPr algn="ctr"/>
              <a:r>
                <a:rPr lang="en-US" sz="750" dirty="0">
                  <a:solidFill>
                    <a:srgbClr val="66717D"/>
                  </a:solidFill>
                  <a:latin typeface="+mn-lt"/>
                  <a:ea typeface="+mn-ea"/>
                  <a:cs typeface="+mn-cs"/>
                </a:rPr>
                <a:t>Code · Results</a:t>
              </a:r>
            </a:p>
          </p:txBody>
        </p:sp>
        <p:sp>
          <p:nvSpPr>
            <p:cNvPr id="65" name="Rectangle 65"/>
            <p:cNvSpPr/>
            <p:nvPr/>
          </p:nvSpPr>
          <p:spPr>
            <a:xfrm>
              <a:off x="1924050" y="2771775"/>
              <a:ext cx="4724400" cy="123825"/>
            </a:xfrm>
            <a:prstGeom prst="roundRect">
              <a:avLst>
                <a:gd name="adj" fmla="val 30769"/>
              </a:avLst>
            </a:prstGeom>
            <a:solidFill>
              <a:schemeClr val="accent5"/>
            </a:solidFill>
            <a:ln w="10478">
              <a:solidFill>
                <a:schemeClr val="accent1"/>
              </a:solidFill>
            </a:ln>
          </p:spPr>
        </p:sp>
        <p:sp>
          <p:nvSpPr>
            <p:cNvPr id="66" name="TextBox 66"/>
            <p:cNvSpPr txBox="1"/>
            <p:nvPr/>
          </p:nvSpPr>
          <p:spPr>
            <a:xfrm>
              <a:off x="2896661" y="2786062"/>
              <a:ext cx="2779179" cy="147638"/>
            </a:xfrm>
            <a:prstGeom prst="rect">
              <a:avLst/>
            </a:prstGeom>
            <a:noFill/>
            <a:ln>
              <a:noFill/>
            </a:ln>
          </p:spPr>
          <p:txBody>
            <a:bodyPr wrap="none" lIns="0" tIns="0" rIns="0" bIns="0" anchor="t" anchorCtr="0">
              <a:spAutoFit/>
            </a:bodyPr>
            <a:lstStyle/>
            <a:p>
              <a:pPr algn="ctr"/>
              <a:r>
                <a:rPr lang="en-US" sz="750" b="1" dirty="0">
                  <a:solidFill>
                    <a:schemeClr val="accent6"/>
                  </a:solidFill>
                  <a:latin typeface="+mn-lt"/>
                  <a:ea typeface="+mn-ea"/>
                  <a:cs typeface="+mn-cs"/>
                </a:rPr>
                <a:t>LifeSupervisor · Backlog · Budget · Daemon · Memory</a:t>
              </a:r>
            </a:p>
          </p:txBody>
        </p:sp>
      </p:grpSp>
      <p:grpSp>
        <p:nvGrpSpPr>
          <p:cNvPr id="141" name="Group 141"/>
          <p:cNvGrpSpPr/>
          <p:nvPr/>
        </p:nvGrpSpPr>
        <p:grpSpPr>
          <a:xfrm>
            <a:off x="76200" y="76200"/>
            <a:ext cx="8420100" cy="3524250"/>
            <a:chOff x="76200" y="76200"/>
            <a:chExt cx="8420100" cy="3524250"/>
          </a:xfrm>
        </p:grpSpPr>
        <p:grpSp>
          <p:nvGrpSpPr>
            <p:cNvPr id="140" name="Group 140"/>
            <p:cNvGrpSpPr/>
            <p:nvPr/>
          </p:nvGrpSpPr>
          <p:grpSpPr>
            <a:xfrm>
              <a:off x="76200" y="76200"/>
              <a:ext cx="8420100" cy="3524250"/>
              <a:chOff x="76200" y="76200"/>
              <a:chExt cx="8420100" cy="3524250"/>
            </a:xfrm>
          </p:grpSpPr>
          <p:grpSp>
            <p:nvGrpSpPr>
              <p:cNvPr id="77" name="Group 77"/>
              <p:cNvGrpSpPr/>
              <p:nvPr/>
            </p:nvGrpSpPr>
            <p:grpSpPr>
              <a:xfrm>
                <a:off x="2000250" y="76200"/>
                <a:ext cx="2143125" cy="533400"/>
                <a:chOff x="2000250" y="76200"/>
                <a:chExt cx="2143125" cy="533400"/>
              </a:xfrm>
            </p:grpSpPr>
            <p:sp>
              <p:nvSpPr>
                <p:cNvPr id="68" name="Rectangle 68"/>
                <p:cNvSpPr/>
                <p:nvPr/>
              </p:nvSpPr>
              <p:spPr>
                <a:xfrm>
                  <a:off x="2000250" y="76200"/>
                  <a:ext cx="2143125" cy="533400"/>
                </a:xfrm>
                <a:prstGeom prst="roundRect">
                  <a:avLst>
                    <a:gd name="adj" fmla="val 14286"/>
                  </a:avLst>
                </a:prstGeom>
                <a:solidFill>
                  <a:schemeClr val="accent5"/>
                </a:solidFill>
                <a:ln w="11430">
                  <a:solidFill>
                    <a:schemeClr val="accent2"/>
                  </a:solidFill>
                </a:ln>
              </p:spPr>
            </p:sp>
            <p:sp>
              <p:nvSpPr>
                <p:cNvPr id="69" name="TextBox 69"/>
                <p:cNvSpPr txBox="1"/>
                <p:nvPr/>
              </p:nvSpPr>
              <p:spPr>
                <a:xfrm>
                  <a:off x="2090738" y="131445"/>
                  <a:ext cx="1046913"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SWE-Bench Pro ↑</a:t>
                  </a:r>
                </a:p>
              </p:txBody>
            </p:sp>
            <p:sp>
              <p:nvSpPr>
                <p:cNvPr id="70" name="TextBox 70"/>
                <p:cNvSpPr txBox="1"/>
                <p:nvPr/>
              </p:nvSpPr>
              <p:spPr>
                <a:xfrm>
                  <a:off x="2090738" y="319088"/>
                  <a:ext cx="463058" cy="147638"/>
                </a:xfrm>
                <a:prstGeom prst="rect">
                  <a:avLst/>
                </a:prstGeom>
                <a:noFill/>
                <a:ln>
                  <a:noFill/>
                </a:ln>
              </p:spPr>
              <p:txBody>
                <a:bodyPr wrap="none" lIns="0" tIns="0" rIns="0" bIns="0" anchor="t" anchorCtr="0">
                  <a:spAutoFit/>
                </a:bodyPr>
                <a:lstStyle/>
                <a:p>
                  <a:pPr algn="l"/>
                  <a:r>
                    <a:rPr lang="en-US" sz="750" dirty="0">
                      <a:solidFill>
                        <a:srgbClr val="66717D"/>
                      </a:solidFill>
                      <a:latin typeface="+mn-lt"/>
                      <a:ea typeface="+mn-ea"/>
                      <a:cs typeface="+mn-cs"/>
                    </a:rPr>
                    <a:t>Direct 59</a:t>
                  </a:r>
                </a:p>
              </p:txBody>
            </p:sp>
            <p:sp>
              <p:nvSpPr>
                <p:cNvPr id="71" name="Rectangle 71"/>
                <p:cNvSpPr/>
                <p:nvPr/>
              </p:nvSpPr>
              <p:spPr>
                <a:xfrm>
                  <a:off x="2619375" y="323850"/>
                  <a:ext cx="952500" cy="66675"/>
                </a:xfrm>
                <a:prstGeom prst="roundRect">
                  <a:avLst>
                    <a:gd name="adj" fmla="val 42857"/>
                  </a:avLst>
                </a:prstGeom>
                <a:solidFill>
                  <a:srgbClr val="D8E0E8"/>
                </a:solidFill>
                <a:ln>
                  <a:noFill/>
                </a:ln>
              </p:spPr>
            </p:sp>
            <p:sp>
              <p:nvSpPr>
                <p:cNvPr id="72" name="Rectangle 72"/>
                <p:cNvSpPr/>
                <p:nvPr/>
              </p:nvSpPr>
              <p:spPr>
                <a:xfrm>
                  <a:off x="2619375" y="323850"/>
                  <a:ext cx="561975" cy="66675"/>
                </a:xfrm>
                <a:prstGeom prst="roundRect">
                  <a:avLst>
                    <a:gd name="adj" fmla="val 42857"/>
                  </a:avLst>
                </a:prstGeom>
                <a:solidFill>
                  <a:srgbClr val="66717D"/>
                </a:solidFill>
                <a:ln>
                  <a:noFill/>
                </a:ln>
              </p:spPr>
            </p:sp>
            <p:sp>
              <p:nvSpPr>
                <p:cNvPr id="73" name="TextBox 73"/>
                <p:cNvSpPr txBox="1"/>
                <p:nvPr/>
              </p:nvSpPr>
              <p:spPr>
                <a:xfrm>
                  <a:off x="2090738" y="461962"/>
                  <a:ext cx="454461" cy="147638"/>
                </a:xfrm>
                <a:prstGeom prst="rect">
                  <a:avLst/>
                </a:prstGeom>
                <a:noFill/>
                <a:ln>
                  <a:noFill/>
                </a:ln>
              </p:spPr>
              <p:txBody>
                <a:bodyPr wrap="none" lIns="0" tIns="0" rIns="0" bIns="0" anchor="t" anchorCtr="0">
                  <a:spAutoFit/>
                </a:bodyPr>
                <a:lstStyle/>
                <a:p>
                  <a:pPr algn="l"/>
                  <a:r>
                    <a:rPr lang="en-US" sz="750" b="1" dirty="0">
                      <a:solidFill>
                        <a:schemeClr val="accent2"/>
                      </a:solidFill>
                      <a:latin typeface="+mn-lt"/>
                      <a:ea typeface="+mn-ea"/>
                      <a:cs typeface="+mn-cs"/>
                    </a:rPr>
                    <a:t>Argus 78</a:t>
                  </a:r>
                </a:p>
              </p:txBody>
            </p:sp>
            <p:sp>
              <p:nvSpPr>
                <p:cNvPr id="74" name="Rectangle 74"/>
                <p:cNvSpPr/>
                <p:nvPr/>
              </p:nvSpPr>
              <p:spPr>
                <a:xfrm>
                  <a:off x="2619375" y="466725"/>
                  <a:ext cx="952500" cy="66675"/>
                </a:xfrm>
                <a:prstGeom prst="roundRect">
                  <a:avLst>
                    <a:gd name="adj" fmla="val 42857"/>
                  </a:avLst>
                </a:prstGeom>
                <a:solidFill>
                  <a:srgbClr val="D8E0E8"/>
                </a:solidFill>
                <a:ln>
                  <a:noFill/>
                </a:ln>
              </p:spPr>
            </p:sp>
            <p:sp>
              <p:nvSpPr>
                <p:cNvPr id="75" name="Rectangle 75"/>
                <p:cNvSpPr/>
                <p:nvPr/>
              </p:nvSpPr>
              <p:spPr>
                <a:xfrm>
                  <a:off x="2619375" y="466725"/>
                  <a:ext cx="742950" cy="66675"/>
                </a:xfrm>
                <a:prstGeom prst="roundRect">
                  <a:avLst>
                    <a:gd name="adj" fmla="val 42857"/>
                  </a:avLst>
                </a:prstGeom>
                <a:solidFill>
                  <a:schemeClr val="accent2"/>
                </a:solidFill>
                <a:ln>
                  <a:noFill/>
                </a:ln>
              </p:spPr>
            </p:sp>
            <p:sp>
              <p:nvSpPr>
                <p:cNvPr id="76" name="TextBox 76"/>
                <p:cNvSpPr txBox="1"/>
                <p:nvPr/>
              </p:nvSpPr>
              <p:spPr>
                <a:xfrm>
                  <a:off x="3742301" y="414338"/>
                  <a:ext cx="301061" cy="147638"/>
                </a:xfrm>
                <a:prstGeom prst="rect">
                  <a:avLst/>
                </a:prstGeom>
                <a:noFill/>
                <a:ln>
                  <a:noFill/>
                </a:ln>
              </p:spPr>
              <p:txBody>
                <a:bodyPr wrap="none" lIns="0" tIns="0" rIns="0" bIns="0" anchor="t" anchorCtr="0">
                  <a:spAutoFit/>
                </a:bodyPr>
                <a:lstStyle/>
                <a:p>
                  <a:pPr algn="r"/>
                  <a:r>
                    <a:rPr lang="en-US" sz="750" b="1" dirty="0">
                      <a:solidFill>
                        <a:srgbClr val="C38A20"/>
                      </a:solidFill>
                      <a:latin typeface="+mn-lt"/>
                      <a:ea typeface="+mn-ea"/>
                      <a:cs typeface="+mn-cs"/>
                    </a:rPr>
                    <a:t>1.41×</a:t>
                  </a:r>
                </a:p>
              </p:txBody>
            </p:sp>
          </p:grpSp>
          <p:grpSp>
            <p:nvGrpSpPr>
              <p:cNvPr id="86" name="Group 86"/>
              <p:cNvGrpSpPr/>
              <p:nvPr/>
            </p:nvGrpSpPr>
            <p:grpSpPr>
              <a:xfrm>
                <a:off x="4429125" y="76200"/>
                <a:ext cx="2143125" cy="533400"/>
                <a:chOff x="4429125" y="76200"/>
                <a:chExt cx="2143125" cy="533400"/>
              </a:xfrm>
            </p:grpSpPr>
            <p:sp>
              <p:nvSpPr>
                <p:cNvPr id="78" name="Rectangle 78"/>
                <p:cNvSpPr/>
                <p:nvPr/>
              </p:nvSpPr>
              <p:spPr>
                <a:xfrm>
                  <a:off x="4429125" y="76200"/>
                  <a:ext cx="2143125" cy="533400"/>
                </a:xfrm>
                <a:prstGeom prst="roundRect">
                  <a:avLst>
                    <a:gd name="adj" fmla="val 14286"/>
                  </a:avLst>
                </a:prstGeom>
                <a:solidFill>
                  <a:schemeClr val="accent5"/>
                </a:solidFill>
                <a:ln w="11430">
                  <a:solidFill>
                    <a:srgbClr val="287D70"/>
                  </a:solidFill>
                </a:ln>
              </p:spPr>
            </p:sp>
            <p:sp>
              <p:nvSpPr>
                <p:cNvPr id="79" name="TextBox 79"/>
                <p:cNvSpPr txBox="1"/>
                <p:nvPr/>
              </p:nvSpPr>
              <p:spPr>
                <a:xfrm>
                  <a:off x="4519612" y="131445"/>
                  <a:ext cx="884242"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AARRI-Bench ↑</a:t>
                  </a:r>
                </a:p>
              </p:txBody>
            </p:sp>
            <p:sp>
              <p:nvSpPr>
                <p:cNvPr id="80" name="TextBox 80"/>
                <p:cNvSpPr txBox="1"/>
                <p:nvPr/>
              </p:nvSpPr>
              <p:spPr>
                <a:xfrm>
                  <a:off x="4519612" y="319088"/>
                  <a:ext cx="545592" cy="147638"/>
                </a:xfrm>
                <a:prstGeom prst="rect">
                  <a:avLst/>
                </a:prstGeom>
                <a:noFill/>
                <a:ln>
                  <a:noFill/>
                </a:ln>
              </p:spPr>
              <p:txBody>
                <a:bodyPr wrap="none" lIns="0" tIns="0" rIns="0" bIns="0" anchor="t" anchorCtr="0">
                  <a:spAutoFit/>
                </a:bodyPr>
                <a:lstStyle/>
                <a:p>
                  <a:pPr algn="l"/>
                  <a:r>
                    <a:rPr lang="en-US" sz="750" dirty="0">
                      <a:solidFill>
                        <a:srgbClr val="66717D"/>
                      </a:solidFill>
                      <a:latin typeface="+mn-lt"/>
                      <a:ea typeface="+mn-ea"/>
                      <a:cs typeface="+mn-cs"/>
                    </a:rPr>
                    <a:t>Paper 68.3</a:t>
                  </a:r>
                </a:p>
              </p:txBody>
            </p:sp>
            <p:sp>
              <p:nvSpPr>
                <p:cNvPr id="81" name="Rectangle 81"/>
                <p:cNvSpPr/>
                <p:nvPr/>
              </p:nvSpPr>
              <p:spPr>
                <a:xfrm>
                  <a:off x="5191125" y="323850"/>
                  <a:ext cx="952500" cy="66675"/>
                </a:xfrm>
                <a:prstGeom prst="roundRect">
                  <a:avLst>
                    <a:gd name="adj" fmla="val 42857"/>
                  </a:avLst>
                </a:prstGeom>
                <a:solidFill>
                  <a:srgbClr val="D8E0E8"/>
                </a:solidFill>
                <a:ln>
                  <a:noFill/>
                </a:ln>
              </p:spPr>
            </p:sp>
            <p:sp>
              <p:nvSpPr>
                <p:cNvPr id="82" name="Rectangle 82"/>
                <p:cNvSpPr/>
                <p:nvPr/>
              </p:nvSpPr>
              <p:spPr>
                <a:xfrm>
                  <a:off x="5191125" y="323850"/>
                  <a:ext cx="650558" cy="66675"/>
                </a:xfrm>
                <a:prstGeom prst="roundRect">
                  <a:avLst>
                    <a:gd name="adj" fmla="val 42857"/>
                  </a:avLst>
                </a:prstGeom>
                <a:solidFill>
                  <a:srgbClr val="66717D"/>
                </a:solidFill>
                <a:ln>
                  <a:noFill/>
                </a:ln>
              </p:spPr>
            </p:sp>
            <p:sp>
              <p:nvSpPr>
                <p:cNvPr id="83" name="TextBox 83"/>
                <p:cNvSpPr txBox="1"/>
                <p:nvPr/>
              </p:nvSpPr>
              <p:spPr>
                <a:xfrm>
                  <a:off x="4519612" y="461962"/>
                  <a:ext cx="572395" cy="147638"/>
                </a:xfrm>
                <a:prstGeom prst="rect">
                  <a:avLst/>
                </a:prstGeom>
                <a:noFill/>
                <a:ln>
                  <a:noFill/>
                </a:ln>
              </p:spPr>
              <p:txBody>
                <a:bodyPr wrap="none" lIns="0" tIns="0" rIns="0" bIns="0" anchor="t" anchorCtr="0">
                  <a:spAutoFit/>
                </a:bodyPr>
                <a:lstStyle/>
                <a:p>
                  <a:pPr algn="l"/>
                  <a:r>
                    <a:rPr lang="en-US" sz="750" b="1" dirty="0">
                      <a:solidFill>
                        <a:srgbClr val="287D70"/>
                      </a:solidFill>
                      <a:latin typeface="+mn-lt"/>
                      <a:ea typeface="+mn-ea"/>
                      <a:cs typeface="+mn-cs"/>
                    </a:rPr>
                    <a:t>Argus 76.8</a:t>
                  </a:r>
                </a:p>
              </p:txBody>
            </p:sp>
            <p:sp>
              <p:nvSpPr>
                <p:cNvPr id="84" name="Rectangle 84"/>
                <p:cNvSpPr/>
                <p:nvPr/>
              </p:nvSpPr>
              <p:spPr>
                <a:xfrm>
                  <a:off x="5191125" y="466725"/>
                  <a:ext cx="952500" cy="66675"/>
                </a:xfrm>
                <a:prstGeom prst="roundRect">
                  <a:avLst>
                    <a:gd name="adj" fmla="val 42857"/>
                  </a:avLst>
                </a:prstGeom>
                <a:solidFill>
                  <a:srgbClr val="D8E0E8"/>
                </a:solidFill>
                <a:ln>
                  <a:noFill/>
                </a:ln>
              </p:spPr>
            </p:sp>
            <p:sp>
              <p:nvSpPr>
                <p:cNvPr id="85" name="Rectangle 85"/>
                <p:cNvSpPr/>
                <p:nvPr/>
              </p:nvSpPr>
              <p:spPr>
                <a:xfrm>
                  <a:off x="5191125" y="466725"/>
                  <a:ext cx="731520" cy="66675"/>
                </a:xfrm>
                <a:prstGeom prst="roundRect">
                  <a:avLst>
                    <a:gd name="adj" fmla="val 42857"/>
                  </a:avLst>
                </a:prstGeom>
                <a:solidFill>
                  <a:srgbClr val="287D70"/>
                </a:solidFill>
                <a:ln>
                  <a:noFill/>
                </a:ln>
              </p:spPr>
            </p:sp>
          </p:grpSp>
          <p:grpSp>
            <p:nvGrpSpPr>
              <p:cNvPr id="95" name="Group 95"/>
              <p:cNvGrpSpPr/>
              <p:nvPr/>
            </p:nvGrpSpPr>
            <p:grpSpPr>
              <a:xfrm>
                <a:off x="76200" y="838200"/>
                <a:ext cx="1619250" cy="828675"/>
                <a:chOff x="76200" y="838200"/>
                <a:chExt cx="1619250" cy="828675"/>
              </a:xfrm>
            </p:grpSpPr>
            <p:sp>
              <p:nvSpPr>
                <p:cNvPr id="87" name="Rectangle 87"/>
                <p:cNvSpPr/>
                <p:nvPr/>
              </p:nvSpPr>
              <p:spPr>
                <a:xfrm>
                  <a:off x="76200" y="838200"/>
                  <a:ext cx="1619250" cy="828675"/>
                </a:xfrm>
                <a:prstGeom prst="roundRect">
                  <a:avLst>
                    <a:gd name="adj" fmla="val 9195"/>
                  </a:avLst>
                </a:prstGeom>
                <a:solidFill>
                  <a:schemeClr val="accent5"/>
                </a:solidFill>
                <a:ln w="11430">
                  <a:solidFill>
                    <a:schemeClr val="accent2"/>
                  </a:solidFill>
                </a:ln>
              </p:spPr>
            </p:sp>
            <p:sp>
              <p:nvSpPr>
                <p:cNvPr id="88" name="TextBox 88"/>
                <p:cNvSpPr txBox="1"/>
                <p:nvPr/>
              </p:nvSpPr>
              <p:spPr>
                <a:xfrm>
                  <a:off x="166688" y="912495"/>
                  <a:ext cx="1001649"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nanochat B200 ↓</a:t>
                  </a:r>
                </a:p>
              </p:txBody>
            </p:sp>
            <p:sp>
              <p:nvSpPr>
                <p:cNvPr id="89" name="TextBox 89"/>
                <p:cNvSpPr txBox="1"/>
                <p:nvPr/>
              </p:nvSpPr>
              <p:spPr>
                <a:xfrm>
                  <a:off x="166688" y="1147762"/>
                  <a:ext cx="631363" cy="147638"/>
                </a:xfrm>
                <a:prstGeom prst="rect">
                  <a:avLst/>
                </a:prstGeom>
                <a:noFill/>
                <a:ln>
                  <a:noFill/>
                </a:ln>
              </p:spPr>
              <p:txBody>
                <a:bodyPr wrap="none" lIns="0" tIns="0" rIns="0" bIns="0" anchor="t" anchorCtr="0">
                  <a:spAutoFit/>
                </a:bodyPr>
                <a:lstStyle/>
                <a:p>
                  <a:pPr algn="l"/>
                  <a:r>
                    <a:rPr lang="en-US" sz="750" b="1" dirty="0">
                      <a:solidFill>
                        <a:schemeClr val="accent2"/>
                      </a:solidFill>
                      <a:latin typeface="+mn-lt"/>
                      <a:ea typeface="+mn-ea"/>
                      <a:cs typeface="+mn-cs"/>
                    </a:rPr>
                    <a:t>Argus .9636</a:t>
                  </a:r>
                </a:p>
              </p:txBody>
            </p:sp>
            <p:sp>
              <p:nvSpPr>
                <p:cNvPr id="90" name="Rectangle 90"/>
                <p:cNvSpPr/>
                <p:nvPr/>
              </p:nvSpPr>
              <p:spPr>
                <a:xfrm>
                  <a:off x="171450" y="1285875"/>
                  <a:ext cx="1333500" cy="76200"/>
                </a:xfrm>
                <a:prstGeom prst="roundRect">
                  <a:avLst>
                    <a:gd name="adj" fmla="val 37500"/>
                  </a:avLst>
                </a:prstGeom>
                <a:solidFill>
                  <a:srgbClr val="D8E0E8"/>
                </a:solidFill>
                <a:ln>
                  <a:noFill/>
                </a:ln>
              </p:spPr>
            </p:sp>
            <p:sp>
              <p:nvSpPr>
                <p:cNvPr id="91" name="Rectangle 91"/>
                <p:cNvSpPr/>
                <p:nvPr/>
              </p:nvSpPr>
              <p:spPr>
                <a:xfrm>
                  <a:off x="171450" y="1285875"/>
                  <a:ext cx="800100" cy="76200"/>
                </a:xfrm>
                <a:prstGeom prst="roundRect">
                  <a:avLst>
                    <a:gd name="adj" fmla="val 37500"/>
                  </a:avLst>
                </a:prstGeom>
                <a:solidFill>
                  <a:schemeClr val="accent2"/>
                </a:solidFill>
                <a:ln>
                  <a:noFill/>
                </a:ln>
              </p:spPr>
            </p:sp>
            <p:sp>
              <p:nvSpPr>
                <p:cNvPr id="92" name="TextBox 92"/>
                <p:cNvSpPr txBox="1"/>
                <p:nvPr/>
              </p:nvSpPr>
              <p:spPr>
                <a:xfrm>
                  <a:off x="166688" y="1423988"/>
                  <a:ext cx="622173" cy="147638"/>
                </a:xfrm>
                <a:prstGeom prst="rect">
                  <a:avLst/>
                </a:prstGeom>
                <a:noFill/>
                <a:ln>
                  <a:noFill/>
                </a:ln>
              </p:spPr>
              <p:txBody>
                <a:bodyPr wrap="none" lIns="0" tIns="0" rIns="0" bIns="0" anchor="t" anchorCtr="0">
                  <a:spAutoFit/>
                </a:bodyPr>
                <a:lstStyle/>
                <a:p>
                  <a:pPr algn="l"/>
                  <a:r>
                    <a:rPr lang="en-US" sz="750" dirty="0">
                      <a:solidFill>
                        <a:srgbClr val="66717D"/>
                      </a:solidFill>
                      <a:latin typeface="+mn-lt"/>
                      <a:ea typeface="+mn-ea"/>
                      <a:cs typeface="+mn-cs"/>
                    </a:rPr>
                    <a:t>Human .9646</a:t>
                  </a:r>
                </a:p>
              </p:txBody>
            </p:sp>
            <p:sp>
              <p:nvSpPr>
                <p:cNvPr id="93" name="Rectangle 93"/>
                <p:cNvSpPr/>
                <p:nvPr/>
              </p:nvSpPr>
              <p:spPr>
                <a:xfrm>
                  <a:off x="171450" y="1562100"/>
                  <a:ext cx="1333500" cy="66675"/>
                </a:xfrm>
                <a:prstGeom prst="roundRect">
                  <a:avLst>
                    <a:gd name="adj" fmla="val 42857"/>
                  </a:avLst>
                </a:prstGeom>
                <a:solidFill>
                  <a:srgbClr val="D8E0E8"/>
                </a:solidFill>
                <a:ln>
                  <a:noFill/>
                </a:ln>
              </p:spPr>
            </p:sp>
            <p:sp>
              <p:nvSpPr>
                <p:cNvPr id="94" name="Rectangle 94"/>
                <p:cNvSpPr/>
                <p:nvPr/>
              </p:nvSpPr>
              <p:spPr>
                <a:xfrm>
                  <a:off x="171450" y="1562100"/>
                  <a:ext cx="1022032" cy="66675"/>
                </a:xfrm>
                <a:prstGeom prst="roundRect">
                  <a:avLst>
                    <a:gd name="adj" fmla="val 42857"/>
                  </a:avLst>
                </a:prstGeom>
                <a:solidFill>
                  <a:srgbClr val="66717D"/>
                </a:solidFill>
                <a:ln>
                  <a:noFill/>
                </a:ln>
              </p:spPr>
            </p:sp>
          </p:grpSp>
          <p:grpSp>
            <p:nvGrpSpPr>
              <p:cNvPr id="104" name="Group 104"/>
              <p:cNvGrpSpPr/>
              <p:nvPr/>
            </p:nvGrpSpPr>
            <p:grpSpPr>
              <a:xfrm>
                <a:off x="76200" y="1819275"/>
                <a:ext cx="1619250" cy="828675"/>
                <a:chOff x="76200" y="1819275"/>
                <a:chExt cx="1619250" cy="828675"/>
              </a:xfrm>
            </p:grpSpPr>
            <p:sp>
              <p:nvSpPr>
                <p:cNvPr id="96" name="Rectangle 96"/>
                <p:cNvSpPr/>
                <p:nvPr/>
              </p:nvSpPr>
              <p:spPr>
                <a:xfrm>
                  <a:off x="76200" y="1819275"/>
                  <a:ext cx="1619250" cy="828675"/>
                </a:xfrm>
                <a:prstGeom prst="roundRect">
                  <a:avLst>
                    <a:gd name="adj" fmla="val 9195"/>
                  </a:avLst>
                </a:prstGeom>
                <a:solidFill>
                  <a:schemeClr val="accent5"/>
                </a:solidFill>
                <a:ln w="11430">
                  <a:solidFill>
                    <a:srgbClr val="287D70"/>
                  </a:solidFill>
                </a:ln>
              </p:spPr>
            </p:sp>
            <p:sp>
              <p:nvSpPr>
                <p:cNvPr id="97" name="TextBox 97"/>
                <p:cNvSpPr txBox="1"/>
                <p:nvPr/>
              </p:nvSpPr>
              <p:spPr>
                <a:xfrm>
                  <a:off x="166688" y="1893570"/>
                  <a:ext cx="1001649"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nanochat H100 ↓</a:t>
                  </a:r>
                </a:p>
              </p:txBody>
            </p:sp>
            <p:sp>
              <p:nvSpPr>
                <p:cNvPr id="98" name="TextBox 98"/>
                <p:cNvSpPr txBox="1"/>
                <p:nvPr/>
              </p:nvSpPr>
              <p:spPr>
                <a:xfrm>
                  <a:off x="166688" y="2128838"/>
                  <a:ext cx="631363" cy="147638"/>
                </a:xfrm>
                <a:prstGeom prst="rect">
                  <a:avLst/>
                </a:prstGeom>
                <a:noFill/>
                <a:ln>
                  <a:noFill/>
                </a:ln>
              </p:spPr>
              <p:txBody>
                <a:bodyPr wrap="none" lIns="0" tIns="0" rIns="0" bIns="0" anchor="t" anchorCtr="0">
                  <a:spAutoFit/>
                </a:bodyPr>
                <a:lstStyle/>
                <a:p>
                  <a:pPr algn="l"/>
                  <a:r>
                    <a:rPr lang="en-US" sz="750" b="1" dirty="0">
                      <a:solidFill>
                        <a:srgbClr val="287D70"/>
                      </a:solidFill>
                      <a:latin typeface="+mn-lt"/>
                      <a:ea typeface="+mn-ea"/>
                      <a:cs typeface="+mn-cs"/>
                    </a:rPr>
                    <a:t>Argus .9855</a:t>
                  </a:r>
                </a:p>
              </p:txBody>
            </p:sp>
            <p:sp>
              <p:nvSpPr>
                <p:cNvPr id="99" name="Rectangle 99"/>
                <p:cNvSpPr/>
                <p:nvPr/>
              </p:nvSpPr>
              <p:spPr>
                <a:xfrm>
                  <a:off x="171450" y="2266950"/>
                  <a:ext cx="1333500" cy="76200"/>
                </a:xfrm>
                <a:prstGeom prst="roundRect">
                  <a:avLst>
                    <a:gd name="adj" fmla="val 37500"/>
                  </a:avLst>
                </a:prstGeom>
                <a:solidFill>
                  <a:srgbClr val="D8E0E8"/>
                </a:solidFill>
                <a:ln>
                  <a:noFill/>
                </a:ln>
              </p:spPr>
            </p:sp>
            <p:sp>
              <p:nvSpPr>
                <p:cNvPr id="100" name="Rectangle 100"/>
                <p:cNvSpPr/>
                <p:nvPr/>
              </p:nvSpPr>
              <p:spPr>
                <a:xfrm>
                  <a:off x="171450" y="2266950"/>
                  <a:ext cx="400050" cy="76200"/>
                </a:xfrm>
                <a:prstGeom prst="roundRect">
                  <a:avLst>
                    <a:gd name="adj" fmla="val 37500"/>
                  </a:avLst>
                </a:prstGeom>
                <a:solidFill>
                  <a:srgbClr val="287D70"/>
                </a:solidFill>
                <a:ln>
                  <a:noFill/>
                </a:ln>
              </p:spPr>
            </p:sp>
            <p:sp>
              <p:nvSpPr>
                <p:cNvPr id="101" name="TextBox 101"/>
                <p:cNvSpPr txBox="1"/>
                <p:nvPr/>
              </p:nvSpPr>
              <p:spPr>
                <a:xfrm>
                  <a:off x="166688" y="2405062"/>
                  <a:ext cx="622173" cy="147638"/>
                </a:xfrm>
                <a:prstGeom prst="rect">
                  <a:avLst/>
                </a:prstGeom>
                <a:noFill/>
                <a:ln>
                  <a:noFill/>
                </a:ln>
              </p:spPr>
              <p:txBody>
                <a:bodyPr wrap="none" lIns="0" tIns="0" rIns="0" bIns="0" anchor="t" anchorCtr="0">
                  <a:spAutoFit/>
                </a:bodyPr>
                <a:lstStyle/>
                <a:p>
                  <a:pPr algn="l"/>
                  <a:r>
                    <a:rPr lang="en-US" sz="750" dirty="0">
                      <a:solidFill>
                        <a:srgbClr val="66717D"/>
                      </a:solidFill>
                      <a:latin typeface="+mn-lt"/>
                      <a:ea typeface="+mn-ea"/>
                      <a:cs typeface="+mn-cs"/>
                    </a:rPr>
                    <a:t>Human .9879</a:t>
                  </a:r>
                </a:p>
              </p:txBody>
            </p:sp>
            <p:sp>
              <p:nvSpPr>
                <p:cNvPr id="102" name="Rectangle 102"/>
                <p:cNvSpPr/>
                <p:nvPr/>
              </p:nvSpPr>
              <p:spPr>
                <a:xfrm>
                  <a:off x="171450" y="2543175"/>
                  <a:ext cx="1333500" cy="66675"/>
                </a:xfrm>
                <a:prstGeom prst="roundRect">
                  <a:avLst>
                    <a:gd name="adj" fmla="val 42857"/>
                  </a:avLst>
                </a:prstGeom>
                <a:solidFill>
                  <a:srgbClr val="D8E0E8"/>
                </a:solidFill>
                <a:ln>
                  <a:noFill/>
                </a:ln>
              </p:spPr>
            </p:sp>
            <p:sp>
              <p:nvSpPr>
                <p:cNvPr id="103" name="Rectangle 103"/>
                <p:cNvSpPr/>
                <p:nvPr/>
              </p:nvSpPr>
              <p:spPr>
                <a:xfrm>
                  <a:off x="171450" y="2543175"/>
                  <a:ext cx="1040130" cy="66675"/>
                </a:xfrm>
                <a:prstGeom prst="roundRect">
                  <a:avLst>
                    <a:gd name="adj" fmla="val 42857"/>
                  </a:avLst>
                </a:prstGeom>
                <a:solidFill>
                  <a:srgbClr val="66717D"/>
                </a:solidFill>
                <a:ln>
                  <a:noFill/>
                </a:ln>
              </p:spPr>
            </p:sp>
          </p:grpSp>
          <p:grpSp>
            <p:nvGrpSpPr>
              <p:cNvPr id="113" name="Group 113"/>
              <p:cNvGrpSpPr/>
              <p:nvPr/>
            </p:nvGrpSpPr>
            <p:grpSpPr>
              <a:xfrm>
                <a:off x="6877050" y="838200"/>
                <a:ext cx="1619250" cy="828675"/>
                <a:chOff x="6877050" y="838200"/>
                <a:chExt cx="1619250" cy="828675"/>
              </a:xfrm>
            </p:grpSpPr>
            <p:sp>
              <p:nvSpPr>
                <p:cNvPr id="105" name="Rectangle 105"/>
                <p:cNvSpPr/>
                <p:nvPr/>
              </p:nvSpPr>
              <p:spPr>
                <a:xfrm>
                  <a:off x="6877050" y="838200"/>
                  <a:ext cx="1619250" cy="828675"/>
                </a:xfrm>
                <a:prstGeom prst="roundRect">
                  <a:avLst>
                    <a:gd name="adj" fmla="val 9195"/>
                  </a:avLst>
                </a:prstGeom>
                <a:solidFill>
                  <a:schemeClr val="accent5"/>
                </a:solidFill>
                <a:ln w="11430">
                  <a:solidFill>
                    <a:schemeClr val="accent2"/>
                  </a:solidFill>
                </a:ln>
              </p:spPr>
            </p:sp>
            <p:sp>
              <p:nvSpPr>
                <p:cNvPr id="106" name="TextBox 106"/>
                <p:cNvSpPr txBox="1"/>
                <p:nvPr/>
              </p:nvSpPr>
              <p:spPr>
                <a:xfrm>
                  <a:off x="6967538" y="912495"/>
                  <a:ext cx="621944"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nanoGPT ↓</a:t>
                  </a:r>
                </a:p>
              </p:txBody>
            </p:sp>
            <p:sp>
              <p:nvSpPr>
                <p:cNvPr id="107" name="TextBox 107"/>
                <p:cNvSpPr txBox="1"/>
                <p:nvPr/>
              </p:nvSpPr>
              <p:spPr>
                <a:xfrm>
                  <a:off x="6967538" y="1147762"/>
                  <a:ext cx="721164" cy="147638"/>
                </a:xfrm>
                <a:prstGeom prst="rect">
                  <a:avLst/>
                </a:prstGeom>
                <a:noFill/>
                <a:ln>
                  <a:noFill/>
                </a:ln>
              </p:spPr>
              <p:txBody>
                <a:bodyPr wrap="none" lIns="0" tIns="0" rIns="0" bIns="0" anchor="t" anchorCtr="0">
                  <a:spAutoFit/>
                </a:bodyPr>
                <a:lstStyle/>
                <a:p>
                  <a:pPr algn="l"/>
                  <a:r>
                    <a:rPr lang="en-US" sz="750" b="1" dirty="0">
                      <a:solidFill>
                        <a:schemeClr val="accent2"/>
                      </a:solidFill>
                      <a:latin typeface="+mn-lt"/>
                      <a:ea typeface="+mn-ea"/>
                      <a:cs typeface="+mn-cs"/>
                    </a:rPr>
                    <a:t>Argus 79.77 s</a:t>
                  </a:r>
                </a:p>
              </p:txBody>
            </p:sp>
            <p:sp>
              <p:nvSpPr>
                <p:cNvPr id="108" name="Rectangle 108"/>
                <p:cNvSpPr/>
                <p:nvPr/>
              </p:nvSpPr>
              <p:spPr>
                <a:xfrm>
                  <a:off x="6972300" y="1285875"/>
                  <a:ext cx="1333500" cy="76200"/>
                </a:xfrm>
                <a:prstGeom prst="roundRect">
                  <a:avLst>
                    <a:gd name="adj" fmla="val 37500"/>
                  </a:avLst>
                </a:prstGeom>
                <a:solidFill>
                  <a:srgbClr val="D8E0E8"/>
                </a:solidFill>
                <a:ln>
                  <a:noFill/>
                </a:ln>
              </p:spPr>
            </p:sp>
            <p:sp>
              <p:nvSpPr>
                <p:cNvPr id="109" name="Rectangle 109"/>
                <p:cNvSpPr/>
                <p:nvPr/>
              </p:nvSpPr>
              <p:spPr>
                <a:xfrm>
                  <a:off x="6972300" y="1285875"/>
                  <a:ext cx="360045" cy="76200"/>
                </a:xfrm>
                <a:prstGeom prst="roundRect">
                  <a:avLst>
                    <a:gd name="adj" fmla="val 37500"/>
                  </a:avLst>
                </a:prstGeom>
                <a:solidFill>
                  <a:schemeClr val="accent2"/>
                </a:solidFill>
                <a:ln>
                  <a:noFill/>
                </a:ln>
              </p:spPr>
            </p:sp>
            <p:sp>
              <p:nvSpPr>
                <p:cNvPr id="110" name="TextBox 110"/>
                <p:cNvSpPr txBox="1"/>
                <p:nvPr/>
              </p:nvSpPr>
              <p:spPr>
                <a:xfrm>
                  <a:off x="6967538" y="1423988"/>
                  <a:ext cx="707660" cy="147638"/>
                </a:xfrm>
                <a:prstGeom prst="rect">
                  <a:avLst/>
                </a:prstGeom>
                <a:noFill/>
                <a:ln>
                  <a:noFill/>
                </a:ln>
              </p:spPr>
              <p:txBody>
                <a:bodyPr wrap="none" lIns="0" tIns="0" rIns="0" bIns="0" anchor="t" anchorCtr="0">
                  <a:spAutoFit/>
                </a:bodyPr>
                <a:lstStyle/>
                <a:p>
                  <a:pPr algn="l"/>
                  <a:r>
                    <a:rPr lang="en-US" sz="750" dirty="0">
                      <a:solidFill>
                        <a:srgbClr val="66717D"/>
                      </a:solidFill>
                      <a:latin typeface="+mn-lt"/>
                      <a:ea typeface="+mn-ea"/>
                      <a:cs typeface="+mn-cs"/>
                    </a:rPr>
                    <a:t>Human 80.18 s</a:t>
                  </a:r>
                </a:p>
              </p:txBody>
            </p:sp>
            <p:sp>
              <p:nvSpPr>
                <p:cNvPr id="111" name="Rectangle 111"/>
                <p:cNvSpPr/>
                <p:nvPr/>
              </p:nvSpPr>
              <p:spPr>
                <a:xfrm>
                  <a:off x="6972300" y="1562100"/>
                  <a:ext cx="1333500" cy="66675"/>
                </a:xfrm>
                <a:prstGeom prst="roundRect">
                  <a:avLst>
                    <a:gd name="adj" fmla="val 42857"/>
                  </a:avLst>
                </a:prstGeom>
                <a:solidFill>
                  <a:srgbClr val="D8E0E8"/>
                </a:solidFill>
                <a:ln>
                  <a:noFill/>
                </a:ln>
              </p:spPr>
            </p:sp>
            <p:sp>
              <p:nvSpPr>
                <p:cNvPr id="112" name="Rectangle 112"/>
                <p:cNvSpPr/>
                <p:nvPr/>
              </p:nvSpPr>
              <p:spPr>
                <a:xfrm>
                  <a:off x="6972300" y="1562100"/>
                  <a:ext cx="906780" cy="66675"/>
                </a:xfrm>
                <a:prstGeom prst="roundRect">
                  <a:avLst>
                    <a:gd name="adj" fmla="val 42857"/>
                  </a:avLst>
                </a:prstGeom>
                <a:solidFill>
                  <a:srgbClr val="66717D"/>
                </a:solidFill>
                <a:ln>
                  <a:noFill/>
                </a:ln>
              </p:spPr>
            </p:sp>
          </p:grpSp>
          <p:grpSp>
            <p:nvGrpSpPr>
              <p:cNvPr id="123" name="Group 123"/>
              <p:cNvGrpSpPr/>
              <p:nvPr/>
            </p:nvGrpSpPr>
            <p:grpSpPr>
              <a:xfrm>
                <a:off x="6877050" y="1819275"/>
                <a:ext cx="1619250" cy="838201"/>
                <a:chOff x="6877050" y="1819275"/>
                <a:chExt cx="1619250" cy="838201"/>
              </a:xfrm>
            </p:grpSpPr>
            <p:sp>
              <p:nvSpPr>
                <p:cNvPr id="114" name="Rectangle 114"/>
                <p:cNvSpPr/>
                <p:nvPr/>
              </p:nvSpPr>
              <p:spPr>
                <a:xfrm>
                  <a:off x="6877050" y="1819275"/>
                  <a:ext cx="1619250" cy="828675"/>
                </a:xfrm>
                <a:prstGeom prst="roundRect">
                  <a:avLst>
                    <a:gd name="adj" fmla="val 9195"/>
                  </a:avLst>
                </a:prstGeom>
                <a:solidFill>
                  <a:schemeClr val="accent5"/>
                </a:solidFill>
                <a:ln w="11430">
                  <a:solidFill>
                    <a:srgbClr val="C38A20"/>
                  </a:solidFill>
                </a:ln>
              </p:spPr>
            </p:sp>
            <p:sp>
              <p:nvSpPr>
                <p:cNvPr id="115" name="TextBox 115"/>
                <p:cNvSpPr txBox="1"/>
                <p:nvPr/>
              </p:nvSpPr>
              <p:spPr>
                <a:xfrm>
                  <a:off x="6967538" y="1893570"/>
                  <a:ext cx="966615"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SOL-ExecBench</a:t>
                  </a:r>
                </a:p>
              </p:txBody>
            </p:sp>
            <p:sp>
              <p:nvSpPr>
                <p:cNvPr id="116" name="TextBox 116"/>
                <p:cNvSpPr txBox="1"/>
                <p:nvPr/>
              </p:nvSpPr>
              <p:spPr>
                <a:xfrm>
                  <a:off x="8256350" y="1893570"/>
                  <a:ext cx="149462" cy="176212"/>
                </a:xfrm>
                <a:prstGeom prst="rect">
                  <a:avLst/>
                </a:prstGeom>
                <a:noFill/>
                <a:ln>
                  <a:noFill/>
                </a:ln>
              </p:spPr>
              <p:txBody>
                <a:bodyPr wrap="none" lIns="0" tIns="0" rIns="0" bIns="0" anchor="t" anchorCtr="0">
                  <a:spAutoFit/>
                </a:bodyPr>
                <a:lstStyle/>
                <a:p>
                  <a:pPr algn="r"/>
                  <a:r>
                    <a:rPr lang="en-US" sz="900" b="1" dirty="0">
                      <a:solidFill>
                        <a:srgbClr val="C38A20"/>
                      </a:solidFill>
                      <a:latin typeface="+mn-lt"/>
                      <a:ea typeface="+mn-ea"/>
                      <a:cs typeface="+mn-cs"/>
                    </a:rPr>
                    <a:t>#6</a:t>
                  </a:r>
                </a:p>
              </p:txBody>
            </p:sp>
            <p:sp>
              <p:nvSpPr>
                <p:cNvPr id="117" name="TextBox 117"/>
                <p:cNvSpPr txBox="1"/>
                <p:nvPr/>
              </p:nvSpPr>
              <p:spPr>
                <a:xfrm>
                  <a:off x="6966585" y="2088356"/>
                  <a:ext cx="581357" cy="220028"/>
                </a:xfrm>
                <a:prstGeom prst="rect">
                  <a:avLst/>
                </a:prstGeom>
                <a:noFill/>
                <a:ln>
                  <a:noFill/>
                </a:ln>
              </p:spPr>
              <p:txBody>
                <a:bodyPr wrap="none" lIns="0" tIns="0" rIns="0" bIns="0" anchor="t" anchorCtr="0">
                  <a:spAutoFit/>
                </a:bodyPr>
                <a:lstStyle/>
                <a:p>
                  <a:pPr algn="l"/>
                  <a:r>
                    <a:rPr lang="en-US" sz="1120" b="1" dirty="0">
                      <a:solidFill>
                        <a:srgbClr val="C38A20"/>
                      </a:solidFill>
                      <a:latin typeface="+mn-lt"/>
                      <a:ea typeface="+mn-ea"/>
                      <a:cs typeface="+mn-cs"/>
                    </a:rPr>
                    <a:t>7 top-3</a:t>
                  </a:r>
                </a:p>
              </p:txBody>
            </p:sp>
            <p:sp>
              <p:nvSpPr>
                <p:cNvPr id="118" name="Rectangle 118"/>
                <p:cNvSpPr/>
                <p:nvPr/>
              </p:nvSpPr>
              <p:spPr>
                <a:xfrm>
                  <a:off x="6972300" y="2314575"/>
                  <a:ext cx="1333500" cy="123825"/>
                </a:xfrm>
                <a:prstGeom prst="roundRect">
                  <a:avLst>
                    <a:gd name="adj" fmla="val 30769"/>
                  </a:avLst>
                </a:prstGeom>
                <a:solidFill>
                  <a:srgbClr val="D8E0E8"/>
                </a:solidFill>
                <a:ln>
                  <a:noFill/>
                </a:ln>
              </p:spPr>
            </p:sp>
            <p:sp>
              <p:nvSpPr>
                <p:cNvPr id="119" name="Rectangle 119"/>
                <p:cNvSpPr/>
                <p:nvPr/>
              </p:nvSpPr>
              <p:spPr>
                <a:xfrm>
                  <a:off x="6972300" y="2314575"/>
                  <a:ext cx="381000" cy="123825"/>
                </a:xfrm>
                <a:prstGeom prst="roundRect">
                  <a:avLst>
                    <a:gd name="adj" fmla="val 30769"/>
                  </a:avLst>
                </a:prstGeom>
                <a:solidFill>
                  <a:schemeClr val="accent2"/>
                </a:solidFill>
                <a:ln>
                  <a:noFill/>
                </a:ln>
              </p:spPr>
            </p:sp>
            <p:sp>
              <p:nvSpPr>
                <p:cNvPr id="120" name="Rectangle 120"/>
                <p:cNvSpPr/>
                <p:nvPr/>
              </p:nvSpPr>
              <p:spPr>
                <a:xfrm>
                  <a:off x="7353300" y="2314575"/>
                  <a:ext cx="952500" cy="123825"/>
                </a:xfrm>
                <a:prstGeom prst="roundRect">
                  <a:avLst>
                    <a:gd name="adj" fmla="val 30769"/>
                  </a:avLst>
                </a:prstGeom>
                <a:solidFill>
                  <a:srgbClr val="287D70"/>
                </a:solidFill>
                <a:ln>
                  <a:noFill/>
                </a:ln>
              </p:spPr>
            </p:sp>
            <p:sp>
              <p:nvSpPr>
                <p:cNvPr id="121" name="TextBox 121"/>
                <p:cNvSpPr txBox="1"/>
                <p:nvPr/>
              </p:nvSpPr>
              <p:spPr>
                <a:xfrm>
                  <a:off x="6967538" y="2509838"/>
                  <a:ext cx="327565" cy="147638"/>
                </a:xfrm>
                <a:prstGeom prst="rect">
                  <a:avLst/>
                </a:prstGeom>
                <a:noFill/>
                <a:ln>
                  <a:noFill/>
                </a:ln>
              </p:spPr>
              <p:txBody>
                <a:bodyPr wrap="none" lIns="0" tIns="0" rIns="0" bIns="0" anchor="t" anchorCtr="0">
                  <a:spAutoFit/>
                </a:bodyPr>
                <a:lstStyle/>
                <a:p>
                  <a:pPr algn="l"/>
                  <a:r>
                    <a:rPr lang="en-US" sz="750" b="1" dirty="0">
                      <a:solidFill>
                        <a:schemeClr val="accent2"/>
                      </a:solidFill>
                      <a:latin typeface="+mn-lt"/>
                      <a:ea typeface="+mn-ea"/>
                      <a:cs typeface="+mn-cs"/>
                    </a:rPr>
                    <a:t>2 wins</a:t>
                  </a:r>
                </a:p>
              </p:txBody>
            </p:sp>
            <p:sp>
              <p:nvSpPr>
                <p:cNvPr id="122" name="TextBox 122"/>
                <p:cNvSpPr txBox="1"/>
                <p:nvPr/>
              </p:nvSpPr>
              <p:spPr>
                <a:xfrm>
                  <a:off x="7835932" y="2509838"/>
                  <a:ext cx="569881" cy="147638"/>
                </a:xfrm>
                <a:prstGeom prst="rect">
                  <a:avLst/>
                </a:prstGeom>
                <a:noFill/>
                <a:ln>
                  <a:noFill/>
                </a:ln>
              </p:spPr>
              <p:txBody>
                <a:bodyPr wrap="none" lIns="0" tIns="0" rIns="0" bIns="0" anchor="t" anchorCtr="0">
                  <a:spAutoFit/>
                </a:bodyPr>
                <a:lstStyle/>
                <a:p>
                  <a:pPr algn="r"/>
                  <a:r>
                    <a:rPr lang="en-US" sz="750" dirty="0">
                      <a:solidFill>
                        <a:srgbClr val="66717D"/>
                      </a:solidFill>
                      <a:latin typeface="+mn-lt"/>
                      <a:ea typeface="+mn-ea"/>
                      <a:cs typeface="+mn-cs"/>
                    </a:rPr>
                    <a:t>101 kernels</a:t>
                  </a:r>
                </a:p>
              </p:txBody>
            </p:sp>
          </p:grpSp>
          <p:grpSp>
            <p:nvGrpSpPr>
              <p:cNvPr id="139" name="Group 139"/>
              <p:cNvGrpSpPr/>
              <p:nvPr/>
            </p:nvGrpSpPr>
            <p:grpSpPr>
              <a:xfrm>
                <a:off x="2381250" y="3009900"/>
                <a:ext cx="3810000" cy="590550"/>
                <a:chOff x="2381250" y="3009900"/>
                <a:chExt cx="3810000" cy="590550"/>
              </a:xfrm>
            </p:grpSpPr>
            <p:sp>
              <p:nvSpPr>
                <p:cNvPr id="124" name="Rectangle 124"/>
                <p:cNvSpPr/>
                <p:nvPr/>
              </p:nvSpPr>
              <p:spPr>
                <a:xfrm>
                  <a:off x="2381250" y="3009900"/>
                  <a:ext cx="3810000" cy="561975"/>
                </a:xfrm>
                <a:prstGeom prst="roundRect">
                  <a:avLst>
                    <a:gd name="adj" fmla="val 13559"/>
                  </a:avLst>
                </a:prstGeom>
                <a:solidFill>
                  <a:schemeClr val="accent5"/>
                </a:solidFill>
                <a:ln w="11430">
                  <a:solidFill>
                    <a:srgbClr val="287D70"/>
                  </a:solidFill>
                </a:ln>
              </p:spPr>
            </p:sp>
            <p:sp>
              <p:nvSpPr>
                <p:cNvPr id="125" name="TextBox 125"/>
                <p:cNvSpPr txBox="1"/>
                <p:nvPr/>
              </p:nvSpPr>
              <p:spPr>
                <a:xfrm>
                  <a:off x="2490788" y="3093720"/>
                  <a:ext cx="746192" cy="176212"/>
                </a:xfrm>
                <a:prstGeom prst="rect">
                  <a:avLst/>
                </a:prstGeom>
                <a:noFill/>
                <a:ln>
                  <a:noFill/>
                </a:ln>
              </p:spPr>
              <p:txBody>
                <a:bodyPr wrap="none" lIns="0" tIns="0" rIns="0" bIns="0" anchor="t" anchorCtr="0">
                  <a:spAutoFit/>
                </a:bodyPr>
                <a:lstStyle/>
                <a:p>
                  <a:pPr algn="l"/>
                  <a:r>
                    <a:rPr lang="en-US" sz="900" b="1" dirty="0">
                      <a:solidFill>
                        <a:schemeClr val="accent6"/>
                      </a:solidFill>
                      <a:latin typeface="+mn-lt"/>
                      <a:ea typeface="+mn-ea"/>
                      <a:cs typeface="+mn-cs"/>
                    </a:rPr>
                    <a:t>Math data ↑</a:t>
                  </a:r>
                </a:p>
              </p:txBody>
            </p:sp>
            <p:sp>
              <p:nvSpPr>
                <p:cNvPr id="126" name="Line 126"/>
                <p:cNvSpPr/>
                <p:nvPr/>
              </p:nvSpPr>
              <p:spPr>
                <a:xfrm>
                  <a:off x="3286125" y="3476625"/>
                  <a:ext cx="2762250" cy="9525"/>
                </a:xfrm>
                <a:custGeom>
                  <a:avLst/>
                  <a:gdLst/>
                  <a:ahLst/>
                  <a:cxnLst/>
                  <a:rect l="l" t="t" r="r" b="b"/>
                  <a:pathLst>
                    <a:path w="2762250" h="9525">
                      <a:moveTo>
                        <a:pt x="0" y="0"/>
                      </a:moveTo>
                      <a:lnTo>
                        <a:pt x="2762250" y="0"/>
                      </a:lnTo>
                    </a:path>
                  </a:pathLst>
                </a:custGeom>
                <a:noFill/>
                <a:ln w="9525">
                  <a:solidFill>
                    <a:srgbClr val="D8E0E8"/>
                  </a:solidFill>
                </a:ln>
              </p:spPr>
            </p:sp>
            <p:sp>
              <p:nvSpPr>
                <p:cNvPr id="127" name="Rectangle 127"/>
                <p:cNvSpPr/>
                <p:nvPr/>
              </p:nvSpPr>
              <p:spPr>
                <a:xfrm>
                  <a:off x="3476625" y="3209925"/>
                  <a:ext cx="266700" cy="266700"/>
                </a:xfrm>
                <a:prstGeom prst="roundRect">
                  <a:avLst>
                    <a:gd name="adj" fmla="val 10714"/>
                  </a:avLst>
                </a:prstGeom>
                <a:solidFill>
                  <a:srgbClr val="287D70"/>
                </a:solidFill>
                <a:ln>
                  <a:noFill/>
                </a:ln>
              </p:spPr>
            </p:sp>
            <p:sp>
              <p:nvSpPr>
                <p:cNvPr id="128" name="Rectangle 128"/>
                <p:cNvSpPr/>
                <p:nvPr/>
              </p:nvSpPr>
              <p:spPr>
                <a:xfrm>
                  <a:off x="4143375" y="3276600"/>
                  <a:ext cx="266700" cy="200025"/>
                </a:xfrm>
                <a:prstGeom prst="roundRect">
                  <a:avLst>
                    <a:gd name="adj" fmla="val 14286"/>
                  </a:avLst>
                </a:prstGeom>
                <a:solidFill>
                  <a:srgbClr val="C38A20"/>
                </a:solidFill>
                <a:ln>
                  <a:noFill/>
                </a:ln>
              </p:spPr>
            </p:sp>
            <p:sp>
              <p:nvSpPr>
                <p:cNvPr id="129" name="Rectangle 129"/>
                <p:cNvSpPr/>
                <p:nvPr/>
              </p:nvSpPr>
              <p:spPr>
                <a:xfrm>
                  <a:off x="4810125" y="3400425"/>
                  <a:ext cx="266700" cy="76200"/>
                </a:xfrm>
                <a:prstGeom prst="roundRect">
                  <a:avLst>
                    <a:gd name="adj" fmla="val 37500"/>
                  </a:avLst>
                </a:prstGeom>
                <a:solidFill>
                  <a:schemeClr val="accent2"/>
                </a:solidFill>
                <a:ln>
                  <a:noFill/>
                </a:ln>
              </p:spPr>
            </p:sp>
            <p:sp>
              <p:nvSpPr>
                <p:cNvPr id="130" name="Rectangle 130"/>
                <p:cNvSpPr/>
                <p:nvPr/>
              </p:nvSpPr>
              <p:spPr>
                <a:xfrm>
                  <a:off x="5476875" y="3419475"/>
                  <a:ext cx="266700" cy="57150"/>
                </a:xfrm>
                <a:prstGeom prst="roundRect">
                  <a:avLst>
                    <a:gd name="adj" fmla="val 50000"/>
                  </a:avLst>
                </a:prstGeom>
                <a:solidFill>
                  <a:schemeClr val="accent1"/>
                </a:solidFill>
                <a:ln>
                  <a:noFill/>
                </a:ln>
              </p:spPr>
            </p:sp>
            <p:sp>
              <p:nvSpPr>
                <p:cNvPr id="131" name="TextBox 131"/>
                <p:cNvSpPr txBox="1"/>
                <p:nvPr/>
              </p:nvSpPr>
              <p:spPr>
                <a:xfrm>
                  <a:off x="3488598" y="3090862"/>
                  <a:ext cx="242754" cy="147638"/>
                </a:xfrm>
                <a:prstGeom prst="rect">
                  <a:avLst/>
                </a:prstGeom>
                <a:noFill/>
                <a:ln>
                  <a:noFill/>
                </a:ln>
              </p:spPr>
              <p:txBody>
                <a:bodyPr wrap="none" lIns="0" tIns="0" rIns="0" bIns="0" anchor="t" anchorCtr="0">
                  <a:spAutoFit/>
                </a:bodyPr>
                <a:lstStyle/>
                <a:p>
                  <a:pPr algn="ctr"/>
                  <a:r>
                    <a:rPr lang="en-US" sz="750" b="1" dirty="0">
                      <a:solidFill>
                        <a:srgbClr val="287D70"/>
                      </a:solidFill>
                      <a:latin typeface="+mn-lt"/>
                      <a:ea typeface="+mn-ea"/>
                      <a:cs typeface="+mn-cs"/>
                    </a:rPr>
                    <a:t>28.0</a:t>
                  </a:r>
                </a:p>
              </p:txBody>
            </p:sp>
            <p:sp>
              <p:nvSpPr>
                <p:cNvPr id="132" name="TextBox 132"/>
                <p:cNvSpPr txBox="1"/>
                <p:nvPr/>
              </p:nvSpPr>
              <p:spPr>
                <a:xfrm>
                  <a:off x="4133136" y="3157538"/>
                  <a:ext cx="287179" cy="147638"/>
                </a:xfrm>
                <a:prstGeom prst="rect">
                  <a:avLst/>
                </a:prstGeom>
                <a:noFill/>
                <a:ln>
                  <a:noFill/>
                </a:ln>
              </p:spPr>
              <p:txBody>
                <a:bodyPr wrap="none" lIns="0" tIns="0" rIns="0" bIns="0" anchor="t" anchorCtr="0">
                  <a:spAutoFit/>
                </a:bodyPr>
                <a:lstStyle/>
                <a:p>
                  <a:pPr algn="ctr"/>
                  <a:r>
                    <a:rPr lang="en-US" sz="750" dirty="0">
                      <a:solidFill>
                        <a:srgbClr val="C38A20"/>
                      </a:solidFill>
                      <a:latin typeface="+mn-lt"/>
                      <a:ea typeface="+mn-ea"/>
                      <a:cs typeface="+mn-cs"/>
                    </a:rPr>
                    <a:t>20.83</a:t>
                  </a:r>
                </a:p>
              </p:txBody>
            </p:sp>
            <p:sp>
              <p:nvSpPr>
                <p:cNvPr id="133" name="TextBox 133"/>
                <p:cNvSpPr txBox="1"/>
                <p:nvPr/>
              </p:nvSpPr>
              <p:spPr>
                <a:xfrm>
                  <a:off x="4827651" y="3281362"/>
                  <a:ext cx="231648" cy="147638"/>
                </a:xfrm>
                <a:prstGeom prst="rect">
                  <a:avLst/>
                </a:prstGeom>
                <a:noFill/>
                <a:ln>
                  <a:noFill/>
                </a:ln>
              </p:spPr>
              <p:txBody>
                <a:bodyPr wrap="none" lIns="0" tIns="0" rIns="0" bIns="0" anchor="t" anchorCtr="0">
                  <a:spAutoFit/>
                </a:bodyPr>
                <a:lstStyle/>
                <a:p>
                  <a:pPr algn="ctr"/>
                  <a:r>
                    <a:rPr lang="en-US" sz="750" dirty="0">
                      <a:solidFill>
                        <a:schemeClr val="accent2"/>
                      </a:solidFill>
                      <a:latin typeface="+mn-lt"/>
                      <a:ea typeface="+mn-ea"/>
                      <a:cs typeface="+mn-cs"/>
                    </a:rPr>
                    <a:t>8.33</a:t>
                  </a:r>
                </a:p>
              </p:txBody>
            </p:sp>
            <p:sp>
              <p:nvSpPr>
                <p:cNvPr id="134" name="TextBox 134"/>
                <p:cNvSpPr txBox="1"/>
                <p:nvPr/>
              </p:nvSpPr>
              <p:spPr>
                <a:xfrm>
                  <a:off x="5494401" y="3300412"/>
                  <a:ext cx="231648" cy="147638"/>
                </a:xfrm>
                <a:prstGeom prst="rect">
                  <a:avLst/>
                </a:prstGeom>
                <a:noFill/>
                <a:ln>
                  <a:noFill/>
                </a:ln>
              </p:spPr>
              <p:txBody>
                <a:bodyPr wrap="none" lIns="0" tIns="0" rIns="0" bIns="0" anchor="t" anchorCtr="0">
                  <a:spAutoFit/>
                </a:bodyPr>
                <a:lstStyle/>
                <a:p>
                  <a:pPr algn="ctr"/>
                  <a:r>
                    <a:rPr lang="en-US" sz="750" dirty="0">
                      <a:solidFill>
                        <a:schemeClr val="dk1"/>
                      </a:solidFill>
                      <a:latin typeface="+mn-lt"/>
                      <a:ea typeface="+mn-ea"/>
                      <a:cs typeface="+mn-cs"/>
                    </a:rPr>
                    <a:t>6.25</a:t>
                  </a:r>
                </a:p>
              </p:txBody>
            </p:sp>
            <p:sp>
              <p:nvSpPr>
                <p:cNvPr id="135" name="TextBox 135"/>
                <p:cNvSpPr txBox="1"/>
                <p:nvPr/>
              </p:nvSpPr>
              <p:spPr>
                <a:xfrm>
                  <a:off x="3464814" y="3452812"/>
                  <a:ext cx="290322" cy="147638"/>
                </a:xfrm>
                <a:prstGeom prst="rect">
                  <a:avLst/>
                </a:prstGeom>
                <a:noFill/>
                <a:ln>
                  <a:noFill/>
                </a:ln>
              </p:spPr>
              <p:txBody>
                <a:bodyPr wrap="none" lIns="0" tIns="0" rIns="0" bIns="0" anchor="t" anchorCtr="0">
                  <a:spAutoFit/>
                </a:bodyPr>
                <a:lstStyle/>
                <a:p>
                  <a:pPr algn="ctr"/>
                  <a:r>
                    <a:rPr lang="en-US" sz="750" dirty="0">
                      <a:solidFill>
                        <a:srgbClr val="66717D"/>
                      </a:solidFill>
                      <a:latin typeface="+mn-lt"/>
                      <a:ea typeface="+mn-ea"/>
                      <a:cs typeface="+mn-cs"/>
                    </a:rPr>
                    <a:t>Argus</a:t>
                  </a:r>
                </a:p>
              </p:txBody>
            </p:sp>
            <p:sp>
              <p:nvSpPr>
                <p:cNvPr id="136" name="TextBox 136"/>
                <p:cNvSpPr txBox="1"/>
                <p:nvPr/>
              </p:nvSpPr>
              <p:spPr>
                <a:xfrm>
                  <a:off x="4131564" y="3452812"/>
                  <a:ext cx="290322" cy="147638"/>
                </a:xfrm>
                <a:prstGeom prst="rect">
                  <a:avLst/>
                </a:prstGeom>
                <a:noFill/>
                <a:ln>
                  <a:noFill/>
                </a:ln>
              </p:spPr>
              <p:txBody>
                <a:bodyPr wrap="none" lIns="0" tIns="0" rIns="0" bIns="0" anchor="t" anchorCtr="0">
                  <a:spAutoFit/>
                </a:bodyPr>
                <a:lstStyle/>
                <a:p>
                  <a:pPr algn="ctr"/>
                  <a:r>
                    <a:rPr lang="en-US" sz="750" dirty="0">
                      <a:solidFill>
                        <a:srgbClr val="66717D"/>
                      </a:solidFill>
                      <a:latin typeface="+mn-lt"/>
                      <a:ea typeface="+mn-ea"/>
                      <a:cs typeface="+mn-cs"/>
                    </a:rPr>
                    <a:t>Arbor</a:t>
                  </a:r>
                </a:p>
              </p:txBody>
            </p:sp>
            <p:sp>
              <p:nvSpPr>
                <p:cNvPr id="137" name="TextBox 137"/>
                <p:cNvSpPr txBox="1"/>
                <p:nvPr/>
              </p:nvSpPr>
              <p:spPr>
                <a:xfrm>
                  <a:off x="4783288" y="3452812"/>
                  <a:ext cx="320373" cy="147638"/>
                </a:xfrm>
                <a:prstGeom prst="rect">
                  <a:avLst/>
                </a:prstGeom>
                <a:noFill/>
                <a:ln>
                  <a:noFill/>
                </a:ln>
              </p:spPr>
              <p:txBody>
                <a:bodyPr wrap="none" lIns="0" tIns="0" rIns="0" bIns="0" anchor="t" anchorCtr="0">
                  <a:spAutoFit/>
                </a:bodyPr>
                <a:lstStyle/>
                <a:p>
                  <a:pPr algn="ctr"/>
                  <a:r>
                    <a:rPr lang="en-US" sz="750" dirty="0">
                      <a:solidFill>
                        <a:srgbClr val="66717D"/>
                      </a:solidFill>
                      <a:latin typeface="+mn-lt"/>
                      <a:ea typeface="+mn-ea"/>
                      <a:cs typeface="+mn-cs"/>
                    </a:rPr>
                    <a:t>Claude</a:t>
                  </a:r>
                </a:p>
              </p:txBody>
            </p:sp>
            <p:sp>
              <p:nvSpPr>
                <p:cNvPr id="138" name="TextBox 138"/>
                <p:cNvSpPr txBox="1"/>
                <p:nvPr/>
              </p:nvSpPr>
              <p:spPr>
                <a:xfrm>
                  <a:off x="5465064" y="3452812"/>
                  <a:ext cx="290322" cy="147638"/>
                </a:xfrm>
                <a:prstGeom prst="rect">
                  <a:avLst/>
                </a:prstGeom>
                <a:noFill/>
                <a:ln>
                  <a:noFill/>
                </a:ln>
              </p:spPr>
              <p:txBody>
                <a:bodyPr wrap="none" lIns="0" tIns="0" rIns="0" bIns="0" anchor="t" anchorCtr="0">
                  <a:spAutoFit/>
                </a:bodyPr>
                <a:lstStyle/>
                <a:p>
                  <a:pPr algn="ctr"/>
                  <a:r>
                    <a:rPr lang="en-US" sz="750" dirty="0">
                      <a:solidFill>
                        <a:srgbClr val="66717D"/>
                      </a:solidFill>
                      <a:latin typeface="+mn-lt"/>
                      <a:ea typeface="+mn-ea"/>
                      <a:cs typeface="+mn-cs"/>
                    </a:rPr>
                    <a:t>Codex</a:t>
                  </a:r>
                </a:p>
              </p:txBody>
            </p:sp>
          </p:grpSp>
        </p:gr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argus_teaser">
  <a:themeElements>
    <a:clrScheme name="argus_teaser">
      <a:dk1>
        <a:srgbClr val="24465D"/>
      </a:dk1>
      <a:lt1>
        <a:srgbClr val="FBF7EE"/>
      </a:lt1>
      <a:dk2>
        <a:srgbClr val="24465D"/>
      </a:dk2>
      <a:lt2>
        <a:srgbClr val="FBF7EE"/>
      </a:lt2>
      <a:accent1>
        <a:srgbClr val="24465D"/>
      </a:accent1>
      <a:accent2>
        <a:srgbClr val="315BCE"/>
      </a:accent2>
      <a:accent3>
        <a:srgbClr val="315BCE"/>
      </a:accent3>
      <a:accent4>
        <a:srgbClr val="24465D"/>
      </a:accent4>
      <a:accent5>
        <a:srgbClr val="FFFDF8"/>
      </a:accent5>
      <a:accent6>
        <a:srgbClr val="173B70"/>
      </a:accent6>
      <a:hlink>
        <a:srgbClr val="315BCE"/>
      </a:hlink>
      <a:folHlink>
        <a:srgbClr val="315BCE"/>
      </a:folHlink>
    </a:clrScheme>
    <a:fontScheme name="argus_teas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rgus_teas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argus_teaser">
  <a:themeElements>
    <a:clrScheme name="argus_teaser">
      <a:dk1>
        <a:srgbClr val="24465D"/>
      </a:dk1>
      <a:lt1>
        <a:srgbClr val="FBF7EE"/>
      </a:lt1>
      <a:dk2>
        <a:srgbClr val="24465D"/>
      </a:dk2>
      <a:lt2>
        <a:srgbClr val="FBF7EE"/>
      </a:lt2>
      <a:accent1>
        <a:srgbClr val="24465D"/>
      </a:accent1>
      <a:accent2>
        <a:srgbClr val="315BCE"/>
      </a:accent2>
      <a:accent3>
        <a:srgbClr val="315BCE"/>
      </a:accent3>
      <a:accent4>
        <a:srgbClr val="24465D"/>
      </a:accent4>
      <a:accent5>
        <a:srgbClr val="FFFDF8"/>
      </a:accent5>
      <a:accent6>
        <a:srgbClr val="173B70"/>
      </a:accent6>
      <a:hlink>
        <a:srgbClr val="315BCE"/>
      </a:hlink>
      <a:folHlink>
        <a:srgbClr val="315BCE"/>
      </a:folHlink>
    </a:clrScheme>
    <a:fontScheme name="argus_teas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rgus_teas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2026-07-19T07:22:16Z</dcterms:created>
  <dcterms:modified xsi:type="dcterms:W3CDTF">2026-07-19T07:22:16Z</dcterms:modified>
  <cp:category/>
  <cp:contentStatus/>
</cp:coreProperties>
</file>
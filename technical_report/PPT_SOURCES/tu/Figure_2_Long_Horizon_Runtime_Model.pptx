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972800" cy="49371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65A5"/>
    <a:srgbClr val="315BCE"/>
    <a:srgbClr val="C66C2D"/>
    <a:srgbClr val="277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26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0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04814-2342-405B-BF05-6DE8A4C2317C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1143000"/>
            <a:ext cx="685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0DA85-7CCE-4454-826D-1CB1E2EA0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977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0DA85-7CCE-4454-826D-1CB1E2EA07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4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ure 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01" name="MountainBackground" descr="Mountain landscape background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5730"/>
            <a:ext cx="10607040" cy="46405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0002" name="OuterFrame"/>
          <p:cNvSpPr/>
          <p:nvPr/>
        </p:nvSpPr>
        <p:spPr>
          <a:xfrm>
            <a:off x="182880" y="125730"/>
            <a:ext cx="10607040" cy="4640580"/>
          </a:xfrm>
          <a:prstGeom prst="roundRect">
            <a:avLst>
              <a:gd name="adj" fmla="val 0"/>
            </a:avLst>
          </a:prstGeom>
          <a:noFill/>
          <a:ln w="15240">
            <a:solidFill>
              <a:srgbClr val="B8CDD6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 dirty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3" name="SummitGlow"/>
          <p:cNvSpPr/>
          <p:nvPr/>
        </p:nvSpPr>
        <p:spPr>
          <a:xfrm>
            <a:off x="7252335" y="181822"/>
            <a:ext cx="800100" cy="800100"/>
          </a:xfrm>
          <a:prstGeom prst="ellipse">
            <a:avLst/>
          </a:prstGeom>
          <a:solidFill>
            <a:srgbClr val="F6D582">
              <a:alpha val="17000"/>
            </a:srgbClr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4" name="SessionCard"/>
          <p:cNvSpPr/>
          <p:nvPr/>
        </p:nvSpPr>
        <p:spPr>
          <a:xfrm>
            <a:off x="411480" y="2943225"/>
            <a:ext cx="1885950" cy="1017270"/>
          </a:xfrm>
          <a:prstGeom prst="roundRect">
            <a:avLst>
              <a:gd name="adj" fmla="val 0"/>
            </a:avLst>
          </a:prstGeom>
          <a:solidFill>
            <a:srgbClr val="FFFDF8">
              <a:alpha val="85000"/>
            </a:srgbClr>
          </a:solidFill>
          <a:ln w="12700"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5" name="SessionLabel"/>
          <p:cNvSpPr/>
          <p:nvPr/>
        </p:nvSpPr>
        <p:spPr>
          <a:xfrm>
            <a:off x="722947" y="3135621"/>
            <a:ext cx="1257300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 fontScale="92500" lnSpcReduction="20000"/>
          </a:bodyPr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Session-limited</a:t>
            </a:r>
          </a:p>
        </p:txBody>
      </p:sp>
      <p:cxnSp>
        <p:nvCxnSpPr>
          <p:cNvPr id="100006" name="SessionRoute"/>
          <p:cNvCxnSpPr/>
          <p:nvPr/>
        </p:nvCxnSpPr>
        <p:spPr>
          <a:xfrm>
            <a:off x="617220" y="3514725"/>
            <a:ext cx="1468755" cy="85725"/>
          </a:xfrm>
          <a:prstGeom prst="curvedConnector3">
            <a:avLst>
              <a:gd name="adj1" fmla="val 44786"/>
            </a:avLst>
          </a:prstGeom>
          <a:ln w="33020">
            <a:solidFill>
              <a:srgbClr val="7E8B92"/>
            </a:solidFill>
            <a:prstDash val="dash"/>
            <a:tailEnd type="none"/>
          </a:ln>
        </p:spPr>
      </p:cxnSp>
      <p:sp>
        <p:nvSpPr>
          <p:cNvPr id="100007" name="SessionNode1"/>
          <p:cNvSpPr/>
          <p:nvPr/>
        </p:nvSpPr>
        <p:spPr>
          <a:xfrm>
            <a:off x="591503" y="3469005"/>
            <a:ext cx="91440" cy="91440"/>
          </a:xfrm>
          <a:prstGeom prst="ellipse">
            <a:avLst/>
          </a:prstGeom>
          <a:solidFill>
            <a:srgbClr val="FFFDF8"/>
          </a:solidFill>
          <a:ln w="19050">
            <a:solidFill>
              <a:srgbClr val="7E8B92"/>
            </a:solidFill>
          </a:ln>
        </p:spPr>
        <p:txBody>
          <a:bodyPr lIns="18288" tIns="18288" rIns="18288" bIns="18288" anchor="ctr">
            <a:normAutofit fontScale="325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8" name="SessionNode2"/>
          <p:cNvSpPr/>
          <p:nvPr/>
        </p:nvSpPr>
        <p:spPr>
          <a:xfrm>
            <a:off x="1120140" y="3487642"/>
            <a:ext cx="91440" cy="91440"/>
          </a:xfrm>
          <a:prstGeom prst="ellipse">
            <a:avLst/>
          </a:prstGeom>
          <a:solidFill>
            <a:srgbClr val="FFFDF8"/>
          </a:solidFill>
          <a:ln w="19050">
            <a:solidFill>
              <a:srgbClr val="7E8B92"/>
            </a:solidFill>
          </a:ln>
        </p:spPr>
        <p:txBody>
          <a:bodyPr lIns="18288" tIns="18288" rIns="18288" bIns="18288" anchor="ctr">
            <a:normAutofit fontScale="325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9" name="SessionNode3"/>
          <p:cNvSpPr/>
          <p:nvPr/>
        </p:nvSpPr>
        <p:spPr>
          <a:xfrm>
            <a:off x="1588770" y="3554730"/>
            <a:ext cx="91440" cy="91440"/>
          </a:xfrm>
          <a:prstGeom prst="ellipse">
            <a:avLst/>
          </a:prstGeom>
          <a:solidFill>
            <a:srgbClr val="FFFDF8"/>
          </a:solidFill>
          <a:ln w="19050">
            <a:solidFill>
              <a:srgbClr val="7E8B92"/>
            </a:solidFill>
          </a:ln>
        </p:spPr>
        <p:txBody>
          <a:bodyPr lIns="18288" tIns="18288" rIns="18288" bIns="18288" anchor="ctr">
            <a:normAutofit fontScale="325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0" name="SessionReset"/>
          <p:cNvSpPr/>
          <p:nvPr/>
        </p:nvSpPr>
        <p:spPr>
          <a:xfrm>
            <a:off x="2011680" y="3526155"/>
            <a:ext cx="148590" cy="14859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7E8B92"/>
            </a:solidFill>
          </a:ln>
        </p:spPr>
        <p:txBody>
          <a:bodyPr lIns="18288" tIns="18288" rIns="18288" bIns="18288" anchor="ctr">
            <a:normAutofit fontScale="775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1" name="SessionResetX"/>
          <p:cNvSpPr/>
          <p:nvPr/>
        </p:nvSpPr>
        <p:spPr>
          <a:xfrm>
            <a:off x="2023110" y="3531870"/>
            <a:ext cx="125730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7E8B9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lang="en-US" sz="1200" b="1" dirty="0">
              <a:solidFill>
                <a:srgbClr val="7E8B92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2" name="SessionResetText"/>
          <p:cNvSpPr/>
          <p:nvPr/>
        </p:nvSpPr>
        <p:spPr>
          <a:xfrm>
            <a:off x="1869227" y="3700167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 i="1" dirty="0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reset</a:t>
            </a:r>
          </a:p>
        </p:txBody>
      </p:sp>
      <p:pic>
        <p:nvPicPr>
          <p:cNvPr id="100013" name="Explorer" descr="Researcher looking toward the summ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2663190"/>
            <a:ext cx="742950" cy="1383030"/>
          </a:xfrm>
          <a:prstGeom prst="rect">
            <a:avLst/>
          </a:prstGeom>
        </p:spPr>
      </p:pic>
      <p:sp>
        <p:nvSpPr>
          <p:cNvPr id="100014" name="RoleLoopPanel"/>
          <p:cNvSpPr/>
          <p:nvPr/>
        </p:nvSpPr>
        <p:spPr>
          <a:xfrm>
            <a:off x="2085975" y="366855"/>
            <a:ext cx="3017520" cy="1873425"/>
          </a:xfrm>
          <a:prstGeom prst="roundRect">
            <a:avLst>
              <a:gd name="adj" fmla="val 0"/>
            </a:avLst>
          </a:prstGeom>
          <a:solidFill>
            <a:srgbClr val="FFFDF8">
              <a:alpha val="65000"/>
            </a:srgbClr>
          </a:solidFill>
          <a:ln w="12700"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5" name="RoleLoopTitle"/>
          <p:cNvSpPr/>
          <p:nvPr/>
        </p:nvSpPr>
        <p:spPr>
          <a:xfrm>
            <a:off x="2480310" y="497205"/>
            <a:ext cx="222885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RECURRENT ROLE LOOP</a:t>
            </a:r>
          </a:p>
        </p:txBody>
      </p:sp>
      <p:sp>
        <p:nvSpPr>
          <p:cNvPr id="100016" name="ManagerCard"/>
          <p:cNvSpPr/>
          <p:nvPr/>
        </p:nvSpPr>
        <p:spPr>
          <a:xfrm>
            <a:off x="3086100" y="714375"/>
            <a:ext cx="982980" cy="40005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17" name="ManagerPortrait" descr="Manager role illust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528" y="737235"/>
            <a:ext cx="354330" cy="354330"/>
          </a:xfrm>
          <a:prstGeom prst="rect">
            <a:avLst/>
          </a:prstGeom>
        </p:spPr>
      </p:pic>
      <p:sp>
        <p:nvSpPr>
          <p:cNvPr id="100018" name="ManagerTitle"/>
          <p:cNvSpPr/>
          <p:nvPr/>
        </p:nvSpPr>
        <p:spPr>
          <a:xfrm>
            <a:off x="3344546" y="785177"/>
            <a:ext cx="691197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MANAGER</a:t>
            </a:r>
          </a:p>
        </p:txBody>
      </p:sp>
      <p:sp>
        <p:nvSpPr>
          <p:cNvPr id="100019" name="ManagerDesc"/>
          <p:cNvSpPr/>
          <p:nvPr/>
        </p:nvSpPr>
        <p:spPr>
          <a:xfrm>
            <a:off x="3417570" y="939482"/>
            <a:ext cx="537210" cy="10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5B6E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govern</a:t>
            </a:r>
          </a:p>
        </p:txBody>
      </p:sp>
      <p:sp>
        <p:nvSpPr>
          <p:cNvPr id="100020" name="PlannerCard"/>
          <p:cNvSpPr/>
          <p:nvPr/>
        </p:nvSpPr>
        <p:spPr>
          <a:xfrm>
            <a:off x="3857625" y="1188720"/>
            <a:ext cx="982980" cy="40005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21" name="PlannerPortrait" descr="Planner role illust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053" y="1211580"/>
            <a:ext cx="354330" cy="354330"/>
          </a:xfrm>
          <a:prstGeom prst="rect">
            <a:avLst/>
          </a:prstGeom>
        </p:spPr>
      </p:pic>
      <p:sp>
        <p:nvSpPr>
          <p:cNvPr id="100022" name="PlannerTitle"/>
          <p:cNvSpPr/>
          <p:nvPr/>
        </p:nvSpPr>
        <p:spPr>
          <a:xfrm>
            <a:off x="4114800" y="1268730"/>
            <a:ext cx="691197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PLANNER</a:t>
            </a:r>
          </a:p>
        </p:txBody>
      </p:sp>
      <p:sp>
        <p:nvSpPr>
          <p:cNvPr id="100023" name="PlannerDesc"/>
          <p:cNvSpPr/>
          <p:nvPr/>
        </p:nvSpPr>
        <p:spPr>
          <a:xfrm>
            <a:off x="4214813" y="1430972"/>
            <a:ext cx="537210" cy="10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5B6E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0024" name="EngineerCard"/>
          <p:cNvSpPr/>
          <p:nvPr/>
        </p:nvSpPr>
        <p:spPr>
          <a:xfrm>
            <a:off x="3086100" y="1703070"/>
            <a:ext cx="982980" cy="40005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25" name="EngineerPortrait" descr="Engineer role illust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528" y="1725930"/>
            <a:ext cx="354330" cy="354330"/>
          </a:xfrm>
          <a:prstGeom prst="rect">
            <a:avLst/>
          </a:prstGeom>
        </p:spPr>
      </p:pic>
      <p:sp>
        <p:nvSpPr>
          <p:cNvPr id="100026" name="EngineerTitle"/>
          <p:cNvSpPr/>
          <p:nvPr/>
        </p:nvSpPr>
        <p:spPr>
          <a:xfrm>
            <a:off x="3343593" y="1805940"/>
            <a:ext cx="691197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ENGINEER</a:t>
            </a:r>
          </a:p>
        </p:txBody>
      </p:sp>
      <p:sp>
        <p:nvSpPr>
          <p:cNvPr id="100027" name="EngineerDesc"/>
          <p:cNvSpPr/>
          <p:nvPr/>
        </p:nvSpPr>
        <p:spPr>
          <a:xfrm>
            <a:off x="3420586" y="1948815"/>
            <a:ext cx="537210" cy="10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5B6E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build</a:t>
            </a:r>
          </a:p>
        </p:txBody>
      </p:sp>
      <p:sp>
        <p:nvSpPr>
          <p:cNvPr id="100028" name="ReviewerCard"/>
          <p:cNvSpPr/>
          <p:nvPr/>
        </p:nvSpPr>
        <p:spPr>
          <a:xfrm>
            <a:off x="2245995" y="1188720"/>
            <a:ext cx="982980" cy="40005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29" name="ReviewerPortrait" descr="Reviewer role illustr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1705" y="1211580"/>
            <a:ext cx="354330" cy="354330"/>
          </a:xfrm>
          <a:prstGeom prst="rect">
            <a:avLst/>
          </a:prstGeom>
        </p:spPr>
      </p:pic>
      <p:sp>
        <p:nvSpPr>
          <p:cNvPr id="100030" name="ReviewerTitle"/>
          <p:cNvSpPr/>
          <p:nvPr/>
        </p:nvSpPr>
        <p:spPr>
          <a:xfrm>
            <a:off x="2480310" y="1253808"/>
            <a:ext cx="729297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REVIEWER</a:t>
            </a:r>
          </a:p>
        </p:txBody>
      </p:sp>
      <p:sp>
        <p:nvSpPr>
          <p:cNvPr id="100031" name="ReviewerDesc"/>
          <p:cNvSpPr/>
          <p:nvPr/>
        </p:nvSpPr>
        <p:spPr>
          <a:xfrm>
            <a:off x="2580323" y="1421289"/>
            <a:ext cx="537210" cy="10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5B6E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</a:t>
            </a:r>
          </a:p>
        </p:txBody>
      </p:sp>
      <p:cxnSp>
        <p:nvCxnSpPr>
          <p:cNvPr id="100032" name="ManagerToPlanner"/>
          <p:cNvCxnSpPr>
            <a:cxnSpLocks/>
            <a:stCxn id="100016" idx="3"/>
            <a:endCxn id="100020" idx="0"/>
          </p:cNvCxnSpPr>
          <p:nvPr/>
        </p:nvCxnSpPr>
        <p:spPr>
          <a:xfrm>
            <a:off x="4069080" y="914400"/>
            <a:ext cx="280035" cy="274320"/>
          </a:xfrm>
          <a:prstGeom prst="curvedConnector2">
            <a:avLst/>
          </a:prstGeom>
          <a:ln w="25400">
            <a:solidFill>
              <a:srgbClr val="315BCE"/>
            </a:solidFill>
            <a:prstDash val="solid"/>
            <a:tailEnd type="triangle"/>
          </a:ln>
        </p:spPr>
      </p:cxnSp>
      <p:cxnSp>
        <p:nvCxnSpPr>
          <p:cNvPr id="100033" name="PlannerToEngineer"/>
          <p:cNvCxnSpPr>
            <a:cxnSpLocks/>
            <a:stCxn id="100020" idx="2"/>
            <a:endCxn id="100024" idx="3"/>
          </p:cNvCxnSpPr>
          <p:nvPr/>
        </p:nvCxnSpPr>
        <p:spPr>
          <a:xfrm rot="5400000">
            <a:off x="4051936" y="1605915"/>
            <a:ext cx="314325" cy="280035"/>
          </a:xfrm>
          <a:prstGeom prst="curvedConnector2">
            <a:avLst/>
          </a:prstGeom>
          <a:ln w="25400">
            <a:solidFill>
              <a:srgbClr val="277F7C"/>
            </a:solidFill>
            <a:prstDash val="solid"/>
            <a:tailEnd type="triangle"/>
          </a:ln>
        </p:spPr>
      </p:cxnSp>
      <p:cxnSp>
        <p:nvCxnSpPr>
          <p:cNvPr id="100034" name="EngineerToReviewer"/>
          <p:cNvCxnSpPr>
            <a:cxnSpLocks/>
            <a:stCxn id="100024" idx="1"/>
            <a:endCxn id="100028" idx="2"/>
          </p:cNvCxnSpPr>
          <p:nvPr/>
        </p:nvCxnSpPr>
        <p:spPr>
          <a:xfrm rot="10800000">
            <a:off x="2737486" y="1588771"/>
            <a:ext cx="348615" cy="314325"/>
          </a:xfrm>
          <a:prstGeom prst="curvedConnector2">
            <a:avLst/>
          </a:prstGeom>
          <a:ln w="25400">
            <a:solidFill>
              <a:srgbClr val="8665A5"/>
            </a:solidFill>
            <a:prstDash val="solid"/>
            <a:tailEnd type="triangle"/>
          </a:ln>
        </p:spPr>
      </p:cxnSp>
      <p:cxnSp>
        <p:nvCxnSpPr>
          <p:cNvPr id="100035" name="ReviewerToManager"/>
          <p:cNvCxnSpPr>
            <a:cxnSpLocks/>
            <a:stCxn id="100028" idx="0"/>
            <a:endCxn id="100017" idx="1"/>
          </p:cNvCxnSpPr>
          <p:nvPr/>
        </p:nvCxnSpPr>
        <p:spPr>
          <a:xfrm rot="5400000" flipH="1" flipV="1">
            <a:off x="2770346" y="881539"/>
            <a:ext cx="274320" cy="340043"/>
          </a:xfrm>
          <a:prstGeom prst="curvedConnector2">
            <a:avLst/>
          </a:prstGeom>
          <a:ln w="25400">
            <a:solidFill>
              <a:srgbClr val="C66C2D"/>
            </a:solidFill>
            <a:prstDash val="solid"/>
            <a:tailEnd type="triangle"/>
          </a:ln>
        </p:spPr>
      </p:cxnSp>
      <p:sp>
        <p:nvSpPr>
          <p:cNvPr id="100036" name="FuturePanel"/>
          <p:cNvSpPr/>
          <p:nvPr/>
        </p:nvSpPr>
        <p:spPr>
          <a:xfrm>
            <a:off x="8105775" y="628650"/>
            <a:ext cx="2581275" cy="1303020"/>
          </a:xfrm>
          <a:prstGeom prst="roundRect">
            <a:avLst>
              <a:gd name="adj" fmla="val 0"/>
            </a:avLst>
          </a:prstGeom>
          <a:solidFill>
            <a:srgbClr val="FFFDF8">
              <a:alpha val="65000"/>
            </a:srgbClr>
          </a:solidFill>
          <a:ln w="15240"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37" name="FutureTitle"/>
          <p:cNvSpPr/>
          <p:nvPr/>
        </p:nvSpPr>
        <p:spPr>
          <a:xfrm>
            <a:off x="8367712" y="700243"/>
            <a:ext cx="2057400" cy="3214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FUTURE TRAINING - HYPOTHESIS</a:t>
            </a:r>
          </a:p>
        </p:txBody>
      </p:sp>
      <p:sp>
        <p:nvSpPr>
          <p:cNvPr id="100038" name="DatasetIcon"/>
          <p:cNvSpPr/>
          <p:nvPr/>
        </p:nvSpPr>
        <p:spPr>
          <a:xfrm>
            <a:off x="8430684" y="1104688"/>
            <a:ext cx="228600" cy="228600"/>
          </a:xfrm>
          <a:prstGeom prst="ellipse">
            <a:avLst/>
          </a:prstGeom>
          <a:solidFill>
            <a:srgbClr val="EEF0FB"/>
          </a:solidFill>
          <a:ln w="17780">
            <a:solidFill>
              <a:srgbClr val="8665A5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39" name="TrainingIcon"/>
          <p:cNvSpPr/>
          <p:nvPr/>
        </p:nvSpPr>
        <p:spPr>
          <a:xfrm>
            <a:off x="9276079" y="1104688"/>
            <a:ext cx="228600" cy="228600"/>
          </a:xfrm>
          <a:prstGeom prst="roundRect">
            <a:avLst/>
          </a:prstGeom>
          <a:solidFill>
            <a:srgbClr val="EDF7F5"/>
          </a:solidFill>
          <a:ln w="17780">
            <a:solidFill>
              <a:srgbClr val="277F7C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0" name="ClockIcon"/>
          <p:cNvSpPr/>
          <p:nvPr/>
        </p:nvSpPr>
        <p:spPr>
          <a:xfrm>
            <a:off x="10146400" y="1104266"/>
            <a:ext cx="228600" cy="228600"/>
          </a:xfrm>
          <a:prstGeom prst="ellipse">
            <a:avLst/>
          </a:prstGeom>
          <a:solidFill>
            <a:srgbClr val="FFF7DF"/>
          </a:solidFill>
          <a:ln w="17780">
            <a:solidFill>
              <a:srgbClr val="B78327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1" name="DatasetGlyph"/>
          <p:cNvSpPr/>
          <p:nvPr/>
        </p:nvSpPr>
        <p:spPr>
          <a:xfrm>
            <a:off x="8430684" y="110468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8665A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00042" name="TrainingGlyph"/>
          <p:cNvSpPr/>
          <p:nvPr/>
        </p:nvSpPr>
        <p:spPr>
          <a:xfrm>
            <a:off x="9276079" y="110468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277F7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00043" name="ClockGlyph"/>
          <p:cNvSpPr/>
          <p:nvPr/>
        </p:nvSpPr>
        <p:spPr>
          <a:xfrm>
            <a:off x="10134970" y="1109981"/>
            <a:ext cx="251460" cy="21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B7832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24x7</a:t>
            </a:r>
          </a:p>
        </p:txBody>
      </p:sp>
      <p:cxnSp>
        <p:nvCxnSpPr>
          <p:cNvPr id="100044" name="DatasetToTraining"/>
          <p:cNvCxnSpPr>
            <a:cxnSpLocks/>
            <a:stCxn id="100038" idx="6"/>
            <a:endCxn id="100039" idx="1"/>
          </p:cNvCxnSpPr>
          <p:nvPr/>
        </p:nvCxnSpPr>
        <p:spPr>
          <a:xfrm>
            <a:off x="8659284" y="1218988"/>
            <a:ext cx="616795" cy="0"/>
          </a:xfrm>
          <a:prstGeom prst="straightConnector1">
            <a:avLst/>
          </a:prstGeom>
          <a:ln w="22860">
            <a:solidFill>
              <a:srgbClr val="315BCE"/>
            </a:solidFill>
            <a:prstDash val="solid"/>
            <a:tailEnd type="triangle"/>
          </a:ln>
        </p:spPr>
      </p:cxnSp>
      <p:cxnSp>
        <p:nvCxnSpPr>
          <p:cNvPr id="100045" name="TrainingToClock"/>
          <p:cNvCxnSpPr>
            <a:cxnSpLocks/>
            <a:stCxn id="100039" idx="3"/>
            <a:endCxn id="100040" idx="2"/>
          </p:cNvCxnSpPr>
          <p:nvPr/>
        </p:nvCxnSpPr>
        <p:spPr>
          <a:xfrm flipV="1">
            <a:off x="9504679" y="1218566"/>
            <a:ext cx="641721" cy="422"/>
          </a:xfrm>
          <a:prstGeom prst="straightConnector1">
            <a:avLst/>
          </a:prstGeom>
          <a:ln w="22860">
            <a:solidFill>
              <a:srgbClr val="315BCE"/>
            </a:solidFill>
            <a:prstDash val="solid"/>
            <a:tailEnd type="triangle"/>
          </a:ln>
        </p:spPr>
      </p:cxnSp>
      <p:sp>
        <p:nvSpPr>
          <p:cNvPr id="100046" name="DatasetText"/>
          <p:cNvSpPr/>
          <p:nvPr/>
        </p:nvSpPr>
        <p:spPr>
          <a:xfrm>
            <a:off x="8258175" y="1439122"/>
            <a:ext cx="60007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52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Reviewed traces</a:t>
            </a:r>
          </a:p>
        </p:txBody>
      </p:sp>
      <p:sp>
        <p:nvSpPr>
          <p:cNvPr id="100047" name="TrainingText"/>
          <p:cNvSpPr/>
          <p:nvPr/>
        </p:nvSpPr>
        <p:spPr>
          <a:xfrm>
            <a:off x="9115425" y="1439122"/>
            <a:ext cx="54292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>
                <a:solidFill>
                  <a:srgbClr val="52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SFT / RL</a:t>
            </a:r>
          </a:p>
        </p:txBody>
      </p:sp>
      <p:sp>
        <p:nvSpPr>
          <p:cNvPr id="100048" name="ClockText"/>
          <p:cNvSpPr/>
          <p:nvPr/>
        </p:nvSpPr>
        <p:spPr>
          <a:xfrm>
            <a:off x="9995535" y="1439122"/>
            <a:ext cx="54292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>
                <a:solidFill>
                  <a:srgbClr val="52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Native model</a:t>
            </a:r>
          </a:p>
        </p:txBody>
      </p:sp>
      <p:sp>
        <p:nvSpPr>
          <p:cNvPr id="100049" name="FixedModelText"/>
          <p:cNvSpPr/>
          <p:nvPr/>
        </p:nvSpPr>
        <p:spPr>
          <a:xfrm>
            <a:off x="8621659" y="1777365"/>
            <a:ext cx="1639041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00" b="1" i="1" dirty="0">
                <a:solidFill>
                  <a:srgbClr val="52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Current runtime: fixed model</a:t>
            </a:r>
          </a:p>
        </p:txBody>
      </p:sp>
      <p:sp>
        <p:nvSpPr>
          <p:cNvPr id="100050" name="Stage1"/>
          <p:cNvSpPr/>
          <p:nvPr/>
        </p:nvSpPr>
        <p:spPr>
          <a:xfrm>
            <a:off x="3257339" y="3197542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1" name="Stage1Number"/>
          <p:cNvSpPr/>
          <p:nvPr/>
        </p:nvSpPr>
        <p:spPr>
          <a:xfrm>
            <a:off x="3266123" y="319754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0052" name="Stage1Label"/>
          <p:cNvSpPr/>
          <p:nvPr/>
        </p:nvSpPr>
        <p:spPr>
          <a:xfrm>
            <a:off x="3206963" y="2993381"/>
            <a:ext cx="690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Research</a:t>
            </a:r>
          </a:p>
        </p:txBody>
      </p:sp>
      <p:sp>
        <p:nvSpPr>
          <p:cNvPr id="100053" name="Stage2"/>
          <p:cNvSpPr/>
          <p:nvPr/>
        </p:nvSpPr>
        <p:spPr>
          <a:xfrm>
            <a:off x="3783119" y="3874770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4" name="Stage2Number"/>
          <p:cNvSpPr/>
          <p:nvPr/>
        </p:nvSpPr>
        <p:spPr>
          <a:xfrm>
            <a:off x="3783119" y="387477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0055" name="Stage2Label"/>
          <p:cNvSpPr/>
          <p:nvPr/>
        </p:nvSpPr>
        <p:spPr>
          <a:xfrm>
            <a:off x="3741630" y="4137660"/>
            <a:ext cx="79290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0056" name="Stage3"/>
          <p:cNvSpPr/>
          <p:nvPr/>
        </p:nvSpPr>
        <p:spPr>
          <a:xfrm>
            <a:off x="4594860" y="3837622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7" name="Stage3Number"/>
          <p:cNvSpPr/>
          <p:nvPr/>
        </p:nvSpPr>
        <p:spPr>
          <a:xfrm>
            <a:off x="4594860" y="38376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0058" name="Stage3Label"/>
          <p:cNvSpPr/>
          <p:nvPr/>
        </p:nvSpPr>
        <p:spPr>
          <a:xfrm>
            <a:off x="4861348" y="3206115"/>
            <a:ext cx="79290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Benchmark</a:t>
            </a:r>
          </a:p>
        </p:txBody>
      </p:sp>
      <p:sp>
        <p:nvSpPr>
          <p:cNvPr id="100059" name="Stage4"/>
          <p:cNvSpPr/>
          <p:nvPr/>
        </p:nvSpPr>
        <p:spPr>
          <a:xfrm>
            <a:off x="5109052" y="3380157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0" name="Stage4Number"/>
          <p:cNvSpPr/>
          <p:nvPr/>
        </p:nvSpPr>
        <p:spPr>
          <a:xfrm>
            <a:off x="5109052" y="338015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0061" name="Stage4Label"/>
          <p:cNvSpPr/>
          <p:nvPr/>
        </p:nvSpPr>
        <p:spPr>
          <a:xfrm>
            <a:off x="4606500" y="4109615"/>
            <a:ext cx="79290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Run</a:t>
            </a:r>
          </a:p>
        </p:txBody>
      </p:sp>
      <p:sp>
        <p:nvSpPr>
          <p:cNvPr id="100062" name="Stage5"/>
          <p:cNvSpPr/>
          <p:nvPr/>
        </p:nvSpPr>
        <p:spPr>
          <a:xfrm>
            <a:off x="6143414" y="3514725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3" name="Stage5Number"/>
          <p:cNvSpPr/>
          <p:nvPr/>
        </p:nvSpPr>
        <p:spPr>
          <a:xfrm>
            <a:off x="6143414" y="3514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0064" name="Stage5Label"/>
          <p:cNvSpPr/>
          <p:nvPr/>
        </p:nvSpPr>
        <p:spPr>
          <a:xfrm>
            <a:off x="6372014" y="3370907"/>
            <a:ext cx="690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Analyze</a:t>
            </a:r>
          </a:p>
        </p:txBody>
      </p:sp>
      <p:sp>
        <p:nvSpPr>
          <p:cNvPr id="100065" name="Stage6"/>
          <p:cNvSpPr/>
          <p:nvPr/>
        </p:nvSpPr>
        <p:spPr>
          <a:xfrm>
            <a:off x="5829300" y="2800350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6" name="Stage6Number"/>
          <p:cNvSpPr/>
          <p:nvPr/>
        </p:nvSpPr>
        <p:spPr>
          <a:xfrm>
            <a:off x="5829300" y="28003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0067" name="Stage6Label"/>
          <p:cNvSpPr/>
          <p:nvPr/>
        </p:nvSpPr>
        <p:spPr>
          <a:xfrm>
            <a:off x="5441315" y="2844791"/>
            <a:ext cx="690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Draft</a:t>
            </a:r>
          </a:p>
        </p:txBody>
      </p:sp>
      <p:sp>
        <p:nvSpPr>
          <p:cNvPr id="100068" name="Stage7"/>
          <p:cNvSpPr/>
          <p:nvPr/>
        </p:nvSpPr>
        <p:spPr>
          <a:xfrm>
            <a:off x="7269480" y="2400300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9" name="Stage7Number"/>
          <p:cNvSpPr/>
          <p:nvPr/>
        </p:nvSpPr>
        <p:spPr>
          <a:xfrm>
            <a:off x="7269480" y="2400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00070" name="Stage7Label"/>
          <p:cNvSpPr/>
          <p:nvPr/>
        </p:nvSpPr>
        <p:spPr>
          <a:xfrm>
            <a:off x="7559887" y="2468562"/>
            <a:ext cx="690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00071" name="Stage8"/>
          <p:cNvSpPr/>
          <p:nvPr/>
        </p:nvSpPr>
        <p:spPr>
          <a:xfrm>
            <a:off x="7146079" y="1430972"/>
            <a:ext cx="228600" cy="228600"/>
          </a:xfrm>
          <a:prstGeom prst="ellipse">
            <a:avLst/>
          </a:prstGeom>
          <a:solidFill>
            <a:srgbClr val="FFFDF8">
              <a:alpha val="65000"/>
            </a:srgbClr>
          </a:solidFill>
          <a:ln w="12700">
            <a:solidFill>
              <a:srgbClr val="315BC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2" name="Stage8Number"/>
          <p:cNvSpPr/>
          <p:nvPr/>
        </p:nvSpPr>
        <p:spPr>
          <a:xfrm>
            <a:off x="7146079" y="143097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00073" name="Stage8Label"/>
          <p:cNvSpPr/>
          <p:nvPr/>
        </p:nvSpPr>
        <p:spPr>
          <a:xfrm>
            <a:off x="7394999" y="1356677"/>
            <a:ext cx="690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Submit</a:t>
            </a:r>
          </a:p>
        </p:txBody>
      </p:sp>
      <p:sp>
        <p:nvSpPr>
          <p:cNvPr id="100081" name="SummitNode"/>
          <p:cNvSpPr/>
          <p:nvPr/>
        </p:nvSpPr>
        <p:spPr>
          <a:xfrm>
            <a:off x="7504642" y="658177"/>
            <a:ext cx="205740" cy="205740"/>
          </a:xfrm>
          <a:prstGeom prst="ellipse">
            <a:avLst/>
          </a:prstGeom>
          <a:solidFill>
            <a:srgbClr val="F6D582"/>
          </a:solidFill>
          <a:ln w="22860">
            <a:solidFill>
              <a:srgbClr val="8F641C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3" name="FlagPole"/>
          <p:cNvSpPr/>
          <p:nvPr/>
        </p:nvSpPr>
        <p:spPr>
          <a:xfrm>
            <a:off x="7590367" y="302895"/>
            <a:ext cx="34290" cy="354330"/>
          </a:xfrm>
          <a:prstGeom prst="rect">
            <a:avLst/>
          </a:prstGeom>
          <a:solidFill>
            <a:srgbClr val="684819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4" name="SummitFlag"/>
          <p:cNvSpPr/>
          <p:nvPr/>
        </p:nvSpPr>
        <p:spPr>
          <a:xfrm>
            <a:off x="7600950" y="251460"/>
            <a:ext cx="400050" cy="240030"/>
          </a:xfrm>
          <a:prstGeom prst="rightArrow">
            <a:avLst/>
          </a:prstGeom>
          <a:solidFill>
            <a:srgbClr val="EDBD3D"/>
          </a:solidFill>
          <a:ln w="19050">
            <a:solidFill>
              <a:srgbClr val="684819"/>
            </a:solidFill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cxnSp>
        <p:nvCxnSpPr>
          <p:cNvPr id="100085" name="Rollback"/>
          <p:cNvCxnSpPr>
            <a:cxnSpLocks/>
            <a:stCxn id="100071" idx="4"/>
            <a:endCxn id="100065" idx="0"/>
          </p:cNvCxnSpPr>
          <p:nvPr/>
        </p:nvCxnSpPr>
        <p:spPr>
          <a:xfrm rot="5400000">
            <a:off x="6031601" y="1571572"/>
            <a:ext cx="1140778" cy="1316779"/>
          </a:xfrm>
          <a:prstGeom prst="curvedConnector3">
            <a:avLst>
              <a:gd name="adj1" fmla="val 50000"/>
            </a:avLst>
          </a:prstGeom>
          <a:ln w="25400">
            <a:solidFill>
              <a:srgbClr val="C66C2D"/>
            </a:solidFill>
            <a:prstDash val="dash"/>
            <a:tailEnd type="triangle"/>
          </a:ln>
        </p:spPr>
      </p:cxnSp>
      <p:sp>
        <p:nvSpPr>
          <p:cNvPr id="100086" name="RollbackLabel"/>
          <p:cNvSpPr/>
          <p:nvPr/>
        </p:nvSpPr>
        <p:spPr>
          <a:xfrm rot="19799999">
            <a:off x="6115050" y="2343150"/>
            <a:ext cx="48577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 lnSpcReduction="10000"/>
          </a:bodyPr>
          <a:lstStyle/>
          <a:p>
            <a:pPr algn="ctr"/>
            <a:r>
              <a:rPr lang="en-US" sz="900" b="1" i="1" dirty="0">
                <a:solidFill>
                  <a:srgbClr val="A85E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rollback</a:t>
            </a:r>
          </a:p>
        </p:txBody>
      </p:sp>
      <p:cxnSp>
        <p:nvCxnSpPr>
          <p:cNvPr id="100087" name="RejectedBranch1"/>
          <p:cNvCxnSpPr>
            <a:cxnSpLocks/>
          </p:cNvCxnSpPr>
          <p:nvPr/>
        </p:nvCxnSpPr>
        <p:spPr>
          <a:xfrm>
            <a:off x="5084763" y="3874770"/>
            <a:ext cx="242673" cy="134302"/>
          </a:xfrm>
          <a:prstGeom prst="straightConnector1">
            <a:avLst/>
          </a:prstGeom>
          <a:ln w="22860">
            <a:solidFill>
              <a:srgbClr val="B94F49"/>
            </a:solidFill>
            <a:prstDash val="dash"/>
            <a:tailEnd type="none"/>
          </a:ln>
        </p:spPr>
      </p:cxnSp>
      <p:cxnSp>
        <p:nvCxnSpPr>
          <p:cNvPr id="100088" name="RejectedBranch2"/>
          <p:cNvCxnSpPr>
            <a:cxnSpLocks/>
          </p:cNvCxnSpPr>
          <p:nvPr/>
        </p:nvCxnSpPr>
        <p:spPr>
          <a:xfrm>
            <a:off x="6372014" y="3674745"/>
            <a:ext cx="711411" cy="25422"/>
          </a:xfrm>
          <a:prstGeom prst="straightConnector1">
            <a:avLst/>
          </a:prstGeom>
          <a:ln w="22860">
            <a:solidFill>
              <a:srgbClr val="B94F49"/>
            </a:solidFill>
            <a:prstDash val="dash"/>
            <a:tailEnd type="none"/>
          </a:ln>
        </p:spPr>
      </p:cxnSp>
      <p:sp>
        <p:nvSpPr>
          <p:cNvPr id="100089" name="RejectedX1"/>
          <p:cNvSpPr/>
          <p:nvPr/>
        </p:nvSpPr>
        <p:spPr>
          <a:xfrm>
            <a:off x="5339394" y="3931920"/>
            <a:ext cx="16002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B94F4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lang="en-US" sz="2000" b="1" dirty="0">
              <a:solidFill>
                <a:srgbClr val="B94F49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2" name="ReviewedDataLabel"/>
          <p:cNvSpPr/>
          <p:nvPr/>
        </p:nvSpPr>
        <p:spPr>
          <a:xfrm>
            <a:off x="8198109" y="2663190"/>
            <a:ext cx="465149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72558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00093" name="DynamicsPanel"/>
          <p:cNvSpPr/>
          <p:nvPr/>
        </p:nvSpPr>
        <p:spPr>
          <a:xfrm>
            <a:off x="7670800" y="3171825"/>
            <a:ext cx="3016250" cy="857250"/>
          </a:xfrm>
          <a:prstGeom prst="roundRect">
            <a:avLst>
              <a:gd name="adj" fmla="val 0"/>
            </a:avLst>
          </a:prstGeom>
          <a:solidFill>
            <a:srgbClr val="FFFDF8">
              <a:alpha val="65000"/>
            </a:srgbClr>
          </a:solidFill>
          <a:ln w="15240"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4" name="DynamicsTitle"/>
          <p:cNvSpPr/>
          <p:nvPr/>
        </p:nvSpPr>
        <p:spPr>
          <a:xfrm>
            <a:off x="8515350" y="3255636"/>
            <a:ext cx="14859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STAGE DYNAMICS</a:t>
            </a:r>
          </a:p>
        </p:txBody>
      </p:sp>
      <p:cxnSp>
        <p:nvCxnSpPr>
          <p:cNvPr id="100095" name="LegendLine0"/>
          <p:cNvCxnSpPr/>
          <p:nvPr/>
        </p:nvCxnSpPr>
        <p:spPr>
          <a:xfrm>
            <a:off x="7798012" y="3550507"/>
            <a:ext cx="400050" cy="0"/>
          </a:xfrm>
          <a:prstGeom prst="straightConnector1">
            <a:avLst/>
          </a:prstGeom>
          <a:ln w="22860">
            <a:solidFill>
              <a:srgbClr val="315BCE"/>
            </a:solidFill>
            <a:prstDash val="solid"/>
            <a:tailEnd type="triangle"/>
          </a:ln>
        </p:spPr>
      </p:cxnSp>
      <p:sp>
        <p:nvSpPr>
          <p:cNvPr id="100096" name="LegendText0"/>
          <p:cNvSpPr/>
          <p:nvPr/>
        </p:nvSpPr>
        <p:spPr>
          <a:xfrm>
            <a:off x="8312361" y="3487642"/>
            <a:ext cx="845463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00" b="1" i="1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advance</a:t>
            </a:r>
          </a:p>
        </p:txBody>
      </p:sp>
      <p:cxnSp>
        <p:nvCxnSpPr>
          <p:cNvPr id="100097" name="LegendLine1"/>
          <p:cNvCxnSpPr/>
          <p:nvPr/>
        </p:nvCxnSpPr>
        <p:spPr>
          <a:xfrm>
            <a:off x="7798012" y="3733387"/>
            <a:ext cx="400050" cy="0"/>
          </a:xfrm>
          <a:prstGeom prst="straightConnector1">
            <a:avLst/>
          </a:prstGeom>
          <a:ln w="22860">
            <a:solidFill>
              <a:srgbClr val="C66C2D"/>
            </a:solidFill>
            <a:prstDash val="dash"/>
            <a:tailEnd type="triangle"/>
          </a:ln>
        </p:spPr>
      </p:cxnSp>
      <p:sp>
        <p:nvSpPr>
          <p:cNvPr id="100098" name="LegendText1"/>
          <p:cNvSpPr/>
          <p:nvPr/>
        </p:nvSpPr>
        <p:spPr>
          <a:xfrm>
            <a:off x="8312361" y="3670522"/>
            <a:ext cx="845463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00" b="1" i="1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rollback</a:t>
            </a:r>
          </a:p>
        </p:txBody>
      </p:sp>
      <p:cxnSp>
        <p:nvCxnSpPr>
          <p:cNvPr id="100099" name="LegendLine2"/>
          <p:cNvCxnSpPr/>
          <p:nvPr/>
        </p:nvCxnSpPr>
        <p:spPr>
          <a:xfrm>
            <a:off x="7798012" y="3916267"/>
            <a:ext cx="400050" cy="0"/>
          </a:xfrm>
          <a:prstGeom prst="straightConnector1">
            <a:avLst/>
          </a:prstGeom>
          <a:ln w="22860">
            <a:solidFill>
              <a:srgbClr val="B94F49"/>
            </a:solidFill>
            <a:prstDash val="dash"/>
            <a:tailEnd type="none"/>
          </a:ln>
        </p:spPr>
      </p:cxnSp>
      <p:sp>
        <p:nvSpPr>
          <p:cNvPr id="100100" name="LegendText2"/>
          <p:cNvSpPr/>
          <p:nvPr/>
        </p:nvSpPr>
        <p:spPr>
          <a:xfrm>
            <a:off x="8312361" y="3853402"/>
            <a:ext cx="925302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00" b="1" i="1" dirty="0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rejected branch</a:t>
            </a:r>
          </a:p>
        </p:txBody>
      </p:sp>
      <p:cxnSp>
        <p:nvCxnSpPr>
          <p:cNvPr id="100101" name="LegendData"/>
          <p:cNvCxnSpPr/>
          <p:nvPr/>
        </p:nvCxnSpPr>
        <p:spPr>
          <a:xfrm>
            <a:off x="9189720" y="3573357"/>
            <a:ext cx="400050" cy="0"/>
          </a:xfrm>
          <a:prstGeom prst="straightConnector1">
            <a:avLst/>
          </a:prstGeom>
          <a:ln w="22860">
            <a:solidFill>
              <a:srgbClr val="8665A5"/>
            </a:solidFill>
            <a:prstDash val="dash"/>
            <a:tailEnd type="triangle"/>
          </a:ln>
        </p:spPr>
      </p:cxnSp>
      <p:sp>
        <p:nvSpPr>
          <p:cNvPr id="100102" name="LegendDataText"/>
          <p:cNvSpPr/>
          <p:nvPr/>
        </p:nvSpPr>
        <p:spPr>
          <a:xfrm>
            <a:off x="9659645" y="3510492"/>
            <a:ext cx="81023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00" b="1" i="1" dirty="0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training data</a:t>
            </a:r>
          </a:p>
        </p:txBody>
      </p:sp>
      <p:sp>
        <p:nvSpPr>
          <p:cNvPr id="100103" name="AcceptedCheckpoint"/>
          <p:cNvSpPr/>
          <p:nvPr/>
        </p:nvSpPr>
        <p:spPr>
          <a:xfrm>
            <a:off x="9322117" y="3795712"/>
            <a:ext cx="164783" cy="164783"/>
          </a:xfrm>
          <a:prstGeom prst="ellipse">
            <a:avLst/>
          </a:prstGeom>
          <a:solidFill>
            <a:srgbClr val="EDF7F5"/>
          </a:solidFill>
          <a:ln w="17780">
            <a:solidFill>
              <a:srgbClr val="277F7C"/>
            </a:solidFill>
          </a:ln>
        </p:spPr>
        <p:txBody>
          <a:bodyPr lIns="18288" tIns="18288" rIns="18288" bIns="18288" anchor="ctr">
            <a:normAutofit fontScale="8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04" name="AcceptedCheck"/>
          <p:cNvSpPr/>
          <p:nvPr/>
        </p:nvSpPr>
        <p:spPr>
          <a:xfrm>
            <a:off x="9344025" y="3800475"/>
            <a:ext cx="137160" cy="1520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77F7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105" name="AcceptedText"/>
          <p:cNvSpPr/>
          <p:nvPr/>
        </p:nvSpPr>
        <p:spPr>
          <a:xfrm>
            <a:off x="9540716" y="3796242"/>
            <a:ext cx="1127284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00" b="1" i="1">
                <a:solidFill>
                  <a:srgbClr val="586C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accepted checkpoint</a:t>
            </a:r>
          </a:p>
        </p:txBody>
      </p:sp>
      <p:sp>
        <p:nvSpPr>
          <p:cNvPr id="100106" name="PersistentStatePanel"/>
          <p:cNvSpPr/>
          <p:nvPr/>
        </p:nvSpPr>
        <p:spPr>
          <a:xfrm>
            <a:off x="1725930" y="4446270"/>
            <a:ext cx="7343775" cy="285750"/>
          </a:xfrm>
          <a:prstGeom prst="roundRect">
            <a:avLst/>
          </a:prstGeom>
          <a:solidFill>
            <a:srgbClr val="FFFDF8">
              <a:alpha val="65000"/>
            </a:srgbClr>
          </a:solidFill>
          <a:ln w="15240"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07" name="PersistentStateTitle"/>
          <p:cNvSpPr/>
          <p:nvPr/>
        </p:nvSpPr>
        <p:spPr>
          <a:xfrm>
            <a:off x="1826260" y="4514259"/>
            <a:ext cx="14795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PERSISTENT STATE</a:t>
            </a:r>
          </a:p>
        </p:txBody>
      </p:sp>
      <p:sp>
        <p:nvSpPr>
          <p:cNvPr id="100108" name="StateDot0"/>
          <p:cNvSpPr/>
          <p:nvPr/>
        </p:nvSpPr>
        <p:spPr>
          <a:xfrm>
            <a:off x="3749040" y="4549140"/>
            <a:ext cx="80010" cy="80010"/>
          </a:xfrm>
          <a:prstGeom prst="ellipse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09" name="StateText0"/>
          <p:cNvSpPr/>
          <p:nvPr/>
        </p:nvSpPr>
        <p:spPr>
          <a:xfrm>
            <a:off x="3880485" y="4509135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Memory</a:t>
            </a:r>
          </a:p>
        </p:txBody>
      </p:sp>
      <p:sp>
        <p:nvSpPr>
          <p:cNvPr id="100110" name="StateDot1"/>
          <p:cNvSpPr/>
          <p:nvPr/>
        </p:nvSpPr>
        <p:spPr>
          <a:xfrm>
            <a:off x="4906433" y="4549140"/>
            <a:ext cx="80010" cy="80010"/>
          </a:xfrm>
          <a:prstGeom prst="ellipse">
            <a:avLst/>
          </a:prstGeom>
          <a:solidFill>
            <a:srgbClr val="277F7C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11" name="StateText1"/>
          <p:cNvSpPr/>
          <p:nvPr/>
        </p:nvSpPr>
        <p:spPr>
          <a:xfrm>
            <a:off x="5037878" y="4509135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277F7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Skills</a:t>
            </a:r>
          </a:p>
        </p:txBody>
      </p:sp>
      <p:sp>
        <p:nvSpPr>
          <p:cNvPr id="100112" name="StateDot2"/>
          <p:cNvSpPr/>
          <p:nvPr/>
        </p:nvSpPr>
        <p:spPr>
          <a:xfrm>
            <a:off x="5986780" y="4549140"/>
            <a:ext cx="80010" cy="80010"/>
          </a:xfrm>
          <a:prstGeom prst="ellipse">
            <a:avLst/>
          </a:prstGeom>
          <a:solidFill>
            <a:srgbClr val="8665A5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13" name="StateText2"/>
          <p:cNvSpPr/>
          <p:nvPr/>
        </p:nvSpPr>
        <p:spPr>
          <a:xfrm>
            <a:off x="6118225" y="4509135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8665A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100114" name="StateDot3"/>
          <p:cNvSpPr/>
          <p:nvPr/>
        </p:nvSpPr>
        <p:spPr>
          <a:xfrm>
            <a:off x="7020983" y="4549140"/>
            <a:ext cx="80010" cy="80010"/>
          </a:xfrm>
          <a:prstGeom prst="ellipse">
            <a:avLst/>
          </a:prstGeom>
          <a:solidFill>
            <a:srgbClr val="C66C2D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15" name="StateText3"/>
          <p:cNvSpPr/>
          <p:nvPr/>
        </p:nvSpPr>
        <p:spPr>
          <a:xfrm>
            <a:off x="7152428" y="4509135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C66C2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Verifiers</a:t>
            </a:r>
          </a:p>
        </p:txBody>
      </p:sp>
      <p:sp>
        <p:nvSpPr>
          <p:cNvPr id="100116" name="StateDot4"/>
          <p:cNvSpPr/>
          <p:nvPr/>
        </p:nvSpPr>
        <p:spPr>
          <a:xfrm>
            <a:off x="8118687" y="4549140"/>
            <a:ext cx="80010" cy="80010"/>
          </a:xfrm>
          <a:prstGeom prst="ellipse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17" name="StateText4"/>
          <p:cNvSpPr/>
          <p:nvPr/>
        </p:nvSpPr>
        <p:spPr>
          <a:xfrm>
            <a:off x="8250132" y="4509135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Routing</a:t>
            </a:r>
          </a:p>
        </p:txBody>
      </p:sp>
      <p:sp>
        <p:nvSpPr>
          <p:cNvPr id="37" name="RejectedX1">
            <a:extLst>
              <a:ext uri="{FF2B5EF4-FFF2-40B4-BE49-F238E27FC236}">
                <a16:creationId xmlns:a16="http://schemas.microsoft.com/office/drawing/2014/main" id="{CE734F17-4EBB-EAE2-032D-4C9F0619278D}"/>
              </a:ext>
            </a:extLst>
          </p:cNvPr>
          <p:cNvSpPr/>
          <p:nvPr/>
        </p:nvSpPr>
        <p:spPr>
          <a:xfrm>
            <a:off x="7090516" y="3612271"/>
            <a:ext cx="16002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B94F4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lang="en-US" sz="2000" b="1" dirty="0">
              <a:solidFill>
                <a:srgbClr val="B94F49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56FAFD6D-3A5D-398B-54E8-8AF6C550A31F}"/>
              </a:ext>
            </a:extLst>
          </p:cNvPr>
          <p:cNvCxnSpPr>
            <a:cxnSpLocks/>
            <a:stCxn id="100050" idx="4"/>
            <a:endCxn id="100054" idx="0"/>
          </p:cNvCxnSpPr>
          <p:nvPr/>
        </p:nvCxnSpPr>
        <p:spPr>
          <a:xfrm rot="16200000" flipH="1">
            <a:off x="3410215" y="3387566"/>
            <a:ext cx="448628" cy="525780"/>
          </a:xfrm>
          <a:prstGeom prst="curvedConnector3">
            <a:avLst/>
          </a:prstGeom>
          <a:ln w="25400" cmpd="sng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AEDBEF3C-4AAB-AA2B-AB24-2BB3CB00B86F}"/>
              </a:ext>
            </a:extLst>
          </p:cNvPr>
          <p:cNvCxnSpPr>
            <a:cxnSpLocks/>
            <a:stCxn id="100053" idx="6"/>
            <a:endCxn id="100056" idx="0"/>
          </p:cNvCxnSpPr>
          <p:nvPr/>
        </p:nvCxnSpPr>
        <p:spPr>
          <a:xfrm flipV="1">
            <a:off x="4011719" y="3837622"/>
            <a:ext cx="697441" cy="151448"/>
          </a:xfrm>
          <a:prstGeom prst="curvedConnector4">
            <a:avLst>
              <a:gd name="adj1" fmla="val 41806"/>
              <a:gd name="adj2" fmla="val 250943"/>
            </a:avLst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ADC8E506-EB19-9932-8BA3-94204A2935DB}"/>
              </a:ext>
            </a:extLst>
          </p:cNvPr>
          <p:cNvCxnSpPr>
            <a:cxnSpLocks/>
            <a:stCxn id="100056" idx="6"/>
            <a:endCxn id="100060" idx="2"/>
          </p:cNvCxnSpPr>
          <p:nvPr/>
        </p:nvCxnSpPr>
        <p:spPr>
          <a:xfrm flipV="1">
            <a:off x="4823460" y="3608757"/>
            <a:ext cx="399892" cy="343165"/>
          </a:xfrm>
          <a:prstGeom prst="curvedConnector2">
            <a:avLst/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57276FF-55A4-B19B-DDAC-69BC3F30F5B9}"/>
              </a:ext>
            </a:extLst>
          </p:cNvPr>
          <p:cNvCxnSpPr>
            <a:cxnSpLocks/>
            <a:stCxn id="100059" idx="6"/>
            <a:endCxn id="100062" idx="4"/>
          </p:cNvCxnSpPr>
          <p:nvPr/>
        </p:nvCxnSpPr>
        <p:spPr>
          <a:xfrm>
            <a:off x="5337652" y="3494457"/>
            <a:ext cx="920062" cy="248868"/>
          </a:xfrm>
          <a:prstGeom prst="curvedConnector4">
            <a:avLst>
              <a:gd name="adj1" fmla="val 43788"/>
              <a:gd name="adj2" fmla="val 191856"/>
            </a:avLst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69" name="连接符: 曲线 99968">
            <a:extLst>
              <a:ext uri="{FF2B5EF4-FFF2-40B4-BE49-F238E27FC236}">
                <a16:creationId xmlns:a16="http://schemas.microsoft.com/office/drawing/2014/main" id="{25095C63-EB17-2EB4-CE20-FF9567B11FC7}"/>
              </a:ext>
            </a:extLst>
          </p:cNvPr>
          <p:cNvCxnSpPr>
            <a:cxnSpLocks/>
            <a:endCxn id="100065" idx="4"/>
          </p:cNvCxnSpPr>
          <p:nvPr/>
        </p:nvCxnSpPr>
        <p:spPr>
          <a:xfrm rot="16200000" flipV="1">
            <a:off x="5857770" y="3114780"/>
            <a:ext cx="485776" cy="314115"/>
          </a:xfrm>
          <a:prstGeom prst="curvedConnector3">
            <a:avLst/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72" name="连接符: 曲线 99971">
            <a:extLst>
              <a:ext uri="{FF2B5EF4-FFF2-40B4-BE49-F238E27FC236}">
                <a16:creationId xmlns:a16="http://schemas.microsoft.com/office/drawing/2014/main" id="{A909A69D-CF6E-75EF-A97E-92B75867D0C8}"/>
              </a:ext>
            </a:extLst>
          </p:cNvPr>
          <p:cNvCxnSpPr>
            <a:cxnSpLocks/>
            <a:stCxn id="100065" idx="6"/>
            <a:endCxn id="100068" idx="2"/>
          </p:cNvCxnSpPr>
          <p:nvPr/>
        </p:nvCxnSpPr>
        <p:spPr>
          <a:xfrm flipV="1">
            <a:off x="6057900" y="2514600"/>
            <a:ext cx="1211580" cy="400050"/>
          </a:xfrm>
          <a:prstGeom prst="curvedConnector3">
            <a:avLst>
              <a:gd name="adj1" fmla="val 53407"/>
            </a:avLst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79" name="直接箭头连接符 99978">
            <a:extLst>
              <a:ext uri="{FF2B5EF4-FFF2-40B4-BE49-F238E27FC236}">
                <a16:creationId xmlns:a16="http://schemas.microsoft.com/office/drawing/2014/main" id="{B673423A-C20E-CBD9-0BB4-169D68762A5E}"/>
              </a:ext>
            </a:extLst>
          </p:cNvPr>
          <p:cNvCxnSpPr>
            <a:stCxn id="100068" idx="0"/>
            <a:endCxn id="100071" idx="4"/>
          </p:cNvCxnSpPr>
          <p:nvPr/>
        </p:nvCxnSpPr>
        <p:spPr>
          <a:xfrm flipH="1" flipV="1">
            <a:off x="7260379" y="1659572"/>
            <a:ext cx="123401" cy="740728"/>
          </a:xfrm>
          <a:prstGeom prst="straightConnector1">
            <a:avLst/>
          </a:prstGeom>
          <a:ln w="25400">
            <a:solidFill>
              <a:srgbClr val="315BCE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95" name="连接符: 曲线 99994">
            <a:extLst>
              <a:ext uri="{FF2B5EF4-FFF2-40B4-BE49-F238E27FC236}">
                <a16:creationId xmlns:a16="http://schemas.microsoft.com/office/drawing/2014/main" id="{6D80B5E9-11A2-BA2C-A9D2-933F3A1069D5}"/>
              </a:ext>
            </a:extLst>
          </p:cNvPr>
          <p:cNvCxnSpPr>
            <a:cxnSpLocks/>
            <a:stCxn id="100092" idx="0"/>
            <a:endCxn id="100036" idx="2"/>
          </p:cNvCxnSpPr>
          <p:nvPr/>
        </p:nvCxnSpPr>
        <p:spPr>
          <a:xfrm rot="5400000" flipH="1" flipV="1">
            <a:off x="8547788" y="1814566"/>
            <a:ext cx="731520" cy="965729"/>
          </a:xfrm>
          <a:prstGeom prst="curvedConnector3">
            <a:avLst/>
          </a:prstGeom>
          <a:ln w="25400">
            <a:solidFill>
              <a:srgbClr val="8665A5"/>
            </a:solidFill>
            <a:prstDash val="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99" name="直接箭头连接符 99998">
            <a:extLst>
              <a:ext uri="{FF2B5EF4-FFF2-40B4-BE49-F238E27FC236}">
                <a16:creationId xmlns:a16="http://schemas.microsoft.com/office/drawing/2014/main" id="{8308CA2B-0B70-98C8-8456-72E58C043C0A}"/>
              </a:ext>
            </a:extLst>
          </p:cNvPr>
          <p:cNvCxnSpPr>
            <a:stCxn id="100071" idx="0"/>
            <a:endCxn id="100003" idx="4"/>
          </p:cNvCxnSpPr>
          <p:nvPr/>
        </p:nvCxnSpPr>
        <p:spPr>
          <a:xfrm flipV="1">
            <a:off x="7260379" y="981922"/>
            <a:ext cx="392006" cy="4490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72</Words>
  <Application>Microsoft Office PowerPoint</Application>
  <PresentationFormat>自定义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2 - Long-Horizon Runtime Model</dc:title>
  <dc:subject>Component-editable paper figure source</dc:subject>
  <dc:creator>Argus Team</dc:creator>
  <cp:lastModifiedBy>Iris Young</cp:lastModifiedBy>
  <cp:revision>5</cp:revision>
  <dcterms:created xsi:type="dcterms:W3CDTF">2026-07-20T05:56:44Z</dcterms:created>
  <dcterms:modified xsi:type="dcterms:W3CDTF">2026-07-20T08:23:12Z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1.0.139</vt:lpwstr>
  </property>
  <property fmtid="{D5CDD505-2E9C-101B-9397-08002B2CF9AE}" pid="3" name="OfficeCLI.LastModified">
    <vt:lpwstr>2026-07-20T05:57:41Z</vt:lpwstr>
  </property>
</Properties>
</file>
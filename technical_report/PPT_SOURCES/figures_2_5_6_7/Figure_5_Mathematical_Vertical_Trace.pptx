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972800" cy="47545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D0B0D-90B2-42C7-88CF-DD258D8DE34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31763" y="1143000"/>
            <a:ext cx="7121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3090A-0DCC-48BF-B1F0-1378970C3D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83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3090A-0DCC-48BF-B1F0-1378970C3D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05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ure 5 - Mathematical Vertical Trace"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Header"/>
          <p:cNvSpPr/>
          <p:nvPr/>
        </p:nvSpPr>
        <p:spPr>
          <a:xfrm>
            <a:off x="173736" y="315945"/>
            <a:ext cx="5202936" cy="2926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Erdos-</a:t>
            </a:r>
            <a:r>
              <a:rPr lang="en-US" sz="2200" b="1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Gyarfas</a:t>
            </a:r>
            <a:r>
              <a:rPr lang="en-US" sz="22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campaign - claim frontier</a:t>
            </a:r>
          </a:p>
        </p:txBody>
      </p:sp>
      <p:sp>
        <p:nvSpPr>
          <p:cNvPr id="100003" name="Legend0"/>
          <p:cNvSpPr/>
          <p:nvPr/>
        </p:nvSpPr>
        <p:spPr>
          <a:xfrm>
            <a:off x="5376672" y="383889"/>
            <a:ext cx="914400" cy="256032"/>
          </a:xfrm>
          <a:prstGeom prst="roundRect">
            <a:avLst/>
          </a:prstGeom>
          <a:solidFill>
            <a:srgbClr val="FFFDF8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12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4" name="LegendText0"/>
          <p:cNvSpPr/>
          <p:nvPr/>
        </p:nvSpPr>
        <p:spPr>
          <a:xfrm>
            <a:off x="5376672" y="383889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falsified</a:t>
            </a:r>
          </a:p>
        </p:txBody>
      </p:sp>
      <p:sp>
        <p:nvSpPr>
          <p:cNvPr id="100005" name="Legend1"/>
          <p:cNvSpPr/>
          <p:nvPr/>
        </p:nvSpPr>
        <p:spPr>
          <a:xfrm>
            <a:off x="6450661" y="383889"/>
            <a:ext cx="1254642" cy="256032"/>
          </a:xfrm>
          <a:prstGeom prst="roundRect">
            <a:avLst/>
          </a:prstGeom>
          <a:solidFill>
            <a:srgbClr val="FFFDF8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6" name="LegendText1"/>
          <p:cNvSpPr/>
          <p:nvPr/>
        </p:nvSpPr>
        <p:spPr>
          <a:xfrm>
            <a:off x="6478422" y="383889"/>
            <a:ext cx="1254642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6875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known baseline</a:t>
            </a:r>
          </a:p>
        </p:txBody>
      </p:sp>
      <p:sp>
        <p:nvSpPr>
          <p:cNvPr id="100007" name="Legend2"/>
          <p:cNvSpPr/>
          <p:nvPr/>
        </p:nvSpPr>
        <p:spPr>
          <a:xfrm>
            <a:off x="7892654" y="383889"/>
            <a:ext cx="1403498" cy="256032"/>
          </a:xfrm>
          <a:prstGeom prst="roundRect">
            <a:avLst/>
          </a:prstGeom>
          <a:solidFill>
            <a:srgbClr val="FFFDF8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08" name="LegendText2"/>
          <p:cNvSpPr/>
          <p:nvPr/>
        </p:nvSpPr>
        <p:spPr>
          <a:xfrm>
            <a:off x="7892654" y="383889"/>
            <a:ext cx="140349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9B6B16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campaign frontier</a:t>
            </a:r>
          </a:p>
        </p:txBody>
      </p:sp>
      <p:sp>
        <p:nvSpPr>
          <p:cNvPr id="100009" name="Legend3"/>
          <p:cNvSpPr/>
          <p:nvPr/>
        </p:nvSpPr>
        <p:spPr>
          <a:xfrm>
            <a:off x="9471270" y="383889"/>
            <a:ext cx="1254642" cy="256032"/>
          </a:xfrm>
          <a:prstGeom prst="roundRect">
            <a:avLst/>
          </a:prstGeom>
          <a:solidFill>
            <a:srgbClr val="FFFDF8"/>
          </a:solidFill>
          <a:ln w="8890">
            <a:solidFill>
              <a:srgbClr val="D8E0E8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0" name="LegendText3"/>
          <p:cNvSpPr/>
          <p:nvPr/>
        </p:nvSpPr>
        <p:spPr>
          <a:xfrm>
            <a:off x="9471270" y="383889"/>
            <a:ext cx="1254642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Argus-reviewed</a:t>
            </a:r>
          </a:p>
        </p:txBody>
      </p:sp>
      <p:sp>
        <p:nvSpPr>
          <p:cNvPr id="100011" name="TimelinePanel"/>
          <p:cNvSpPr/>
          <p:nvPr/>
        </p:nvSpPr>
        <p:spPr>
          <a:xfrm>
            <a:off x="173736" y="740505"/>
            <a:ext cx="10552176" cy="1537432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2" name="TimelineTitle"/>
          <p:cNvSpPr/>
          <p:nvPr/>
        </p:nvSpPr>
        <p:spPr>
          <a:xfrm>
            <a:off x="265176" y="863825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6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Seven retained claim updates</a:t>
            </a:r>
          </a:p>
        </p:txBody>
      </p:sp>
      <p:sp>
        <p:nvSpPr>
          <p:cNvPr id="100013" name="Claim0"/>
          <p:cNvSpPr/>
          <p:nvPr/>
        </p:nvSpPr>
        <p:spPr>
          <a:xfrm>
            <a:off x="265176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6F6"/>
          </a:solidFill>
          <a:ln w="15240">
            <a:solidFill>
              <a:srgbClr val="B43F55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15" name="ClaimId0"/>
          <p:cNvSpPr/>
          <p:nvPr/>
        </p:nvSpPr>
        <p:spPr>
          <a:xfrm>
            <a:off x="329184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C5</a:t>
            </a:r>
          </a:p>
        </p:txBody>
      </p:sp>
      <p:sp>
        <p:nvSpPr>
          <p:cNvPr id="100016" name="ClaimCheck0"/>
          <p:cNvSpPr/>
          <p:nvPr/>
        </p:nvSpPr>
        <p:spPr>
          <a:xfrm>
            <a:off x="1399032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17" name="ClaimTitle0"/>
          <p:cNvSpPr/>
          <p:nvPr/>
        </p:nvSpPr>
        <p:spPr>
          <a:xfrm>
            <a:off x="329184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Route falsified</a:t>
            </a:r>
          </a:p>
        </p:txBody>
      </p:sp>
      <p:sp>
        <p:nvSpPr>
          <p:cNvPr id="100018" name="ClaimDetail0"/>
          <p:cNvSpPr/>
          <p:nvPr/>
        </p:nvSpPr>
        <p:spPr>
          <a:xfrm>
            <a:off x="329184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24-vertex witness</a:t>
            </a:r>
          </a:p>
        </p:txBody>
      </p:sp>
      <p:sp>
        <p:nvSpPr>
          <p:cNvPr id="100020" name="Claim1"/>
          <p:cNvSpPr/>
          <p:nvPr/>
        </p:nvSpPr>
        <p:spPr>
          <a:xfrm>
            <a:off x="1755648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5240">
            <a:solidFill>
              <a:srgbClr val="7A838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2" name="ClaimId1"/>
          <p:cNvSpPr/>
          <p:nvPr/>
        </p:nvSpPr>
        <p:spPr>
          <a:xfrm>
            <a:off x="1819656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7A83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C20</a:t>
            </a:r>
          </a:p>
        </p:txBody>
      </p:sp>
      <p:sp>
        <p:nvSpPr>
          <p:cNvPr id="100023" name="ClaimCheck1"/>
          <p:cNvSpPr/>
          <p:nvPr/>
        </p:nvSpPr>
        <p:spPr>
          <a:xfrm>
            <a:off x="2889504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24" name="ClaimTitle1"/>
          <p:cNvSpPr/>
          <p:nvPr/>
        </p:nvSpPr>
        <p:spPr>
          <a:xfrm>
            <a:off x="1819656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C4 degree bound</a:t>
            </a:r>
          </a:p>
        </p:txBody>
      </p:sp>
      <p:sp>
        <p:nvSpPr>
          <p:cNvPr id="100025" name="ClaimDetail1"/>
          <p:cNvSpPr/>
          <p:nvPr/>
        </p:nvSpPr>
        <p:spPr>
          <a:xfrm>
            <a:off x="1819656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d(d-1) &gt; n-1</a:t>
            </a:r>
          </a:p>
        </p:txBody>
      </p:sp>
      <p:sp>
        <p:nvSpPr>
          <p:cNvPr id="100027" name="Claim2"/>
          <p:cNvSpPr/>
          <p:nvPr/>
        </p:nvSpPr>
        <p:spPr>
          <a:xfrm>
            <a:off x="3246120" y="1218473"/>
            <a:ext cx="1426464" cy="969264"/>
          </a:xfrm>
          <a:prstGeom prst="roundRect">
            <a:avLst>
              <a:gd name="adj" fmla="val 3040"/>
            </a:avLst>
          </a:prstGeom>
          <a:solidFill>
            <a:srgbClr val="FFFDF8"/>
          </a:solidFill>
          <a:ln w="15240">
            <a:solidFill>
              <a:srgbClr val="7A838E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29" name="ClaimId2"/>
          <p:cNvSpPr/>
          <p:nvPr/>
        </p:nvSpPr>
        <p:spPr>
          <a:xfrm>
            <a:off x="3310128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7A83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C21</a:t>
            </a:r>
          </a:p>
        </p:txBody>
      </p:sp>
      <p:sp>
        <p:nvSpPr>
          <p:cNvPr id="100030" name="ClaimCheck2"/>
          <p:cNvSpPr/>
          <p:nvPr/>
        </p:nvSpPr>
        <p:spPr>
          <a:xfrm>
            <a:off x="4379976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31" name="ClaimTitle2"/>
          <p:cNvSpPr/>
          <p:nvPr/>
        </p:nvSpPr>
        <p:spPr>
          <a:xfrm>
            <a:off x="3310128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Rooted paths</a:t>
            </a:r>
          </a:p>
        </p:txBody>
      </p:sp>
      <p:sp>
        <p:nvSpPr>
          <p:cNvPr id="100032" name="ClaimDetail2"/>
          <p:cNvSpPr/>
          <p:nvPr/>
        </p:nvSpPr>
        <p:spPr>
          <a:xfrm>
            <a:off x="3310128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length 2 vs. 4</a:t>
            </a:r>
          </a:p>
        </p:txBody>
      </p:sp>
      <p:sp>
        <p:nvSpPr>
          <p:cNvPr id="100034" name="Claim3"/>
          <p:cNvSpPr/>
          <p:nvPr/>
        </p:nvSpPr>
        <p:spPr>
          <a:xfrm>
            <a:off x="4736592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AF0"/>
          </a:solidFill>
          <a:ln w="15240">
            <a:solidFill>
              <a:srgbClr val="C38A20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36" name="ClaimId3"/>
          <p:cNvSpPr/>
          <p:nvPr/>
        </p:nvSpPr>
        <p:spPr>
          <a:xfrm>
            <a:off x="4800600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C22</a:t>
            </a:r>
          </a:p>
        </p:txBody>
      </p:sp>
      <p:sp>
        <p:nvSpPr>
          <p:cNvPr id="100037" name="ClaimCheck3"/>
          <p:cNvSpPr/>
          <p:nvPr/>
        </p:nvSpPr>
        <p:spPr>
          <a:xfrm>
            <a:off x="5870448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38" name="ClaimTitle3"/>
          <p:cNvSpPr/>
          <p:nvPr/>
        </p:nvSpPr>
        <p:spPr>
          <a:xfrm>
            <a:off x="4800600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Blocker or 27</a:t>
            </a:r>
          </a:p>
        </p:txBody>
      </p:sp>
      <p:sp>
        <p:nvSpPr>
          <p:cNvPr id="100039" name="ClaimDetail3"/>
          <p:cNvSpPr/>
          <p:nvPr/>
        </p:nvSpPr>
        <p:spPr>
          <a:xfrm>
            <a:off x="4800600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threshold 28</a:t>
            </a:r>
          </a:p>
        </p:txBody>
      </p:sp>
      <p:sp>
        <p:nvSpPr>
          <p:cNvPr id="100041" name="Claim4"/>
          <p:cNvSpPr/>
          <p:nvPr/>
        </p:nvSpPr>
        <p:spPr>
          <a:xfrm>
            <a:off x="6227064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AF0"/>
          </a:solidFill>
          <a:ln w="15240">
            <a:solidFill>
              <a:srgbClr val="C38A20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43" name="ClaimId4"/>
          <p:cNvSpPr/>
          <p:nvPr/>
        </p:nvSpPr>
        <p:spPr>
          <a:xfrm>
            <a:off x="6291072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C23</a:t>
            </a:r>
          </a:p>
        </p:txBody>
      </p:sp>
      <p:sp>
        <p:nvSpPr>
          <p:cNvPr id="100044" name="ClaimCheck4"/>
          <p:cNvSpPr/>
          <p:nvPr/>
        </p:nvSpPr>
        <p:spPr>
          <a:xfrm>
            <a:off x="7360920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45" name="ClaimTitle4"/>
          <p:cNvSpPr/>
          <p:nvPr/>
        </p:nvSpPr>
        <p:spPr>
          <a:xfrm>
            <a:off x="6291072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Blocker or 25</a:t>
            </a:r>
          </a:p>
        </p:txBody>
      </p:sp>
      <p:sp>
        <p:nvSpPr>
          <p:cNvPr id="100046" name="ClaimDetail4"/>
          <p:cNvSpPr/>
          <p:nvPr/>
        </p:nvSpPr>
        <p:spPr>
          <a:xfrm>
            <a:off x="6291072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threshold 26</a:t>
            </a:r>
          </a:p>
        </p:txBody>
      </p:sp>
      <p:sp>
        <p:nvSpPr>
          <p:cNvPr id="100048" name="Claim5"/>
          <p:cNvSpPr/>
          <p:nvPr/>
        </p:nvSpPr>
        <p:spPr>
          <a:xfrm>
            <a:off x="7717536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AF0"/>
          </a:solidFill>
          <a:ln w="15240">
            <a:solidFill>
              <a:srgbClr val="C38A20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0" name="ClaimId5"/>
          <p:cNvSpPr/>
          <p:nvPr/>
        </p:nvSpPr>
        <p:spPr>
          <a:xfrm>
            <a:off x="7781544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C24</a:t>
            </a:r>
          </a:p>
        </p:txBody>
      </p:sp>
      <p:sp>
        <p:nvSpPr>
          <p:cNvPr id="100051" name="ClaimCheck5"/>
          <p:cNvSpPr/>
          <p:nvPr/>
        </p:nvSpPr>
        <p:spPr>
          <a:xfrm>
            <a:off x="8851392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52" name="ClaimTitle5"/>
          <p:cNvSpPr/>
          <p:nvPr/>
        </p:nvSpPr>
        <p:spPr>
          <a:xfrm>
            <a:off x="7781544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Simple triples</a:t>
            </a:r>
          </a:p>
        </p:txBody>
      </p:sp>
      <p:sp>
        <p:nvSpPr>
          <p:cNvPr id="100053" name="ClaimDetail5"/>
          <p:cNvSpPr/>
          <p:nvPr/>
        </p:nvSpPr>
        <p:spPr>
          <a:xfrm>
            <a:off x="7781544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injective map</a:t>
            </a:r>
          </a:p>
        </p:txBody>
      </p:sp>
      <p:sp>
        <p:nvSpPr>
          <p:cNvPr id="100055" name="Claim6"/>
          <p:cNvSpPr/>
          <p:nvPr/>
        </p:nvSpPr>
        <p:spPr>
          <a:xfrm>
            <a:off x="9208008" y="1218473"/>
            <a:ext cx="1426464" cy="969264"/>
          </a:xfrm>
          <a:prstGeom prst="roundRect">
            <a:avLst>
              <a:gd name="adj" fmla="val 0"/>
            </a:avLst>
          </a:prstGeom>
          <a:solidFill>
            <a:srgbClr val="FFFAF0"/>
          </a:solidFill>
          <a:ln w="15240">
            <a:solidFill>
              <a:srgbClr val="C38A20"/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57" name="ClaimId6"/>
          <p:cNvSpPr/>
          <p:nvPr/>
        </p:nvSpPr>
        <p:spPr>
          <a:xfrm>
            <a:off x="9272016" y="1309913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C25</a:t>
            </a:r>
          </a:p>
        </p:txBody>
      </p:sp>
      <p:sp>
        <p:nvSpPr>
          <p:cNvPr id="100058" name="ClaimCheck6"/>
          <p:cNvSpPr/>
          <p:nvPr/>
        </p:nvSpPr>
        <p:spPr>
          <a:xfrm>
            <a:off x="10341864" y="1291625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US" sz="11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OK</a:t>
            </a:r>
          </a:p>
        </p:txBody>
      </p:sp>
      <p:sp>
        <p:nvSpPr>
          <p:cNvPr id="100059" name="ClaimTitle6"/>
          <p:cNvSpPr/>
          <p:nvPr/>
        </p:nvSpPr>
        <p:spPr>
          <a:xfrm>
            <a:off x="9272016" y="1575089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Fano excluded</a:t>
            </a:r>
          </a:p>
        </p:txBody>
      </p:sp>
      <p:sp>
        <p:nvSpPr>
          <p:cNvPr id="100060" name="ClaimDetail6"/>
          <p:cNvSpPr/>
          <p:nvPr/>
        </p:nvSpPr>
        <p:spPr>
          <a:xfrm>
            <a:off x="9272016" y="1876841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gap closure</a:t>
            </a:r>
          </a:p>
        </p:txBody>
      </p:sp>
      <p:sp>
        <p:nvSpPr>
          <p:cNvPr id="100061" name="Artifact0"/>
          <p:cNvSpPr/>
          <p:nvPr/>
        </p:nvSpPr>
        <p:spPr>
          <a:xfrm>
            <a:off x="173736" y="2439833"/>
            <a:ext cx="2706185" cy="1188720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016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2" name="ArtifactAccent0"/>
          <p:cNvSpPr/>
          <p:nvPr/>
        </p:nvSpPr>
        <p:spPr>
          <a:xfrm>
            <a:off x="173736" y="2439833"/>
            <a:ext cx="50292" cy="1188720"/>
          </a:xfrm>
          <a:prstGeom prst="rect">
            <a:avLst/>
          </a:prstGeom>
          <a:solidFill>
            <a:srgbClr val="B43F55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3" name="ArtifactLabel0"/>
          <p:cNvSpPr/>
          <p:nvPr/>
        </p:nvSpPr>
        <p:spPr>
          <a:xfrm>
            <a:off x="347362" y="2541657"/>
            <a:ext cx="252330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 dirty="0">
                <a:solidFill>
                  <a:srgbClr val="B43F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Rejected branch</a:t>
            </a:r>
          </a:p>
        </p:txBody>
      </p:sp>
      <p:sp>
        <p:nvSpPr>
          <p:cNvPr id="100064" name="ArtifactTitle0"/>
          <p:cNvSpPr/>
          <p:nvPr/>
        </p:nvSpPr>
        <p:spPr>
          <a:xfrm>
            <a:off x="347362" y="2815977"/>
            <a:ext cx="2523305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P13/P17 + C16</a:t>
            </a:r>
          </a:p>
        </p:txBody>
      </p:sp>
      <p:sp>
        <p:nvSpPr>
          <p:cNvPr id="100065" name="ArtifactBody0"/>
          <p:cNvSpPr/>
          <p:nvPr/>
        </p:nvSpPr>
        <p:spPr>
          <a:xfrm>
            <a:off x="347362" y="3126873"/>
            <a:ext cx="2169669" cy="4023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 witness disproves the proposed P13-free reduction.</a:t>
            </a:r>
          </a:p>
        </p:txBody>
      </p:sp>
      <p:sp>
        <p:nvSpPr>
          <p:cNvPr id="100066" name="Artifact1"/>
          <p:cNvSpPr/>
          <p:nvPr/>
        </p:nvSpPr>
        <p:spPr>
          <a:xfrm>
            <a:off x="2953073" y="2439833"/>
            <a:ext cx="2460175" cy="1188720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016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7" name="ArtifactAccent1"/>
          <p:cNvSpPr/>
          <p:nvPr/>
        </p:nvSpPr>
        <p:spPr>
          <a:xfrm>
            <a:off x="2953073" y="2439833"/>
            <a:ext cx="50292" cy="1188720"/>
          </a:xfrm>
          <a:prstGeom prst="rect">
            <a:avLst/>
          </a:prstGeom>
          <a:solidFill>
            <a:srgbClr val="7A838E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68" name="ArtifactLabel1"/>
          <p:cNvSpPr/>
          <p:nvPr/>
        </p:nvSpPr>
        <p:spPr>
          <a:xfrm>
            <a:off x="3126699" y="2541657"/>
            <a:ext cx="227729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>
                <a:solidFill>
                  <a:srgbClr val="7A838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Baseline theorem</a:t>
            </a:r>
          </a:p>
        </p:txBody>
      </p:sp>
      <p:sp>
        <p:nvSpPr>
          <p:cNvPr id="100069" name="ArtifactTitle1"/>
          <p:cNvSpPr/>
          <p:nvPr/>
        </p:nvSpPr>
        <p:spPr>
          <a:xfrm>
            <a:off x="3126699" y="2815977"/>
            <a:ext cx="2277295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C4 degree bound</a:t>
            </a:r>
          </a:p>
        </p:txBody>
      </p:sp>
      <p:sp>
        <p:nvSpPr>
          <p:cNvPr id="100070" name="ArtifactBody1"/>
          <p:cNvSpPr/>
          <p:nvPr/>
        </p:nvSpPr>
        <p:spPr>
          <a:xfrm>
            <a:off x="3126699" y="3126873"/>
            <a:ext cx="1919663" cy="4023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Known-style result independently re-derived and checked.</a:t>
            </a:r>
          </a:p>
        </p:txBody>
      </p:sp>
      <p:sp>
        <p:nvSpPr>
          <p:cNvPr id="100071" name="Artifact2"/>
          <p:cNvSpPr/>
          <p:nvPr/>
        </p:nvSpPr>
        <p:spPr>
          <a:xfrm>
            <a:off x="5486400" y="2439833"/>
            <a:ext cx="2706185" cy="1188720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016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2" name="ArtifactAccent2"/>
          <p:cNvSpPr/>
          <p:nvPr/>
        </p:nvSpPr>
        <p:spPr>
          <a:xfrm>
            <a:off x="5486400" y="2439833"/>
            <a:ext cx="50292" cy="1188720"/>
          </a:xfrm>
          <a:prstGeom prst="rect">
            <a:avLst/>
          </a:prstGeom>
          <a:solidFill>
            <a:srgbClr val="C38A20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3" name="ArtifactLabel2"/>
          <p:cNvSpPr/>
          <p:nvPr/>
        </p:nvSpPr>
        <p:spPr>
          <a:xfrm>
            <a:off x="5660026" y="2541657"/>
            <a:ext cx="252330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>
                <a:solidFill>
                  <a:srgbClr val="C38A2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Frontier strengthened</a:t>
            </a:r>
          </a:p>
        </p:txBody>
      </p:sp>
      <p:sp>
        <p:nvSpPr>
          <p:cNvPr id="100074" name="ArtifactTitle2"/>
          <p:cNvSpPr/>
          <p:nvPr/>
        </p:nvSpPr>
        <p:spPr>
          <a:xfrm>
            <a:off x="5660026" y="2815977"/>
            <a:ext cx="2523305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27 -&gt; 25</a:t>
            </a:r>
          </a:p>
        </p:txBody>
      </p:sp>
      <p:sp>
        <p:nvSpPr>
          <p:cNvPr id="100075" name="ArtifactBody2"/>
          <p:cNvSpPr/>
          <p:nvPr/>
        </p:nvSpPr>
        <p:spPr>
          <a:xfrm>
            <a:off x="5660027" y="3126873"/>
            <a:ext cx="2136936" cy="4023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 dirty="0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Forced-blocker threshold improves from 28 to 26.</a:t>
            </a:r>
          </a:p>
        </p:txBody>
      </p:sp>
      <p:sp>
        <p:nvSpPr>
          <p:cNvPr id="100076" name="Artifact3"/>
          <p:cNvSpPr/>
          <p:nvPr/>
        </p:nvSpPr>
        <p:spPr>
          <a:xfrm>
            <a:off x="8265737" y="2439833"/>
            <a:ext cx="2460175" cy="1188720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016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7" name="ArtifactAccent3"/>
          <p:cNvSpPr/>
          <p:nvPr/>
        </p:nvSpPr>
        <p:spPr>
          <a:xfrm>
            <a:off x="8265737" y="2439833"/>
            <a:ext cx="50292" cy="1188720"/>
          </a:xfrm>
          <a:prstGeom prst="rect">
            <a:avLst/>
          </a:prstGeom>
          <a:solidFill>
            <a:srgbClr val="287D70"/>
          </a:solidFill>
          <a:ln>
            <a:noFill/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78" name="ArtifactLabel3"/>
          <p:cNvSpPr/>
          <p:nvPr/>
        </p:nvSpPr>
        <p:spPr>
          <a:xfrm>
            <a:off x="8439363" y="2541657"/>
            <a:ext cx="227729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200" b="1">
                <a:solidFill>
                  <a:srgbClr val="287D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Bridge closure</a:t>
            </a:r>
          </a:p>
        </p:txBody>
      </p:sp>
      <p:sp>
        <p:nvSpPr>
          <p:cNvPr id="100079" name="ArtifactTitle3"/>
          <p:cNvSpPr/>
          <p:nvPr/>
        </p:nvSpPr>
        <p:spPr>
          <a:xfrm>
            <a:off x="8439363" y="2815977"/>
            <a:ext cx="2277295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>
                <a:solidFill>
                  <a:srgbClr val="1E273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 bridge lemmas</a:t>
            </a:r>
          </a:p>
        </p:txBody>
      </p:sp>
      <p:sp>
        <p:nvSpPr>
          <p:cNvPr id="100080" name="ArtifactBody3"/>
          <p:cNvSpPr/>
          <p:nvPr/>
        </p:nvSpPr>
        <p:spPr>
          <a:xfrm>
            <a:off x="8439363" y="3126873"/>
            <a:ext cx="2277295" cy="4023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050" b="1" i="1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Simple triples and the simple Fano pattern are excluded.</a:t>
            </a:r>
          </a:p>
        </p:txBody>
      </p:sp>
      <p:sp>
        <p:nvSpPr>
          <p:cNvPr id="100081" name="EfficiencyPanel"/>
          <p:cNvSpPr/>
          <p:nvPr/>
        </p:nvSpPr>
        <p:spPr>
          <a:xfrm>
            <a:off x="173736" y="3774027"/>
            <a:ext cx="10552176" cy="676656"/>
          </a:xfrm>
          <a:prstGeom prst="roundRect">
            <a:avLst>
              <a:gd name="adj" fmla="val 0"/>
            </a:avLst>
          </a:prstGeom>
          <a:solidFill>
            <a:srgbClr val="FFFDF8">
              <a:alpha val="50000"/>
            </a:srgbClr>
          </a:solidFill>
          <a:ln w="12700">
            <a:solidFill>
              <a:schemeClr val="bg2">
                <a:lumMod val="50000"/>
              </a:schemeClr>
            </a:solidFill>
          </a:ln>
        </p:spPr>
        <p:txBody>
          <a:bodyPr lIns="18288" tIns="18288" rIns="18288" bIns="18288" anchor="ctr">
            <a:normAutofit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2" name="EfficiencyTitle"/>
          <p:cNvSpPr/>
          <p:nvPr/>
        </p:nvSpPr>
        <p:spPr>
          <a:xfrm>
            <a:off x="292608" y="3865467"/>
            <a:ext cx="1399032" cy="2103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4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Work attribution</a:t>
            </a:r>
          </a:p>
        </p:txBody>
      </p:sp>
      <p:sp>
        <p:nvSpPr>
          <p:cNvPr id="100083" name="EfficiencyLegend"/>
          <p:cNvSpPr/>
          <p:nvPr/>
        </p:nvSpPr>
        <p:spPr>
          <a:xfrm>
            <a:off x="292608" y="4112355"/>
            <a:ext cx="1298448" cy="2752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050" b="1" i="1" dirty="0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dark = direct; </a:t>
            </a:r>
          </a:p>
          <a:p>
            <a:pPr algn="ctr"/>
            <a:r>
              <a:rPr lang="en-US" sz="1050" b="1" i="1" dirty="0">
                <a:solidFill>
                  <a:srgbClr val="667482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light = inclusive</a:t>
            </a:r>
          </a:p>
        </p:txBody>
      </p:sp>
      <p:sp>
        <p:nvSpPr>
          <p:cNvPr id="100084" name="MetricLabel0"/>
          <p:cNvSpPr/>
          <p:nvPr/>
        </p:nvSpPr>
        <p:spPr>
          <a:xfrm>
            <a:off x="2120110" y="3989547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Reasoning</a:t>
            </a:r>
          </a:p>
        </p:txBody>
      </p:sp>
      <p:sp>
        <p:nvSpPr>
          <p:cNvPr id="100085" name="Track0"/>
          <p:cNvSpPr/>
          <p:nvPr/>
        </p:nvSpPr>
        <p:spPr>
          <a:xfrm>
            <a:off x="2769334" y="4026123"/>
            <a:ext cx="1572768" cy="13716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6" name="Inclusive0"/>
          <p:cNvSpPr/>
          <p:nvPr/>
        </p:nvSpPr>
        <p:spPr>
          <a:xfrm>
            <a:off x="2769334" y="4026123"/>
            <a:ext cx="1496013" cy="137160"/>
          </a:xfrm>
          <a:prstGeom prst="roundRect">
            <a:avLst/>
          </a:prstGeom>
          <a:solidFill>
            <a:srgbClr val="B8C8E7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7" name="Strict0"/>
          <p:cNvSpPr/>
          <p:nvPr/>
        </p:nvSpPr>
        <p:spPr>
          <a:xfrm>
            <a:off x="2769334" y="4026123"/>
            <a:ext cx="880439" cy="137160"/>
          </a:xfrm>
          <a:prstGeom prst="round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88" name="MetricNote0"/>
          <p:cNvSpPr/>
          <p:nvPr/>
        </p:nvSpPr>
        <p:spPr>
          <a:xfrm>
            <a:off x="2769334" y="4221512"/>
            <a:ext cx="1691640" cy="155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50" b="1" i="1" dirty="0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56% direct - 95% inclusive</a:t>
            </a:r>
          </a:p>
        </p:txBody>
      </p:sp>
      <p:sp>
        <p:nvSpPr>
          <p:cNvPr id="100089" name="MetricLabel1"/>
          <p:cNvSpPr/>
          <p:nvPr/>
        </p:nvSpPr>
        <p:spPr>
          <a:xfrm>
            <a:off x="5084036" y="3992659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Verification</a:t>
            </a:r>
          </a:p>
        </p:txBody>
      </p:sp>
      <p:sp>
        <p:nvSpPr>
          <p:cNvPr id="100090" name="Track1"/>
          <p:cNvSpPr/>
          <p:nvPr/>
        </p:nvSpPr>
        <p:spPr>
          <a:xfrm>
            <a:off x="5814286" y="4026123"/>
            <a:ext cx="1572768" cy="13716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1" name="Inclusive1"/>
          <p:cNvSpPr/>
          <p:nvPr/>
        </p:nvSpPr>
        <p:spPr>
          <a:xfrm>
            <a:off x="5814286" y="4026123"/>
            <a:ext cx="1422258" cy="137160"/>
          </a:xfrm>
          <a:prstGeom prst="roundRect">
            <a:avLst/>
          </a:prstGeom>
          <a:solidFill>
            <a:srgbClr val="B8C8E7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2" name="Strict1"/>
          <p:cNvSpPr/>
          <p:nvPr/>
        </p:nvSpPr>
        <p:spPr>
          <a:xfrm>
            <a:off x="5814286" y="4026123"/>
            <a:ext cx="871003" cy="137160"/>
          </a:xfrm>
          <a:prstGeom prst="round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3" name="MetricNote1"/>
          <p:cNvSpPr/>
          <p:nvPr/>
        </p:nvSpPr>
        <p:spPr>
          <a:xfrm>
            <a:off x="5814286" y="4221512"/>
            <a:ext cx="1691640" cy="155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50" b="1" i="1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55% direct - 90% inclusive</a:t>
            </a:r>
          </a:p>
        </p:txBody>
      </p:sp>
      <p:sp>
        <p:nvSpPr>
          <p:cNvPr id="100094" name="MetricLabel2"/>
          <p:cNvSpPr/>
          <p:nvPr/>
        </p:nvSpPr>
        <p:spPr>
          <a:xfrm>
            <a:off x="8432010" y="3989547"/>
            <a:ext cx="749808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l"/>
            <a:r>
              <a:rPr lang="en-US" sz="11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100095" name="Track2"/>
          <p:cNvSpPr/>
          <p:nvPr/>
        </p:nvSpPr>
        <p:spPr>
          <a:xfrm>
            <a:off x="8859238" y="4026123"/>
            <a:ext cx="1572768" cy="13716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6" name="Inclusive2"/>
          <p:cNvSpPr/>
          <p:nvPr/>
        </p:nvSpPr>
        <p:spPr>
          <a:xfrm>
            <a:off x="8859238" y="4026123"/>
            <a:ext cx="1485324" cy="137160"/>
          </a:xfrm>
          <a:prstGeom prst="roundRect">
            <a:avLst/>
          </a:prstGeom>
          <a:solidFill>
            <a:srgbClr val="B8C8E7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7" name="Strict2"/>
          <p:cNvSpPr/>
          <p:nvPr/>
        </p:nvSpPr>
        <p:spPr>
          <a:xfrm>
            <a:off x="8859238" y="4026123"/>
            <a:ext cx="873828" cy="137160"/>
          </a:xfrm>
          <a:prstGeom prst="roundRect">
            <a:avLst/>
          </a:prstGeom>
          <a:solidFill>
            <a:srgbClr val="315BCE"/>
          </a:solidFill>
          <a:ln>
            <a:noFill/>
          </a:ln>
        </p:spPr>
        <p:txBody>
          <a:bodyPr lIns="18288" tIns="18288" rIns="18288" bIns="18288" anchor="ctr">
            <a:normAutofit fontScale="92500" lnSpcReduction="10000"/>
          </a:bodyPr>
          <a:lstStyle/>
          <a:p>
            <a:pPr algn="l"/>
            <a:endParaRPr lang="en-US" sz="700" b="0">
              <a:solidFill>
                <a:srgbClr val="24465D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0098" name="MetricNote2"/>
          <p:cNvSpPr/>
          <p:nvPr/>
        </p:nvSpPr>
        <p:spPr>
          <a:xfrm>
            <a:off x="8859238" y="4221512"/>
            <a:ext cx="1691640" cy="155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/>
            <a:r>
              <a:rPr lang="en-US" sz="1050" b="1" i="1">
                <a:solidFill>
                  <a:srgbClr val="5D6B7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56% direct - 94% inclusive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</Words>
  <Application>Microsoft Office PowerPoint</Application>
  <PresentationFormat>自定义</PresentationFormat>
  <Paragraphs>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5 - Mathematical Vertical Trace</dc:title>
  <dc:subject>Component-editable paper figure source</dc:subject>
  <dc:creator>Argus Team</dc:creator>
  <cp:lastModifiedBy>Iris Young</cp:lastModifiedBy>
  <cp:revision>2</cp:revision>
  <dcterms:created xsi:type="dcterms:W3CDTF">2026-07-20T06:04:16Z</dcterms:created>
  <dcterms:modified xsi:type="dcterms:W3CDTF">2026-07-20T07:24:36Z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1.0.139</vt:lpwstr>
  </property>
  <property fmtid="{D5CDD505-2E9C-101B-9397-08002B2CF9AE}" pid="3" name="OfficeCLI.LastModified">
    <vt:lpwstr>2026-07-20T06:07:45Z</vt:lpwstr>
  </property>
</Properties>
</file>
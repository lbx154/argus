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972800" cy="52578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64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0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6265A-C2BA-412F-A6C7-C8F1034824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09550" y="1143000"/>
            <a:ext cx="6438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3EA91-97C2-4B08-9263-8D24F7A1C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294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3EA91-97C2-4B08-9263-8D24F7A1C5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977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gure 6 - Six-Project Paper Portfolio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2" name="Header"/>
          <p:cNvSpPr/>
          <p:nvPr/>
        </p:nvSpPr>
        <p:spPr>
          <a:xfrm>
            <a:off x="192023" y="175681"/>
            <a:ext cx="6500607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Six completed manuscripts - real PDF first pages</a:t>
            </a:r>
          </a:p>
        </p:txBody>
      </p:sp>
      <p:sp>
        <p:nvSpPr>
          <p:cNvPr id="100003" name="HeaderNote"/>
          <p:cNvSpPr/>
          <p:nvPr/>
        </p:nvSpPr>
        <p:spPr>
          <a:xfrm>
            <a:off x="6556248" y="430497"/>
            <a:ext cx="4224528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r"/>
            <a:r>
              <a:rPr lang="en-US" sz="1200" b="1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Scientific result on each card - Argus production process below</a:t>
            </a:r>
          </a:p>
        </p:txBody>
      </p:sp>
      <p:sp>
        <p:nvSpPr>
          <p:cNvPr id="100004" name="PaperCard0"/>
          <p:cNvSpPr/>
          <p:nvPr/>
        </p:nvSpPr>
        <p:spPr>
          <a:xfrm>
            <a:off x="192024" y="760897"/>
            <a:ext cx="1703829" cy="3474720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5" name="PaperAccent0"/>
          <p:cNvSpPr/>
          <p:nvPr/>
        </p:nvSpPr>
        <p:spPr>
          <a:xfrm>
            <a:off x="192024" y="760897"/>
            <a:ext cx="1703829" cy="50292"/>
          </a:xfrm>
          <a:prstGeom prst="rect">
            <a:avLst/>
          </a:prstGeom>
          <a:solidFill>
            <a:srgbClr val="315BCE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6" name="PageFrame0"/>
          <p:cNvSpPr/>
          <p:nvPr/>
        </p:nvSpPr>
        <p:spPr>
          <a:xfrm>
            <a:off x="256032" y="906593"/>
            <a:ext cx="1575813" cy="2066544"/>
          </a:xfrm>
          <a:prstGeom prst="roundRect">
            <a:avLst>
              <a:gd name="adj" fmla="val 0"/>
            </a:avLst>
          </a:prstGeom>
          <a:solidFill>
            <a:srgbClr val="EEF2F5"/>
          </a:solidFill>
          <a:ln w="8890">
            <a:solidFill>
              <a:srgbClr val="D8E0E8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100007" name="PaperThumbnail0" descr="First-page thumbnail for Audited leaderboard decis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24881"/>
            <a:ext cx="1539237" cy="2029968"/>
          </a:xfrm>
          <a:prstGeom prst="rect">
            <a:avLst/>
          </a:prstGeom>
        </p:spPr>
      </p:pic>
      <p:sp>
        <p:nvSpPr>
          <p:cNvPr id="100008" name="PaperDomain0"/>
          <p:cNvSpPr/>
          <p:nvPr/>
        </p:nvSpPr>
        <p:spPr>
          <a:xfrm>
            <a:off x="265176" y="3064698"/>
            <a:ext cx="155752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315BC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Evaluation reliability</a:t>
            </a:r>
          </a:p>
        </p:txBody>
      </p:sp>
      <p:sp>
        <p:nvSpPr>
          <p:cNvPr id="100009" name="PaperTitle0"/>
          <p:cNvSpPr/>
          <p:nvPr/>
        </p:nvSpPr>
        <p:spPr>
          <a:xfrm>
            <a:off x="265176" y="3352005"/>
            <a:ext cx="1557525" cy="3931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Audited leaderboard decisions</a:t>
            </a:r>
          </a:p>
        </p:txBody>
      </p:sp>
      <p:sp>
        <p:nvSpPr>
          <p:cNvPr id="100010" name="PaperResult0"/>
          <p:cNvSpPr/>
          <p:nvPr/>
        </p:nvSpPr>
        <p:spPr>
          <a:xfrm>
            <a:off x="274320" y="3836637"/>
            <a:ext cx="1557525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315BC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15 stable - 300 abstained</a:t>
            </a:r>
          </a:p>
        </p:txBody>
      </p:sp>
      <p:sp>
        <p:nvSpPr>
          <p:cNvPr id="100011" name="PaperCard1"/>
          <p:cNvSpPr/>
          <p:nvPr/>
        </p:nvSpPr>
        <p:spPr>
          <a:xfrm>
            <a:off x="1969005" y="759681"/>
            <a:ext cx="1703829" cy="3474720"/>
          </a:xfrm>
          <a:prstGeom prst="roundRect">
            <a:avLst>
              <a:gd name="adj" fmla="val 966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2" name="PaperAccent1"/>
          <p:cNvSpPr/>
          <p:nvPr/>
        </p:nvSpPr>
        <p:spPr>
          <a:xfrm>
            <a:off x="1969005" y="760897"/>
            <a:ext cx="1703829" cy="50292"/>
          </a:xfrm>
          <a:prstGeom prst="rect">
            <a:avLst/>
          </a:prstGeom>
          <a:solidFill>
            <a:srgbClr val="7766A6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3" name="PageFrame1"/>
          <p:cNvSpPr/>
          <p:nvPr/>
        </p:nvSpPr>
        <p:spPr>
          <a:xfrm>
            <a:off x="2033013" y="906593"/>
            <a:ext cx="1575813" cy="2066544"/>
          </a:xfrm>
          <a:prstGeom prst="roundRect">
            <a:avLst>
              <a:gd name="adj" fmla="val 0"/>
            </a:avLst>
          </a:prstGeom>
          <a:solidFill>
            <a:srgbClr val="EEF2F5"/>
          </a:solidFill>
          <a:ln w="8890">
            <a:solidFill>
              <a:srgbClr val="D8E0E8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100014" name="PaperThumbnail1" descr="First-page thumbnail for Compositional matching g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301" y="924881"/>
            <a:ext cx="1539237" cy="2029968"/>
          </a:xfrm>
          <a:prstGeom prst="rect">
            <a:avLst/>
          </a:prstGeom>
        </p:spPr>
      </p:pic>
      <p:sp>
        <p:nvSpPr>
          <p:cNvPr id="100015" name="PaperDomain1"/>
          <p:cNvSpPr/>
          <p:nvPr/>
        </p:nvSpPr>
        <p:spPr>
          <a:xfrm>
            <a:off x="2042157" y="3064698"/>
            <a:ext cx="155752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7766A6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Vision-language matching</a:t>
            </a:r>
          </a:p>
        </p:txBody>
      </p:sp>
      <p:sp>
        <p:nvSpPr>
          <p:cNvPr id="100016" name="PaperTitle1"/>
          <p:cNvSpPr/>
          <p:nvPr/>
        </p:nvSpPr>
        <p:spPr>
          <a:xfrm>
            <a:off x="2042157" y="3352005"/>
            <a:ext cx="1557525" cy="3931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Compositional matching gate</a:t>
            </a:r>
          </a:p>
        </p:txBody>
      </p:sp>
      <p:sp>
        <p:nvSpPr>
          <p:cNvPr id="100017" name="PaperResult1"/>
          <p:cNvSpPr/>
          <p:nvPr/>
        </p:nvSpPr>
        <p:spPr>
          <a:xfrm>
            <a:off x="2039326" y="3834351"/>
            <a:ext cx="1557525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rgbClr val="7766A6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0.953 fallback &gt; 0.942 gate</a:t>
            </a:r>
          </a:p>
        </p:txBody>
      </p:sp>
      <p:sp>
        <p:nvSpPr>
          <p:cNvPr id="100018" name="PaperCard2"/>
          <p:cNvSpPr/>
          <p:nvPr/>
        </p:nvSpPr>
        <p:spPr>
          <a:xfrm>
            <a:off x="3745995" y="760897"/>
            <a:ext cx="1703829" cy="3474720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 dirty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9" name="PaperAccent2"/>
          <p:cNvSpPr/>
          <p:nvPr/>
        </p:nvSpPr>
        <p:spPr>
          <a:xfrm>
            <a:off x="3745995" y="760897"/>
            <a:ext cx="1703829" cy="50292"/>
          </a:xfrm>
          <a:prstGeom prst="rect">
            <a:avLst/>
          </a:prstGeom>
          <a:solidFill>
            <a:srgbClr val="D27A32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20" name="PageFrame2"/>
          <p:cNvSpPr/>
          <p:nvPr/>
        </p:nvSpPr>
        <p:spPr>
          <a:xfrm>
            <a:off x="3810003" y="906593"/>
            <a:ext cx="1575813" cy="2066544"/>
          </a:xfrm>
          <a:prstGeom prst="roundRect">
            <a:avLst>
              <a:gd name="adj" fmla="val 0"/>
            </a:avLst>
          </a:prstGeom>
          <a:solidFill>
            <a:srgbClr val="EEF2F5"/>
          </a:solidFill>
          <a:ln w="8890">
            <a:solidFill>
              <a:srgbClr val="D8E0E8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100021" name="PaperThumbnail2" descr="First-page thumbnail for Frozen adaptation g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8291" y="924881"/>
            <a:ext cx="1539237" cy="2029968"/>
          </a:xfrm>
          <a:prstGeom prst="rect">
            <a:avLst/>
          </a:prstGeom>
        </p:spPr>
      </p:pic>
      <p:sp>
        <p:nvSpPr>
          <p:cNvPr id="100022" name="PaperDomain2"/>
          <p:cNvSpPr/>
          <p:nvPr/>
        </p:nvSpPr>
        <p:spPr>
          <a:xfrm>
            <a:off x="3819147" y="3064698"/>
            <a:ext cx="155752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D27A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Test-time adaptation</a:t>
            </a:r>
          </a:p>
        </p:txBody>
      </p:sp>
      <p:sp>
        <p:nvSpPr>
          <p:cNvPr id="100023" name="PaperTitle2"/>
          <p:cNvSpPr/>
          <p:nvPr/>
        </p:nvSpPr>
        <p:spPr>
          <a:xfrm>
            <a:off x="3819147" y="3352005"/>
            <a:ext cx="1557525" cy="3931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Frozen adaptation gate</a:t>
            </a:r>
          </a:p>
        </p:txBody>
      </p:sp>
      <p:sp>
        <p:nvSpPr>
          <p:cNvPr id="100024" name="PaperResult2"/>
          <p:cNvSpPr/>
          <p:nvPr/>
        </p:nvSpPr>
        <p:spPr>
          <a:xfrm>
            <a:off x="3828291" y="3836637"/>
            <a:ext cx="1557525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D27A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 / 1,880 DTD updates</a:t>
            </a:r>
          </a:p>
        </p:txBody>
      </p:sp>
      <p:sp>
        <p:nvSpPr>
          <p:cNvPr id="100025" name="PaperCard3"/>
          <p:cNvSpPr/>
          <p:nvPr/>
        </p:nvSpPr>
        <p:spPr>
          <a:xfrm>
            <a:off x="5522976" y="760897"/>
            <a:ext cx="1703829" cy="3474720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26" name="PaperAccent3"/>
          <p:cNvSpPr/>
          <p:nvPr/>
        </p:nvSpPr>
        <p:spPr>
          <a:xfrm>
            <a:off x="5522976" y="760897"/>
            <a:ext cx="1703829" cy="50292"/>
          </a:xfrm>
          <a:prstGeom prst="rect">
            <a:avLst/>
          </a:prstGeom>
          <a:solidFill>
            <a:srgbClr val="287D70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27" name="PageFrame3"/>
          <p:cNvSpPr/>
          <p:nvPr/>
        </p:nvSpPr>
        <p:spPr>
          <a:xfrm>
            <a:off x="5586984" y="906593"/>
            <a:ext cx="1575813" cy="2066544"/>
          </a:xfrm>
          <a:prstGeom prst="roundRect">
            <a:avLst>
              <a:gd name="adj" fmla="val 0"/>
            </a:avLst>
          </a:prstGeom>
          <a:solidFill>
            <a:srgbClr val="EEF2F5"/>
          </a:solidFill>
          <a:ln w="8890">
            <a:solidFill>
              <a:srgbClr val="D8E0E8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100028" name="PaperThumbnail3" descr="First-page thumbnail for GUI reliability at matched cover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272" y="924881"/>
            <a:ext cx="1539237" cy="2029968"/>
          </a:xfrm>
          <a:prstGeom prst="rect">
            <a:avLst/>
          </a:prstGeom>
        </p:spPr>
      </p:pic>
      <p:sp>
        <p:nvSpPr>
          <p:cNvPr id="100029" name="PaperDomain3"/>
          <p:cNvSpPr/>
          <p:nvPr/>
        </p:nvSpPr>
        <p:spPr>
          <a:xfrm>
            <a:off x="5596128" y="3064698"/>
            <a:ext cx="155752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Multimodal agents</a:t>
            </a:r>
          </a:p>
        </p:txBody>
      </p:sp>
      <p:sp>
        <p:nvSpPr>
          <p:cNvPr id="100030" name="PaperTitle3"/>
          <p:cNvSpPr/>
          <p:nvPr/>
        </p:nvSpPr>
        <p:spPr>
          <a:xfrm>
            <a:off x="5596128" y="3352005"/>
            <a:ext cx="1630668" cy="3931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GUI reliability at matched coverage</a:t>
            </a:r>
          </a:p>
        </p:txBody>
      </p:sp>
      <p:sp>
        <p:nvSpPr>
          <p:cNvPr id="100031" name="PaperResult3"/>
          <p:cNvSpPr/>
          <p:nvPr/>
        </p:nvSpPr>
        <p:spPr>
          <a:xfrm>
            <a:off x="5605272" y="3836637"/>
            <a:ext cx="1557525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0.0125 -&gt; 0.0115 risk area</a:t>
            </a:r>
          </a:p>
        </p:txBody>
      </p:sp>
      <p:sp>
        <p:nvSpPr>
          <p:cNvPr id="100032" name="PaperCard4"/>
          <p:cNvSpPr/>
          <p:nvPr/>
        </p:nvSpPr>
        <p:spPr>
          <a:xfrm>
            <a:off x="7299957" y="760897"/>
            <a:ext cx="1703829" cy="3474720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33" name="PaperAccent4"/>
          <p:cNvSpPr/>
          <p:nvPr/>
        </p:nvSpPr>
        <p:spPr>
          <a:xfrm>
            <a:off x="7299957" y="760897"/>
            <a:ext cx="1703829" cy="50292"/>
          </a:xfrm>
          <a:prstGeom prst="rect">
            <a:avLst/>
          </a:prstGeom>
          <a:solidFill>
            <a:srgbClr val="B43F55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34" name="PageFrame4"/>
          <p:cNvSpPr/>
          <p:nvPr/>
        </p:nvSpPr>
        <p:spPr>
          <a:xfrm>
            <a:off x="7363965" y="906593"/>
            <a:ext cx="1575813" cy="2066544"/>
          </a:xfrm>
          <a:prstGeom prst="roundRect">
            <a:avLst>
              <a:gd name="adj" fmla="val 0"/>
            </a:avLst>
          </a:prstGeom>
          <a:solidFill>
            <a:srgbClr val="EEF2F5"/>
          </a:solidFill>
          <a:ln w="8890">
            <a:solidFill>
              <a:srgbClr val="D8E0E8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100035" name="PaperThumbnail4" descr="First-page thumbnail for Frozen hallucination wrapper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2253" y="924881"/>
            <a:ext cx="1539237" cy="2029968"/>
          </a:xfrm>
          <a:prstGeom prst="rect">
            <a:avLst/>
          </a:prstGeom>
        </p:spPr>
      </p:pic>
      <p:sp>
        <p:nvSpPr>
          <p:cNvPr id="100036" name="PaperDomain4"/>
          <p:cNvSpPr/>
          <p:nvPr/>
        </p:nvSpPr>
        <p:spPr>
          <a:xfrm>
            <a:off x="7373109" y="3064698"/>
            <a:ext cx="155752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B43F5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Multimodal hallucination</a:t>
            </a:r>
          </a:p>
        </p:txBody>
      </p:sp>
      <p:sp>
        <p:nvSpPr>
          <p:cNvPr id="100037" name="PaperTitle4"/>
          <p:cNvSpPr/>
          <p:nvPr/>
        </p:nvSpPr>
        <p:spPr>
          <a:xfrm>
            <a:off x="7373109" y="3352005"/>
            <a:ext cx="1557525" cy="3931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Frozen hallucination wrappers</a:t>
            </a:r>
          </a:p>
        </p:txBody>
      </p:sp>
      <p:sp>
        <p:nvSpPr>
          <p:cNvPr id="100038" name="PaperResult4"/>
          <p:cNvSpPr/>
          <p:nvPr/>
        </p:nvSpPr>
        <p:spPr>
          <a:xfrm>
            <a:off x="7382253" y="3836637"/>
            <a:ext cx="1557525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B43F5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15 cells - 4,500 rows</a:t>
            </a:r>
          </a:p>
        </p:txBody>
      </p:sp>
      <p:sp>
        <p:nvSpPr>
          <p:cNvPr id="100039" name="PaperCard5"/>
          <p:cNvSpPr/>
          <p:nvPr/>
        </p:nvSpPr>
        <p:spPr>
          <a:xfrm>
            <a:off x="9076947" y="760897"/>
            <a:ext cx="1703829" cy="3474720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40" name="PaperAccent5"/>
          <p:cNvSpPr/>
          <p:nvPr/>
        </p:nvSpPr>
        <p:spPr>
          <a:xfrm>
            <a:off x="9076947" y="760897"/>
            <a:ext cx="1703829" cy="50292"/>
          </a:xfrm>
          <a:prstGeom prst="rect">
            <a:avLst/>
          </a:prstGeom>
          <a:solidFill>
            <a:srgbClr val="C38A20"/>
          </a:solidFill>
          <a:ln>
            <a:noFill/>
          </a:ln>
        </p:spPr>
        <p:txBody>
          <a:bodyPr lIns="18288" tIns="18288" rIns="18288" bIns="18288" anchor="ctr">
            <a:normAutofit fontScale="25000" lnSpcReduction="2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41" name="PageFrame5"/>
          <p:cNvSpPr/>
          <p:nvPr/>
        </p:nvSpPr>
        <p:spPr>
          <a:xfrm>
            <a:off x="9140955" y="906593"/>
            <a:ext cx="1575813" cy="2066544"/>
          </a:xfrm>
          <a:prstGeom prst="roundRect">
            <a:avLst>
              <a:gd name="adj" fmla="val 0"/>
            </a:avLst>
          </a:prstGeom>
          <a:solidFill>
            <a:srgbClr val="EEF2F5"/>
          </a:solidFill>
          <a:ln w="8890">
            <a:solidFill>
              <a:srgbClr val="D8E0E8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100042" name="PaperThumbnail5" descr="First-page thumbnail for Vocabulary-row quantization proxi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9243" y="924881"/>
            <a:ext cx="1539237" cy="2029968"/>
          </a:xfrm>
          <a:prstGeom prst="rect">
            <a:avLst/>
          </a:prstGeom>
        </p:spPr>
      </p:pic>
      <p:sp>
        <p:nvSpPr>
          <p:cNvPr id="100043" name="PaperDomain5"/>
          <p:cNvSpPr/>
          <p:nvPr/>
        </p:nvSpPr>
        <p:spPr>
          <a:xfrm>
            <a:off x="9150099" y="3064698"/>
            <a:ext cx="155752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C38A2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Model quantization</a:t>
            </a:r>
          </a:p>
        </p:txBody>
      </p:sp>
      <p:sp>
        <p:nvSpPr>
          <p:cNvPr id="100044" name="PaperTitle5"/>
          <p:cNvSpPr/>
          <p:nvPr/>
        </p:nvSpPr>
        <p:spPr>
          <a:xfrm>
            <a:off x="9150099" y="3352005"/>
            <a:ext cx="1557525" cy="3931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Vocabulary-row quantization proxies</a:t>
            </a:r>
          </a:p>
        </p:txBody>
      </p:sp>
      <p:sp>
        <p:nvSpPr>
          <p:cNvPr id="100045" name="PaperResult5"/>
          <p:cNvSpPr/>
          <p:nvPr/>
        </p:nvSpPr>
        <p:spPr>
          <a:xfrm>
            <a:off x="9159243" y="3836637"/>
            <a:ext cx="1557525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rgbClr val="C38A2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 significant wins vs random</a:t>
            </a:r>
          </a:p>
        </p:txBody>
      </p:sp>
      <p:sp>
        <p:nvSpPr>
          <p:cNvPr id="100046" name="ProductionMetric0"/>
          <p:cNvSpPr/>
          <p:nvPr/>
        </p:nvSpPr>
        <p:spPr>
          <a:xfrm>
            <a:off x="192024" y="4434840"/>
            <a:ext cx="1226960" cy="557784"/>
          </a:xfrm>
          <a:prstGeom prst="roundRect">
            <a:avLst>
              <a:gd name="adj" fmla="val 0"/>
            </a:avLst>
          </a:prstGeom>
          <a:solidFill>
            <a:srgbClr val="F5E6C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47" name="ProductionValue0"/>
          <p:cNvSpPr/>
          <p:nvPr/>
        </p:nvSpPr>
        <p:spPr>
          <a:xfrm>
            <a:off x="256032" y="4507992"/>
            <a:ext cx="1098944" cy="2103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173B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ARGUS</a:t>
            </a:r>
          </a:p>
        </p:txBody>
      </p:sp>
      <p:sp>
        <p:nvSpPr>
          <p:cNvPr id="100048" name="ProductionLabel0"/>
          <p:cNvSpPr/>
          <p:nvPr/>
        </p:nvSpPr>
        <p:spPr>
          <a:xfrm>
            <a:off x="256032" y="4736592"/>
            <a:ext cx="1098944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 dirty="0">
                <a:solidFill>
                  <a:srgbClr val="5C6B79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production process</a:t>
            </a:r>
          </a:p>
        </p:txBody>
      </p:sp>
      <p:sp>
        <p:nvSpPr>
          <p:cNvPr id="100049" name="ProductionMetric1"/>
          <p:cNvSpPr/>
          <p:nvPr/>
        </p:nvSpPr>
        <p:spPr>
          <a:xfrm>
            <a:off x="1482992" y="4434840"/>
            <a:ext cx="1496288" cy="557784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50" name="ProductionAccent1"/>
          <p:cNvSpPr/>
          <p:nvPr/>
        </p:nvSpPr>
        <p:spPr>
          <a:xfrm>
            <a:off x="1482992" y="4434840"/>
            <a:ext cx="45720" cy="557784"/>
          </a:xfrm>
          <a:prstGeom prst="rect">
            <a:avLst/>
          </a:prstGeom>
          <a:solidFill>
            <a:srgbClr val="173B70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51" name="ProductionValue1"/>
          <p:cNvSpPr/>
          <p:nvPr/>
        </p:nvSpPr>
        <p:spPr>
          <a:xfrm>
            <a:off x="1611008" y="4507992"/>
            <a:ext cx="1368272" cy="2103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400" b="1">
                <a:solidFill>
                  <a:srgbClr val="173B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6/6</a:t>
            </a:r>
          </a:p>
        </p:txBody>
      </p:sp>
      <p:sp>
        <p:nvSpPr>
          <p:cNvPr id="100052" name="ProductionLabel1"/>
          <p:cNvSpPr/>
          <p:nvPr/>
        </p:nvSpPr>
        <p:spPr>
          <a:xfrm>
            <a:off x="1611008" y="4736592"/>
            <a:ext cx="1368272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5C6B79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papers completed</a:t>
            </a:r>
          </a:p>
        </p:txBody>
      </p:sp>
      <p:sp>
        <p:nvSpPr>
          <p:cNvPr id="100053" name="ProductionMetric2"/>
          <p:cNvSpPr/>
          <p:nvPr/>
        </p:nvSpPr>
        <p:spPr>
          <a:xfrm>
            <a:off x="3043288" y="4434840"/>
            <a:ext cx="1496288" cy="557784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54" name="ProductionAccent2"/>
          <p:cNvSpPr/>
          <p:nvPr/>
        </p:nvSpPr>
        <p:spPr>
          <a:xfrm>
            <a:off x="3043288" y="4434840"/>
            <a:ext cx="45720" cy="557784"/>
          </a:xfrm>
          <a:prstGeom prst="rect">
            <a:avLst/>
          </a:prstGeom>
          <a:solidFill>
            <a:srgbClr val="315BCE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55" name="ProductionValue2"/>
          <p:cNvSpPr/>
          <p:nvPr/>
        </p:nvSpPr>
        <p:spPr>
          <a:xfrm>
            <a:off x="3171304" y="4507992"/>
            <a:ext cx="1368272" cy="2103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400" b="1">
                <a:solidFill>
                  <a:srgbClr val="315BC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640</a:t>
            </a:r>
          </a:p>
        </p:txBody>
      </p:sp>
      <p:sp>
        <p:nvSpPr>
          <p:cNvPr id="100056" name="ProductionLabel2"/>
          <p:cNvSpPr/>
          <p:nvPr/>
        </p:nvSpPr>
        <p:spPr>
          <a:xfrm>
            <a:off x="3171304" y="4736592"/>
            <a:ext cx="1368272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5C6B79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campaign-hours</a:t>
            </a:r>
          </a:p>
        </p:txBody>
      </p:sp>
      <p:sp>
        <p:nvSpPr>
          <p:cNvPr id="100057" name="ProductionMetric3"/>
          <p:cNvSpPr/>
          <p:nvPr/>
        </p:nvSpPr>
        <p:spPr>
          <a:xfrm>
            <a:off x="4603593" y="4434840"/>
            <a:ext cx="1496288" cy="557784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58" name="ProductionAccent3"/>
          <p:cNvSpPr/>
          <p:nvPr/>
        </p:nvSpPr>
        <p:spPr>
          <a:xfrm>
            <a:off x="4603593" y="4434840"/>
            <a:ext cx="45720" cy="557784"/>
          </a:xfrm>
          <a:prstGeom prst="rect">
            <a:avLst/>
          </a:prstGeom>
          <a:solidFill>
            <a:srgbClr val="C38A20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59" name="ProductionValue3"/>
          <p:cNvSpPr/>
          <p:nvPr/>
        </p:nvSpPr>
        <p:spPr>
          <a:xfrm>
            <a:off x="4731609" y="4507992"/>
            <a:ext cx="1368272" cy="2103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400" b="1">
                <a:solidFill>
                  <a:srgbClr val="C38A2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576</a:t>
            </a:r>
          </a:p>
        </p:txBody>
      </p:sp>
      <p:sp>
        <p:nvSpPr>
          <p:cNvPr id="100060" name="ProductionLabel3"/>
          <p:cNvSpPr/>
          <p:nvPr/>
        </p:nvSpPr>
        <p:spPr>
          <a:xfrm>
            <a:off x="4731609" y="4736592"/>
            <a:ext cx="1368272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5C6B79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Engineer rounds</a:t>
            </a:r>
          </a:p>
        </p:txBody>
      </p:sp>
      <p:sp>
        <p:nvSpPr>
          <p:cNvPr id="100061" name="ProductionMetric4"/>
          <p:cNvSpPr/>
          <p:nvPr/>
        </p:nvSpPr>
        <p:spPr>
          <a:xfrm>
            <a:off x="6163888" y="4434840"/>
            <a:ext cx="1496288" cy="557784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2" name="ProductionAccent4"/>
          <p:cNvSpPr/>
          <p:nvPr/>
        </p:nvSpPr>
        <p:spPr>
          <a:xfrm>
            <a:off x="6163888" y="4434840"/>
            <a:ext cx="45720" cy="557784"/>
          </a:xfrm>
          <a:prstGeom prst="rect">
            <a:avLst/>
          </a:prstGeom>
          <a:solidFill>
            <a:srgbClr val="287D70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3" name="ProductionValue4"/>
          <p:cNvSpPr/>
          <p:nvPr/>
        </p:nvSpPr>
        <p:spPr>
          <a:xfrm>
            <a:off x="6291904" y="4507992"/>
            <a:ext cx="1368272" cy="2103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4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286</a:t>
            </a:r>
          </a:p>
        </p:txBody>
      </p:sp>
      <p:sp>
        <p:nvSpPr>
          <p:cNvPr id="100064" name="ProductionLabel4"/>
          <p:cNvSpPr/>
          <p:nvPr/>
        </p:nvSpPr>
        <p:spPr>
          <a:xfrm>
            <a:off x="6291904" y="4736592"/>
            <a:ext cx="1368272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5C6B79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Reviewer revisions</a:t>
            </a:r>
          </a:p>
        </p:txBody>
      </p:sp>
      <p:sp>
        <p:nvSpPr>
          <p:cNvPr id="100065" name="ProductionMetric5"/>
          <p:cNvSpPr/>
          <p:nvPr/>
        </p:nvSpPr>
        <p:spPr>
          <a:xfrm>
            <a:off x="7724184" y="4434840"/>
            <a:ext cx="1496288" cy="557784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6" name="ProductionAccent5"/>
          <p:cNvSpPr/>
          <p:nvPr/>
        </p:nvSpPr>
        <p:spPr>
          <a:xfrm>
            <a:off x="7724184" y="4434840"/>
            <a:ext cx="45720" cy="557784"/>
          </a:xfrm>
          <a:prstGeom prst="rect">
            <a:avLst/>
          </a:prstGeom>
          <a:solidFill>
            <a:srgbClr val="7766A6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7" name="ProductionValue5"/>
          <p:cNvSpPr/>
          <p:nvPr/>
        </p:nvSpPr>
        <p:spPr>
          <a:xfrm>
            <a:off x="7852200" y="4507992"/>
            <a:ext cx="1368272" cy="2103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400" b="1">
                <a:solidFill>
                  <a:srgbClr val="7766A6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100068" name="ProductionLabel5"/>
          <p:cNvSpPr/>
          <p:nvPr/>
        </p:nvSpPr>
        <p:spPr>
          <a:xfrm>
            <a:off x="7852200" y="4736592"/>
            <a:ext cx="1368272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5C6B79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session rolls</a:t>
            </a:r>
          </a:p>
        </p:txBody>
      </p:sp>
      <p:sp>
        <p:nvSpPr>
          <p:cNvPr id="100069" name="ProductionMetric6"/>
          <p:cNvSpPr/>
          <p:nvPr/>
        </p:nvSpPr>
        <p:spPr>
          <a:xfrm>
            <a:off x="9284488" y="4434840"/>
            <a:ext cx="1496288" cy="557784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24465D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70" name="ProductionAccent6"/>
          <p:cNvSpPr/>
          <p:nvPr/>
        </p:nvSpPr>
        <p:spPr>
          <a:xfrm>
            <a:off x="9284488" y="4434840"/>
            <a:ext cx="45720" cy="557784"/>
          </a:xfrm>
          <a:prstGeom prst="rect">
            <a:avLst/>
          </a:prstGeom>
          <a:solidFill>
            <a:srgbClr val="B43F55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71" name="ProductionValue6"/>
          <p:cNvSpPr/>
          <p:nvPr/>
        </p:nvSpPr>
        <p:spPr>
          <a:xfrm>
            <a:off x="9412504" y="4507992"/>
            <a:ext cx="1368272" cy="2103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400" b="1">
                <a:solidFill>
                  <a:srgbClr val="B43F5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00072" name="ProductionLabel6"/>
          <p:cNvSpPr/>
          <p:nvPr/>
        </p:nvSpPr>
        <p:spPr>
          <a:xfrm>
            <a:off x="9412504" y="4736592"/>
            <a:ext cx="1368272" cy="1645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5C6B79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Stage rollbacks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101</Words>
  <Application>Microsoft Office PowerPoint</Application>
  <PresentationFormat>自定义</PresentationFormat>
  <Paragraphs>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6 - Six-Project Paper Portfolio</dc:title>
  <dc:subject>Component-editable paper figure source</dc:subject>
  <dc:creator>Argus Team</dc:creator>
  <cp:lastModifiedBy>Iris Young</cp:lastModifiedBy>
  <cp:revision>3</cp:revision>
  <dcterms:created xsi:type="dcterms:W3CDTF">2026-07-20T06:05:06Z</dcterms:created>
  <dcterms:modified xsi:type="dcterms:W3CDTF">2026-07-20T07:35:49Z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1.0.139</vt:lpwstr>
  </property>
  <property fmtid="{D5CDD505-2E9C-101B-9397-08002B2CF9AE}" pid="3" name="OfficeCLI.LastModified">
    <vt:lpwstr>2026-07-20T06:05:43Z</vt:lpwstr>
  </property>
</Properties>
</file>
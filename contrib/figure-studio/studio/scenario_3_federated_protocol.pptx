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cenario_3_federated_protoco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cenario_3_federated_protoco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438150" y="1066800"/>
            <a:ext cx="10334625" cy="5181600"/>
            <a:chOff x="438150" y="1066800"/>
            <a:chExt cx="10334625" cy="5181600"/>
          </a:xfrm>
        </p:grpSpPr>
        <p:sp>
          <p:nvSpPr>
            <p:cNvPr id="2" name="Freeform 2"/>
            <p:cNvSpPr/>
            <p:nvPr/>
          </p:nvSpPr>
          <p:spPr>
            <a:xfrm>
              <a:off x="438150" y="1219200"/>
              <a:ext cx="9525" cy="4981575"/>
            </a:xfrm>
            <a:custGeom>
              <a:avLst/>
              <a:gdLst/>
              <a:ahLst/>
              <a:cxnLst/>
              <a:rect l="l" t="t" r="r" b="b"/>
              <a:pathLst>
                <a:path w="9525" h="4981575">
                  <a:moveTo>
                    <a:pt x="0" y="0"/>
                  </a:moveTo>
                  <a:lnTo>
                    <a:pt x="0" y="4981575"/>
                  </a:lnTo>
                </a:path>
              </a:pathLst>
            </a:cu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499" y="1296829"/>
              <a:ext cx="5029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1428750" y="1066800"/>
              <a:ext cx="9525" cy="5181600"/>
            </a:xfrm>
            <a:custGeom>
              <a:avLst/>
              <a:gdLst/>
              <a:ahLst/>
              <a:cxnLst/>
              <a:rect l="l" t="t" r="r" b="b"/>
              <a:pathLst>
                <a:path w="9525" h="5181600">
                  <a:moveTo>
                    <a:pt x="0" y="0"/>
                  </a:moveTo>
                  <a:lnTo>
                    <a:pt x="0" y="5181600"/>
                  </a:lnTo>
                </a:path>
              </a:pathLst>
            </a:custGeom>
            <a:noFill/>
            <a:ln w="14288">
              <a:solidFill>
                <a:schemeClr val="accent5"/>
              </a:solidFill>
              <a:custDash>
                <a:ds d="466667" sp="400000"/>
              </a:custDash>
            </a:ln>
          </p:spPr>
        </p:sp>
        <p:sp>
          <p:nvSpPr>
            <p:cNvPr id="5" name="Freeform 5"/>
            <p:cNvSpPr/>
            <p:nvPr/>
          </p:nvSpPr>
          <p:spPr>
            <a:xfrm>
              <a:off x="4540282" y="1066800"/>
              <a:ext cx="9525" cy="5181600"/>
            </a:xfrm>
            <a:custGeom>
              <a:avLst/>
              <a:gdLst/>
              <a:ahLst/>
              <a:cxnLst/>
              <a:rect l="l" t="t" r="r" b="b"/>
              <a:pathLst>
                <a:path w="9525" h="5181600">
                  <a:moveTo>
                    <a:pt x="0" y="0"/>
                  </a:moveTo>
                  <a:lnTo>
                    <a:pt x="0" y="5181600"/>
                  </a:lnTo>
                </a:path>
              </a:pathLst>
            </a:custGeom>
            <a:noFill/>
            <a:ln w="14288">
              <a:solidFill>
                <a:schemeClr val="accent5"/>
              </a:solidFill>
              <a:custDash>
                <a:ds d="466667" sp="400000"/>
              </a:custDash>
            </a:ln>
          </p:spPr>
        </p:sp>
        <p:sp>
          <p:nvSpPr>
            <p:cNvPr id="6" name="Freeform 6"/>
            <p:cNvSpPr/>
            <p:nvPr/>
          </p:nvSpPr>
          <p:spPr>
            <a:xfrm>
              <a:off x="7651718" y="1066800"/>
              <a:ext cx="9525" cy="5181600"/>
            </a:xfrm>
            <a:custGeom>
              <a:avLst/>
              <a:gdLst/>
              <a:ahLst/>
              <a:cxnLst/>
              <a:rect l="l" t="t" r="r" b="b"/>
              <a:pathLst>
                <a:path w="9525" h="5181600">
                  <a:moveTo>
                    <a:pt x="0" y="0"/>
                  </a:moveTo>
                  <a:lnTo>
                    <a:pt x="0" y="5181600"/>
                  </a:lnTo>
                </a:path>
              </a:pathLst>
            </a:custGeom>
            <a:noFill/>
            <a:ln w="14288">
              <a:solidFill>
                <a:schemeClr val="accent5"/>
              </a:solidFill>
              <a:custDash>
                <a:ds d="466667" sp="40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10763250" y="1066800"/>
              <a:ext cx="9525" cy="5181600"/>
            </a:xfrm>
            <a:custGeom>
              <a:avLst/>
              <a:gdLst/>
              <a:ahLst/>
              <a:cxnLst/>
              <a:rect l="l" t="t" r="r" b="b"/>
              <a:pathLst>
                <a:path w="9525" h="5181600">
                  <a:moveTo>
                    <a:pt x="0" y="0"/>
                  </a:moveTo>
                  <a:lnTo>
                    <a:pt x="0" y="5181600"/>
                  </a:lnTo>
                </a:path>
              </a:pathLst>
            </a:custGeom>
            <a:noFill/>
            <a:ln w="14288">
              <a:solidFill>
                <a:schemeClr val="accent5"/>
              </a:solidFill>
              <a:custDash>
                <a:ds d="466667" sp="400000"/>
              </a:custDash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464082" y="2619375"/>
            <a:ext cx="6375368" cy="533400"/>
            <a:chOff x="4464082" y="2619375"/>
            <a:chExt cx="6375368" cy="533400"/>
          </a:xfrm>
        </p:grpSpPr>
        <p:sp>
          <p:nvSpPr>
            <p:cNvPr id="9" name="Rectangle 9"/>
            <p:cNvSpPr/>
            <p:nvPr/>
          </p:nvSpPr>
          <p:spPr>
            <a:xfrm>
              <a:off x="4464082" y="2619375"/>
              <a:ext cx="152400" cy="533400"/>
            </a:xfrm>
            <a:prstGeom prst="roundRect">
              <a:avLst>
                <a:gd name="adj" fmla="val 31250"/>
              </a:avLst>
            </a:prstGeom>
            <a:solidFill>
              <a:srgbClr val="FFF2BD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75518" y="2619375"/>
              <a:ext cx="152400" cy="533400"/>
            </a:xfrm>
            <a:prstGeom prst="roundRect">
              <a:avLst>
                <a:gd name="adj" fmla="val 31250"/>
              </a:avLst>
            </a:prstGeom>
            <a:solidFill>
              <a:srgbClr val="FFF2BD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687050" y="2619375"/>
              <a:ext cx="152400" cy="533400"/>
            </a:xfrm>
            <a:prstGeom prst="roundRect">
              <a:avLst>
                <a:gd name="adj" fmla="val 31250"/>
              </a:avLst>
            </a:prstGeom>
            <a:solidFill>
              <a:srgbClr val="FFF2BD"/>
            </a:solidFill>
            <a:ln w="14288">
              <a:solidFill>
                <a:schemeClr val="accent2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83978" y="1152525"/>
            <a:ext cx="10179272" cy="4886325"/>
            <a:chOff x="583978" y="1152525"/>
            <a:chExt cx="10179272" cy="4886325"/>
          </a:xfrm>
        </p:grpSpPr>
        <p:sp>
          <p:nvSpPr>
            <p:cNvPr id="13" name="Freeform 13"/>
            <p:cNvSpPr/>
            <p:nvPr/>
          </p:nvSpPr>
          <p:spPr>
            <a:xfrm>
              <a:off x="1428750" y="1619250"/>
              <a:ext cx="3111532" cy="9525"/>
            </a:xfrm>
            <a:custGeom>
              <a:avLst/>
              <a:gdLst/>
              <a:ahLst/>
              <a:cxnLst/>
              <a:rect l="l" t="t" r="r" b="b"/>
              <a:pathLst>
                <a:path w="3111532" h="9525">
                  <a:moveTo>
                    <a:pt x="0" y="0"/>
                  </a:moveTo>
                  <a:lnTo>
                    <a:pt x="3111532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100000" sp="250000"/>
              </a:custDash>
              <a:round/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1428750" y="1847850"/>
              <a:ext cx="6222968" cy="9525"/>
            </a:xfrm>
            <a:custGeom>
              <a:avLst/>
              <a:gdLst/>
              <a:ahLst/>
              <a:cxnLst/>
              <a:rect l="l" t="t" r="r" b="b"/>
              <a:pathLst>
                <a:path w="6222968" h="9525">
                  <a:moveTo>
                    <a:pt x="0" y="0"/>
                  </a:moveTo>
                  <a:lnTo>
                    <a:pt x="6222968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100000" sp="250000"/>
              </a:custDash>
              <a:round/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28750" y="20764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100000" sp="250000"/>
              </a:custDash>
              <a:round/>
              <a:tailEnd type="triangle" w="lg" len="lg"/>
            </a:ln>
          </p:spPr>
        </p:sp>
        <p:sp>
          <p:nvSpPr>
            <p:cNvPr id="16" name="Ellipse 16"/>
            <p:cNvSpPr/>
            <p:nvPr/>
          </p:nvSpPr>
          <p:spPr>
            <a:xfrm>
              <a:off x="4714113" y="1176338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87570" y="1217200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76063" y="1152525"/>
              <a:ext cx="2039779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93065" y="1249204"/>
              <a:ext cx="18058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Broadcast Model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330886" y="2271712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4343" y="2312575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92836" y="2247900"/>
              <a:ext cx="1917764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9031" y="2344579"/>
              <a:ext cx="15253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Local Training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428750" y="3695700"/>
              <a:ext cx="3111532" cy="9525"/>
            </a:xfrm>
            <a:custGeom>
              <a:avLst/>
              <a:gdLst/>
              <a:ahLst/>
              <a:cxnLst/>
              <a:rect l="l" t="t" r="r" b="b"/>
              <a:pathLst>
                <a:path w="3111532" h="9525">
                  <a:moveTo>
                    <a:pt x="3111532" y="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25" name="Freeform 25"/>
            <p:cNvSpPr/>
            <p:nvPr/>
          </p:nvSpPr>
          <p:spPr>
            <a:xfrm>
              <a:off x="1428750" y="3924300"/>
              <a:ext cx="6222968" cy="9525"/>
            </a:xfrm>
            <a:custGeom>
              <a:avLst/>
              <a:gdLst/>
              <a:ahLst/>
              <a:cxnLst/>
              <a:rect l="l" t="t" r="r" b="b"/>
              <a:pathLst>
                <a:path w="6222968" h="9525">
                  <a:moveTo>
                    <a:pt x="6222968" y="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26" name="Freeform 26"/>
            <p:cNvSpPr/>
            <p:nvPr/>
          </p:nvSpPr>
          <p:spPr>
            <a:xfrm>
              <a:off x="1428750" y="41529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9334500" y="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27" name="Ellipse 27"/>
            <p:cNvSpPr/>
            <p:nvPr/>
          </p:nvSpPr>
          <p:spPr>
            <a:xfrm>
              <a:off x="1541621" y="3252788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15078" y="3293650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903571" y="3228975"/>
              <a:ext cx="2161794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70761" y="3325654"/>
              <a:ext cx="18274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Upload Gradients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428750" y="4695825"/>
              <a:ext cx="1219200" cy="400050"/>
            </a:xfrm>
            <a:custGeom>
              <a:avLst/>
              <a:gdLst/>
              <a:ahLst/>
              <a:cxnLst/>
              <a:rect l="l" t="t" r="r" b="b"/>
              <a:pathLst>
                <a:path w="1219200" h="400050">
                  <a:moveTo>
                    <a:pt x="0" y="0"/>
                  </a:moveTo>
                  <a:lnTo>
                    <a:pt x="1219200" y="0"/>
                  </a:lnTo>
                  <a:lnTo>
                    <a:pt x="1219200" y="400050"/>
                  </a:lnTo>
                  <a:lnTo>
                    <a:pt x="114300" y="4000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400000" sp="250000"/>
              </a:custDash>
              <a:round/>
              <a:tailEnd type="triangle" w="lg" len="lg"/>
            </a:ln>
          </p:spPr>
        </p:sp>
        <p:sp>
          <p:nvSpPr>
            <p:cNvPr id="32" name="Ellipse 32"/>
            <p:cNvSpPr/>
            <p:nvPr/>
          </p:nvSpPr>
          <p:spPr>
            <a:xfrm>
              <a:off x="1194054" y="4348162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67511" y="4389025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56004" y="4324350"/>
              <a:ext cx="1307687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45569" y="4421029"/>
              <a:ext cx="112846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Aggregate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428750" y="5638800"/>
              <a:ext cx="1219200" cy="400050"/>
            </a:xfrm>
            <a:custGeom>
              <a:avLst/>
              <a:gdLst/>
              <a:ahLst/>
              <a:cxnLst/>
              <a:rect l="l" t="t" r="r" b="b"/>
              <a:pathLst>
                <a:path w="1219200" h="400050">
                  <a:moveTo>
                    <a:pt x="0" y="0"/>
                  </a:moveTo>
                  <a:lnTo>
                    <a:pt x="1219200" y="0"/>
                  </a:lnTo>
                  <a:lnTo>
                    <a:pt x="1219200" y="400050"/>
                  </a:lnTo>
                  <a:lnTo>
                    <a:pt x="114300" y="4000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400000" sp="250000"/>
              </a:custDash>
              <a:round/>
              <a:tailEnd type="triangle" w="lg" len="lg"/>
            </a:ln>
          </p:spPr>
        </p:sp>
        <p:sp>
          <p:nvSpPr>
            <p:cNvPr id="37" name="Ellipse 37"/>
            <p:cNvSpPr/>
            <p:nvPr/>
          </p:nvSpPr>
          <p:spPr>
            <a:xfrm>
              <a:off x="583978" y="5291138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435" y="5332000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5928" y="5267325"/>
              <a:ext cx="2527840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41641" y="5364004"/>
              <a:ext cx="21363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Update Global Model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81000" y="381000"/>
            <a:ext cx="11430000" cy="715518"/>
            <a:chOff x="381000" y="381000"/>
            <a:chExt cx="11430000" cy="715518"/>
          </a:xfrm>
        </p:grpSpPr>
        <p:grpSp>
          <p:nvGrpSpPr>
            <p:cNvPr id="51" name="Group 51"/>
            <p:cNvGrpSpPr/>
            <p:nvPr/>
          </p:nvGrpSpPr>
          <p:grpSpPr>
            <a:xfrm>
              <a:off x="381000" y="381000"/>
              <a:ext cx="2095500" cy="715518"/>
              <a:chOff x="381000" y="381000"/>
              <a:chExt cx="2095500" cy="715518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381000" y="381000"/>
                <a:ext cx="2095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495300" y="542925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583406" y="641350"/>
                <a:ext cx="185737" cy="165100"/>
                <a:chOff x="583406" y="641350"/>
                <a:chExt cx="185737" cy="1651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83406" y="641350"/>
                  <a:ext cx="18573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82550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8" y="0"/>
                        <a:pt x="185737" y="13860"/>
                        <a:pt x="185737" y="30956"/>
                      </a:cubicBezTo>
                      <a:lnTo>
                        <a:pt x="185737" y="51594"/>
                      </a:lnTo>
                      <a:cubicBezTo>
                        <a:pt x="185737" y="68690"/>
                        <a:pt x="171878" y="82550"/>
                        <a:pt x="154781" y="82550"/>
                      </a:cubicBezTo>
                      <a:lnTo>
                        <a:pt x="30956" y="82550"/>
                      </a:lnTo>
                      <a:cubicBezTo>
                        <a:pt x="13860" y="82550"/>
                        <a:pt x="0" y="68690"/>
                        <a:pt x="0" y="51594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83406" y="723900"/>
                  <a:ext cx="18573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82550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8" y="0"/>
                        <a:pt x="185737" y="13860"/>
                        <a:pt x="185737" y="30956"/>
                      </a:cubicBezTo>
                      <a:lnTo>
                        <a:pt x="185737" y="51594"/>
                      </a:lnTo>
                      <a:cubicBezTo>
                        <a:pt x="185737" y="68690"/>
                        <a:pt x="171878" y="82550"/>
                        <a:pt x="154781" y="82550"/>
                      </a:cubicBezTo>
                      <a:lnTo>
                        <a:pt x="30956" y="82550"/>
                      </a:lnTo>
                      <a:cubicBezTo>
                        <a:pt x="13860" y="82550"/>
                        <a:pt x="0" y="68690"/>
                        <a:pt x="0" y="51594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24681" y="6826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24681" y="7651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157950" y="470154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Central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95858" y="744474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Server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492532" y="381000"/>
              <a:ext cx="2095500" cy="685800"/>
              <a:chOff x="3492532" y="381000"/>
              <a:chExt cx="2095500" cy="6858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3492532" y="381000"/>
                <a:ext cx="2095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3606832" y="542925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3694938" y="661987"/>
                <a:ext cx="185737" cy="143669"/>
                <a:chOff x="3694938" y="661987"/>
                <a:chExt cx="185737" cy="143669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3694938" y="796131"/>
                  <a:ext cx="1857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9525">
                      <a:moveTo>
                        <a:pt x="0" y="0"/>
                      </a:moveTo>
                      <a:lnTo>
                        <a:pt x="185737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3715575" y="661987"/>
                  <a:ext cx="144462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03187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2" y="4620"/>
                        <a:pt x="144462" y="10319"/>
                      </a:cubicBezTo>
                      <a:lnTo>
                        <a:pt x="144462" y="92869"/>
                      </a:lnTo>
                      <a:cubicBezTo>
                        <a:pt x="144462" y="98568"/>
                        <a:pt x="139843" y="103187"/>
                        <a:pt x="134144" y="103187"/>
                      </a:cubicBezTo>
                      <a:lnTo>
                        <a:pt x="10319" y="103187"/>
                      </a:lnTo>
                      <a:cubicBezTo>
                        <a:pt x="4620" y="103187"/>
                        <a:pt x="0" y="98568"/>
                        <a:pt x="0" y="92869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4262444" y="607314"/>
                <a:ext cx="9557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Client 1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6603968" y="381000"/>
              <a:ext cx="2095500" cy="685800"/>
              <a:chOff x="6603968" y="381000"/>
              <a:chExt cx="2095500" cy="6858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603968" y="381000"/>
                <a:ext cx="2095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6718268" y="542925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6806374" y="661987"/>
                <a:ext cx="185737" cy="143669"/>
                <a:chOff x="6806374" y="661987"/>
                <a:chExt cx="185737" cy="143669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6806374" y="796131"/>
                  <a:ext cx="1857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9525">
                      <a:moveTo>
                        <a:pt x="0" y="0"/>
                      </a:moveTo>
                      <a:lnTo>
                        <a:pt x="185737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6827012" y="661987"/>
                  <a:ext cx="144462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03187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2" y="4620"/>
                        <a:pt x="144462" y="10319"/>
                      </a:cubicBezTo>
                      <a:lnTo>
                        <a:pt x="144462" y="92869"/>
                      </a:lnTo>
                      <a:cubicBezTo>
                        <a:pt x="144462" y="98568"/>
                        <a:pt x="139843" y="103187"/>
                        <a:pt x="134144" y="103187"/>
                      </a:cubicBezTo>
                      <a:lnTo>
                        <a:pt x="10319" y="103187"/>
                      </a:lnTo>
                      <a:cubicBezTo>
                        <a:pt x="4620" y="103187"/>
                        <a:pt x="0" y="98568"/>
                        <a:pt x="0" y="92869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7373881" y="607314"/>
                <a:ext cx="9557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Client 2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15500" y="381000"/>
              <a:ext cx="2095500" cy="685800"/>
              <a:chOff x="9715500" y="381000"/>
              <a:chExt cx="2095500" cy="6858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9715500" y="381000"/>
                <a:ext cx="20955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9829800" y="542925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9917906" y="661987"/>
                <a:ext cx="185737" cy="143669"/>
                <a:chOff x="9917906" y="661987"/>
                <a:chExt cx="185737" cy="143669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9917906" y="796131"/>
                  <a:ext cx="1857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9525">
                      <a:moveTo>
                        <a:pt x="0" y="0"/>
                      </a:moveTo>
                      <a:lnTo>
                        <a:pt x="185737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938544" y="661987"/>
                  <a:ext cx="144462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03187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2" y="4620"/>
                        <a:pt x="144462" y="10319"/>
                      </a:cubicBezTo>
                      <a:lnTo>
                        <a:pt x="144462" y="92869"/>
                      </a:lnTo>
                      <a:cubicBezTo>
                        <a:pt x="144462" y="98568"/>
                        <a:pt x="139843" y="103187"/>
                        <a:pt x="134144" y="103187"/>
                      </a:cubicBezTo>
                      <a:lnTo>
                        <a:pt x="10319" y="103187"/>
                      </a:lnTo>
                      <a:cubicBezTo>
                        <a:pt x="4620" y="103187"/>
                        <a:pt x="0" y="98568"/>
                        <a:pt x="0" y="92869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10485412" y="607314"/>
                <a:ext cx="9557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Client 3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3475768" y="6478429"/>
            <a:ext cx="5190082" cy="308039"/>
            <a:chOff x="3475768" y="6478429"/>
            <a:chExt cx="5190082" cy="308039"/>
          </a:xfrm>
        </p:grpSpPr>
        <p:sp>
          <p:nvSpPr>
            <p:cNvPr id="74" name="Freeform 74"/>
            <p:cNvSpPr/>
            <p:nvPr/>
          </p:nvSpPr>
          <p:spPr>
            <a:xfrm>
              <a:off x="3475768" y="65913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100000" sp="250000"/>
              </a:custDash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05917" y="6478429"/>
              <a:ext cx="10754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Broadcast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5186744" y="65913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custDash>
                <a:ds d="400000" sp="250000"/>
              </a:custDash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16892" y="6478429"/>
              <a:ext cx="16176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Local operation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7351300" y="65913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81449" y="6478429"/>
              <a:ext cx="884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Message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cenario_3_federated_protocol">
  <a:themeElements>
    <a:clrScheme name="scenario_3_federated_protocol">
      <a:dk1>
        <a:srgbClr val="111827"/>
      </a:dk1>
      <a:lt1>
        <a:srgbClr val="FBFAF7"/>
      </a:lt1>
      <a:dk2>
        <a:srgbClr val="4B5563"/>
      </a:dk2>
      <a:lt2>
        <a:srgbClr val="FBFAF7"/>
      </a:lt2>
      <a:accent1>
        <a:srgbClr val="1F2933"/>
      </a:accent1>
      <a:accent2>
        <a:srgbClr val="D55E00"/>
      </a:accent2>
      <a:accent3>
        <a:srgbClr val="D55E00"/>
      </a:accent3>
      <a:accent4>
        <a:srgbClr val="1F2933"/>
      </a:accent4>
      <a:accent5>
        <a:srgbClr val="9CA3AF"/>
      </a:accent5>
      <a:accent6>
        <a:srgbClr val="CBD5E1"/>
      </a:accent6>
      <a:hlink>
        <a:srgbClr val="D55E00"/>
      </a:hlink>
      <a:folHlink>
        <a:srgbClr val="D55E00"/>
      </a:folHlink>
    </a:clrScheme>
    <a:fontScheme name="scenario_3_federated_protoco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enario_3_federated_protoco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2026-09-04T01:34:24Z</dcterms:created>
  <dcterms:modified xsi:type="dcterms:W3CDTF">2026-09-04T01:34:24Z</dcterms:modified>
  <cp:category/>
  <cp:contentStatus/>
</cp:coreProperties>
</file>
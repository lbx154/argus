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cenario_2_attention_fl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cenario_2_attention_flo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90286" y="120015"/>
            <a:ext cx="4489799" cy="6189345"/>
            <a:chOff x="2290286" y="120015"/>
            <a:chExt cx="4489799" cy="6189345"/>
          </a:xfrm>
        </p:grpSpPr>
        <p:grpSp>
          <p:nvGrpSpPr>
            <p:cNvPr id="5" name="Group 5"/>
            <p:cNvGrpSpPr/>
            <p:nvPr/>
          </p:nvGrpSpPr>
          <p:grpSpPr>
            <a:xfrm>
              <a:off x="2290286" y="120015"/>
              <a:ext cx="4489799" cy="6189345"/>
              <a:chOff x="2290286" y="120015"/>
              <a:chExt cx="4489799" cy="6189345"/>
            </a:xfrm>
          </p:grpSpPr>
          <p:sp>
            <p:nvSpPr>
              <p:cNvPr id="2" name="Rectangle 2"/>
              <p:cNvSpPr/>
              <p:nvPr/>
            </p:nvSpPr>
            <p:spPr>
              <a:xfrm>
                <a:off x="2290286" y="605790"/>
                <a:ext cx="4489799" cy="5703570"/>
              </a:xfrm>
              <a:prstGeom prst="roundRect">
                <a:avLst>
                  <a:gd name="adj" fmla="val 3394"/>
                </a:avLst>
              </a:prstGeom>
              <a:solidFill>
                <a:srgbClr val="F0FAEE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3" name="Rectangle 3"/>
              <p:cNvSpPr/>
              <p:nvPr/>
            </p:nvSpPr>
            <p:spPr>
              <a:xfrm>
                <a:off x="2442686" y="120015"/>
                <a:ext cx="3075432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2556224" y="192881"/>
                <a:ext cx="311744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Multi-Head Processing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895284" y="1381125"/>
            <a:ext cx="8841296" cy="4343399"/>
            <a:chOff x="1895284" y="1381125"/>
            <a:chExt cx="8841296" cy="4343399"/>
          </a:xfrm>
        </p:grpSpPr>
        <p:sp>
          <p:nvSpPr>
            <p:cNvPr id="7" name="Freeform 7"/>
            <p:cNvSpPr/>
            <p:nvPr/>
          </p:nvSpPr>
          <p:spPr>
            <a:xfrm>
              <a:off x="1895284" y="1381125"/>
              <a:ext cx="661702" cy="1966912"/>
            </a:xfrm>
            <a:custGeom>
              <a:avLst/>
              <a:gdLst/>
              <a:ahLst/>
              <a:cxnLst/>
              <a:rect l="l" t="t" r="r" b="b"/>
              <a:pathLst>
                <a:path w="661702" h="1966912">
                  <a:moveTo>
                    <a:pt x="0" y="1966912"/>
                  </a:moveTo>
                  <a:lnTo>
                    <a:pt x="299752" y="1966912"/>
                  </a:lnTo>
                  <a:lnTo>
                    <a:pt x="299752" y="0"/>
                  </a:lnTo>
                  <a:lnTo>
                    <a:pt x="661702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1895284" y="3552825"/>
              <a:ext cx="661702" cy="9525"/>
            </a:xfrm>
            <a:custGeom>
              <a:avLst/>
              <a:gdLst/>
              <a:ahLst/>
              <a:cxnLst/>
              <a:rect l="l" t="t" r="r" b="b"/>
              <a:pathLst>
                <a:path w="661702" h="9525">
                  <a:moveTo>
                    <a:pt x="0" y="0"/>
                  </a:moveTo>
                  <a:lnTo>
                    <a:pt x="661702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1895284" y="3757612"/>
              <a:ext cx="661702" cy="1966912"/>
            </a:xfrm>
            <a:custGeom>
              <a:avLst/>
              <a:gdLst/>
              <a:ahLst/>
              <a:cxnLst/>
              <a:rect l="l" t="t" r="r" b="b"/>
              <a:pathLst>
                <a:path w="661702" h="1966912">
                  <a:moveTo>
                    <a:pt x="0" y="0"/>
                  </a:moveTo>
                  <a:lnTo>
                    <a:pt x="299752" y="0"/>
                  </a:lnTo>
                  <a:lnTo>
                    <a:pt x="299752" y="1966912"/>
                  </a:lnTo>
                  <a:lnTo>
                    <a:pt x="661702" y="1966912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4230814" y="1381125"/>
              <a:ext cx="419100" cy="1966912"/>
            </a:xfrm>
            <a:custGeom>
              <a:avLst/>
              <a:gdLst/>
              <a:ahLst/>
              <a:cxnLst/>
              <a:rect l="l" t="t" r="r" b="b"/>
              <a:pathLst>
                <a:path w="419100" h="1966912">
                  <a:moveTo>
                    <a:pt x="0" y="0"/>
                  </a:moveTo>
                  <a:lnTo>
                    <a:pt x="152400" y="0"/>
                  </a:lnTo>
                  <a:lnTo>
                    <a:pt x="152400" y="1966912"/>
                  </a:lnTo>
                  <a:lnTo>
                    <a:pt x="419100" y="1966912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30814" y="35528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4230814" y="3757612"/>
              <a:ext cx="419100" cy="1966912"/>
            </a:xfrm>
            <a:custGeom>
              <a:avLst/>
              <a:gdLst/>
              <a:ahLst/>
              <a:cxnLst/>
              <a:rect l="l" t="t" r="r" b="b"/>
              <a:pathLst>
                <a:path w="419100" h="1966912">
                  <a:moveTo>
                    <a:pt x="0" y="1966912"/>
                  </a:moveTo>
                  <a:lnTo>
                    <a:pt x="152400" y="1966912"/>
                  </a:lnTo>
                  <a:lnTo>
                    <a:pt x="152400" y="0"/>
                  </a:lnTo>
                  <a:lnTo>
                    <a:pt x="4191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6513290" y="3552825"/>
              <a:ext cx="2451164" cy="9525"/>
            </a:xfrm>
            <a:custGeom>
              <a:avLst/>
              <a:gdLst/>
              <a:ahLst/>
              <a:cxnLst/>
              <a:rect l="l" t="t" r="r" b="b"/>
              <a:pathLst>
                <a:path w="2451164" h="9525">
                  <a:moveTo>
                    <a:pt x="0" y="0"/>
                  </a:moveTo>
                  <a:lnTo>
                    <a:pt x="2451164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10317480" y="35528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02870" y="1005840"/>
            <a:ext cx="11986260" cy="5093970"/>
            <a:chOff x="102870" y="1005840"/>
            <a:chExt cx="11986260" cy="5093970"/>
          </a:xfrm>
        </p:grpSpPr>
        <p:grpSp>
          <p:nvGrpSpPr>
            <p:cNvPr id="24" name="Group 24"/>
            <p:cNvGrpSpPr/>
            <p:nvPr/>
          </p:nvGrpSpPr>
          <p:grpSpPr>
            <a:xfrm>
              <a:off x="102870" y="3177540"/>
              <a:ext cx="1792510" cy="750570"/>
              <a:chOff x="102870" y="3177540"/>
              <a:chExt cx="1792510" cy="75057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" y="3177540"/>
                <a:ext cx="1792510" cy="750570"/>
              </a:xfrm>
              <a:prstGeom prst="roundRect">
                <a:avLst>
                  <a:gd name="adj" fmla="val 15228"/>
                </a:avLst>
              </a:prstGeom>
              <a:solidFill>
                <a:srgbClr val="FFE2D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60020" y="33718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258445" y="3470275"/>
                <a:ext cx="175419" cy="165100"/>
                <a:chOff x="258445" y="3470275"/>
                <a:chExt cx="175419" cy="1651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258445" y="3470275"/>
                  <a:ext cx="11350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65100">
                      <a:moveTo>
                        <a:pt x="113506" y="41275"/>
                      </a:moveTo>
                      <a:lnTo>
                        <a:pt x="113506" y="20637"/>
                      </a:lnTo>
                      <a:cubicBezTo>
                        <a:pt x="113506" y="9240"/>
                        <a:pt x="104267" y="0"/>
                        <a:pt x="92869" y="0"/>
                      </a:cubicBezTo>
                      <a:lnTo>
                        <a:pt x="20637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144462"/>
                      </a:lnTo>
                      <a:cubicBezTo>
                        <a:pt x="0" y="155860"/>
                        <a:pt x="9240" y="165100"/>
                        <a:pt x="20637" y="165100"/>
                      </a:cubicBezTo>
                      <a:lnTo>
                        <a:pt x="92869" y="165100"/>
                      </a:lnTo>
                      <a:cubicBezTo>
                        <a:pt x="104267" y="165100"/>
                        <a:pt x="113506" y="155860"/>
                        <a:pt x="113506" y="144462"/>
                      </a:cubicBezTo>
                      <a:lnTo>
                        <a:pt x="113506" y="123825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99720" y="3521869"/>
                  <a:ext cx="134144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4" h="30956">
                      <a:moveTo>
                        <a:pt x="134144" y="30956"/>
                      </a:moveTo>
                      <a:lnTo>
                        <a:pt x="0" y="30956"/>
                      </a:lnTo>
                      <a:lnTo>
                        <a:pt x="30956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99720" y="3552825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30956" y="3095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95883" y="3320224"/>
                <a:ext cx="6064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Input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5715" y="3571684"/>
                <a:ext cx="1166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Embedding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556986" y="1005840"/>
              <a:ext cx="1673828" cy="750570"/>
              <a:chOff x="2556986" y="1005840"/>
              <a:chExt cx="1673828" cy="75057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556986" y="1005840"/>
                <a:ext cx="1673828" cy="750570"/>
              </a:xfrm>
              <a:prstGeom prst="roundRect">
                <a:avLst>
                  <a:gd name="adj" fmla="val 15228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614136" y="12001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2733199" y="1298575"/>
                <a:ext cx="123825" cy="165100"/>
                <a:chOff x="2733199" y="1298575"/>
                <a:chExt cx="123825" cy="1651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2733199" y="1298575"/>
                  <a:ext cx="1238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65100">
                      <a:moveTo>
                        <a:pt x="123825" y="51594"/>
                      </a:moveTo>
                      <a:cubicBezTo>
                        <a:pt x="123825" y="23099"/>
                        <a:pt x="100726" y="0"/>
                        <a:pt x="72231" y="0"/>
                      </a:cubicBezTo>
                      <a:lnTo>
                        <a:pt x="51594" y="0"/>
                      </a:lnTo>
                      <a:cubicBezTo>
                        <a:pt x="23099" y="0"/>
                        <a:pt x="0" y="23099"/>
                        <a:pt x="0" y="51594"/>
                      </a:cubicBezTo>
                      <a:lnTo>
                        <a:pt x="0" y="113506"/>
                      </a:lnTo>
                      <a:cubicBezTo>
                        <a:pt x="0" y="142001"/>
                        <a:pt x="23099" y="165100"/>
                        <a:pt x="51594" y="165100"/>
                      </a:cubicBezTo>
                      <a:lnTo>
                        <a:pt x="72231" y="165100"/>
                      </a:lnTo>
                      <a:cubicBezTo>
                        <a:pt x="100726" y="165100"/>
                        <a:pt x="123825" y="142001"/>
                        <a:pt x="123825" y="113506"/>
                      </a:cubicBezTo>
                      <a:lnTo>
                        <a:pt x="123825" y="51594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805430" y="1412081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0" y="0"/>
                      </a:moveTo>
                      <a:lnTo>
                        <a:pt x="51594" y="51594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3237588" y="1148524"/>
                <a:ext cx="7125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Query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99122" y="1399985"/>
                <a:ext cx="11895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Projection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556986" y="3177540"/>
              <a:ext cx="1673828" cy="750570"/>
              <a:chOff x="2556986" y="3177540"/>
              <a:chExt cx="1673828" cy="75057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2556986" y="3177540"/>
                <a:ext cx="1673828" cy="750570"/>
              </a:xfrm>
              <a:prstGeom prst="roundRect">
                <a:avLst>
                  <a:gd name="adj" fmla="val 15228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614136" y="33718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2743517" y="3470275"/>
                <a:ext cx="103188" cy="165100"/>
                <a:chOff x="2743517" y="3470275"/>
                <a:chExt cx="103188" cy="1651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2743517" y="3470275"/>
                  <a:ext cx="95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5100">
                      <a:moveTo>
                        <a:pt x="0" y="0"/>
                      </a:moveTo>
                      <a:lnTo>
                        <a:pt x="0" y="16510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2743517" y="3470275"/>
                  <a:ext cx="10318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82550">
                      <a:moveTo>
                        <a:pt x="0" y="82550"/>
                      </a:moveTo>
                      <a:lnTo>
                        <a:pt x="20637" y="82550"/>
                      </a:lnTo>
                      <a:lnTo>
                        <a:pt x="10318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2764155" y="3552825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0"/>
                      </a:moveTo>
                      <a:lnTo>
                        <a:pt x="82550" y="8255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389451" y="3320224"/>
                <a:ext cx="4088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Key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99122" y="3571684"/>
                <a:ext cx="11895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Projection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2556986" y="5349240"/>
              <a:ext cx="1673828" cy="750570"/>
              <a:chOff x="2556986" y="5349240"/>
              <a:chExt cx="1673828" cy="75057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2556986" y="5349240"/>
                <a:ext cx="1673828" cy="750570"/>
              </a:xfrm>
              <a:prstGeom prst="roundRect">
                <a:avLst>
                  <a:gd name="adj" fmla="val 15228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2614136" y="55435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733199" y="5641975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0"/>
                    </a:moveTo>
                    <a:lnTo>
                      <a:pt x="61912" y="165100"/>
                    </a:lnTo>
                    <a:lnTo>
                      <a:pt x="123825" y="0"/>
                    </a:lnTo>
                  </a:path>
                </a:pathLst>
              </a:custGeom>
              <a:noFill/>
              <a:ln w="20637" cap="rnd">
                <a:solidFill>
                  <a:schemeClr val="accent1"/>
                </a:solidFill>
                <a:round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290659" y="5491924"/>
                <a:ext cx="6064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Value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999122" y="5743384"/>
                <a:ext cx="11895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Projection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649914" y="3024188"/>
              <a:ext cx="1863471" cy="1057275"/>
              <a:chOff x="4649914" y="3024188"/>
              <a:chExt cx="1863471" cy="1057275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4649914" y="3024188"/>
                <a:ext cx="1863471" cy="1057275"/>
              </a:xfrm>
              <a:prstGeom prst="roundRect">
                <a:avLst>
                  <a:gd name="adj" fmla="val 10811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4707064" y="327660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4795171" y="3364706"/>
                <a:ext cx="185737" cy="185738"/>
                <a:chOff x="4795171" y="3364706"/>
                <a:chExt cx="185737" cy="185738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888039" y="3467894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70" y="0"/>
                        <a:pt x="0" y="16170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70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815808" y="3467894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70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939633" y="3426619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70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888039" y="3364706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70"/>
                        <a:pt x="56062" y="0"/>
                        <a:pt x="36116" y="0"/>
                      </a:cubicBezTo>
                      <a:cubicBezTo>
                        <a:pt x="16170" y="0"/>
                        <a:pt x="0" y="16170"/>
                        <a:pt x="0" y="36116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795171" y="3426619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70" y="72231"/>
                        <a:pt x="0" y="56062"/>
                        <a:pt x="0" y="36116"/>
                      </a:cubicBezTo>
                      <a:cubicBezTo>
                        <a:pt x="0" y="16170"/>
                        <a:pt x="16170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815808" y="3364706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70"/>
                        <a:pt x="16170" y="0"/>
                        <a:pt x="36116" y="0"/>
                      </a:cubicBez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5414263" y="3182302"/>
                <a:ext cx="7348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Scaled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059788" y="3433762"/>
                <a:ext cx="1443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Dot-Product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089183" y="3688747"/>
                <a:ext cx="138498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Attention × h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964454" y="3248025"/>
              <a:ext cx="1353026" cy="609600"/>
              <a:chOff x="8964454" y="3248025"/>
              <a:chExt cx="1353026" cy="6096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964454" y="3248025"/>
                <a:ext cx="1353026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9021604" y="33718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9130347" y="3470275"/>
                <a:ext cx="144463" cy="165100"/>
                <a:chOff x="9130347" y="3470275"/>
                <a:chExt cx="144463" cy="165100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9130347" y="3470275"/>
                  <a:ext cx="3095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165100">
                      <a:moveTo>
                        <a:pt x="30956" y="0"/>
                      </a:moveTo>
                      <a:lnTo>
                        <a:pt x="0" y="0"/>
                      </a:lnTo>
                      <a:lnTo>
                        <a:pt x="0" y="165100"/>
                      </a:lnTo>
                      <a:lnTo>
                        <a:pt x="30956" y="16510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9243854" y="3470275"/>
                  <a:ext cx="3095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165100">
                      <a:moveTo>
                        <a:pt x="0" y="0"/>
                      </a:moveTo>
                      <a:lnTo>
                        <a:pt x="30956" y="0"/>
                      </a:lnTo>
                      <a:lnTo>
                        <a:pt x="30956" y="165100"/>
                      </a:lnTo>
                      <a:lnTo>
                        <a:pt x="0" y="16510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9444199" y="3445955"/>
                <a:ext cx="793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Concat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0736580" y="3177540"/>
              <a:ext cx="1352550" cy="750570"/>
              <a:chOff x="10736580" y="3177540"/>
              <a:chExt cx="1352550" cy="75057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10736580" y="3177540"/>
                <a:ext cx="1352550" cy="750570"/>
              </a:xfrm>
              <a:prstGeom prst="roundRect">
                <a:avLst>
                  <a:gd name="adj" fmla="val 15228"/>
                </a:avLst>
              </a:prstGeom>
              <a:solidFill>
                <a:srgbClr val="EAD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10793730" y="3371850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10881836" y="3470275"/>
                <a:ext cx="185738" cy="165100"/>
                <a:chOff x="10881836" y="3470275"/>
                <a:chExt cx="185738" cy="165100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10881836" y="3470275"/>
                  <a:ext cx="11350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65100">
                      <a:moveTo>
                        <a:pt x="113506" y="41275"/>
                      </a:moveTo>
                      <a:lnTo>
                        <a:pt x="113506" y="20637"/>
                      </a:lnTo>
                      <a:cubicBezTo>
                        <a:pt x="113506" y="9240"/>
                        <a:pt x="104267" y="0"/>
                        <a:pt x="92869" y="0"/>
                      </a:cubicBezTo>
                      <a:lnTo>
                        <a:pt x="20637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144462"/>
                      </a:lnTo>
                      <a:cubicBezTo>
                        <a:pt x="0" y="155860"/>
                        <a:pt x="9240" y="165100"/>
                        <a:pt x="20637" y="165100"/>
                      </a:cubicBezTo>
                      <a:lnTo>
                        <a:pt x="92869" y="165100"/>
                      </a:lnTo>
                      <a:cubicBezTo>
                        <a:pt x="104267" y="165100"/>
                        <a:pt x="113506" y="155860"/>
                        <a:pt x="113506" y="144462"/>
                      </a:cubicBezTo>
                      <a:lnTo>
                        <a:pt x="113506" y="123825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10943749" y="3521869"/>
                  <a:ext cx="1238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30956">
                      <a:moveTo>
                        <a:pt x="0" y="30956"/>
                      </a:moveTo>
                      <a:lnTo>
                        <a:pt x="123825" y="30956"/>
                      </a:lnTo>
                      <a:lnTo>
                        <a:pt x="92869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11036617" y="3552825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30956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11245468" y="3320224"/>
                <a:ext cx="7348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Linear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192497" y="3571684"/>
                <a:ext cx="8407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Output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961960" y="2197894"/>
            <a:ext cx="6735794" cy="2781205"/>
            <a:chOff x="1961960" y="2197894"/>
            <a:chExt cx="6735794" cy="2781205"/>
          </a:xfrm>
        </p:grpSpPr>
        <p:sp>
          <p:nvSpPr>
            <p:cNvPr id="78" name="Rectangle 78"/>
            <p:cNvSpPr/>
            <p:nvPr/>
          </p:nvSpPr>
          <p:spPr>
            <a:xfrm>
              <a:off x="2010823" y="2197894"/>
              <a:ext cx="368236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098544" y="2294572"/>
              <a:ext cx="1929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961960" y="3386138"/>
              <a:ext cx="356902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067468" y="3482816"/>
              <a:ext cx="1457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022158" y="4574381"/>
              <a:ext cx="345662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122142" y="4671060"/>
              <a:ext cx="1457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241262" y="2667000"/>
              <a:ext cx="2283809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385588" y="2763679"/>
              <a:ext cx="19952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Attention Weights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779990" y="3386138"/>
              <a:ext cx="1917764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91705" y="3482816"/>
              <a:ext cx="16943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Context Vector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cenario_2_attention_flow">
  <a:themeElements>
    <a:clrScheme name="scenario_2_attention_flow">
      <a:dk1>
        <a:srgbClr val="111827"/>
      </a:dk1>
      <a:lt1>
        <a:srgbClr val="FBFAF7"/>
      </a:lt1>
      <a:dk2>
        <a:srgbClr val="4B5563"/>
      </a:dk2>
      <a:lt2>
        <a:srgbClr val="FBFAF7"/>
      </a:lt2>
      <a:accent1>
        <a:srgbClr val="1F2933"/>
      </a:accent1>
      <a:accent2>
        <a:srgbClr val="D55E00"/>
      </a:accent2>
      <a:accent3>
        <a:srgbClr val="D55E00"/>
      </a:accent3>
      <a:accent4>
        <a:srgbClr val="1F2933"/>
      </a:accent4>
      <a:accent5>
        <a:srgbClr val="9CA3AF"/>
      </a:accent5>
      <a:accent6>
        <a:srgbClr val="CBD5E1"/>
      </a:accent6>
      <a:hlink>
        <a:srgbClr val="D55E00"/>
      </a:hlink>
      <a:folHlink>
        <a:srgbClr val="D55E00"/>
      </a:folHlink>
    </a:clrScheme>
    <a:fontScheme name="scenario_2_attention_fl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enario_2_attention_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2026-09-04T01:34:21Z</dcterms:created>
  <dcterms:modified xsi:type="dcterms:W3CDTF">2026-09-04T01:34:21Z</dcterms:modified>
  <cp:category/>
  <cp:contentStatus/>
</cp:coreProperties>
</file>
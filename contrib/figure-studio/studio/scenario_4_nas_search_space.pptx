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cenario_4_nas_search_spa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cenario_4_nas_search_spac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0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1731931" y="238125"/>
            <a:ext cx="8533924" cy="5257800"/>
            <a:chOff x="1731931" y="238125"/>
            <a:chExt cx="8533924" cy="5257800"/>
          </a:xfrm>
        </p:grpSpPr>
        <p:grpSp>
          <p:nvGrpSpPr>
            <p:cNvPr id="5" name="Group 5"/>
            <p:cNvGrpSpPr/>
            <p:nvPr/>
          </p:nvGrpSpPr>
          <p:grpSpPr>
            <a:xfrm>
              <a:off x="1731931" y="238125"/>
              <a:ext cx="1962055" cy="5257800"/>
              <a:chOff x="1731931" y="238125"/>
              <a:chExt cx="1962055" cy="5257800"/>
            </a:xfrm>
          </p:grpSpPr>
          <p:sp>
            <p:nvSpPr>
              <p:cNvPr id="2" name="Rectangle 2"/>
              <p:cNvSpPr/>
              <p:nvPr/>
            </p:nvSpPr>
            <p:spPr>
              <a:xfrm>
                <a:off x="1731931" y="733425"/>
                <a:ext cx="1962055" cy="4762500"/>
              </a:xfrm>
              <a:prstGeom prst="roundRect">
                <a:avLst>
                  <a:gd name="adj" fmla="val 7767"/>
                </a:avLst>
              </a:prstGeom>
              <a:solidFill>
                <a:srgbClr val="F8F9FA">
                  <a:alpha val="35000"/>
                </a:srgbClr>
              </a:solidFill>
              <a:ln w="14288">
                <a:solidFill>
                  <a:schemeClr val="accent5"/>
                </a:solidFill>
                <a:custDash>
                  <a:ds d="466667" sp="333333"/>
                </a:custDash>
              </a:ln>
            </p:spPr>
          </p:sp>
          <p:sp>
            <p:nvSpPr>
              <p:cNvPr id="3" name="Rectangle 3"/>
              <p:cNvSpPr/>
              <p:nvPr/>
            </p:nvSpPr>
            <p:spPr>
              <a:xfrm>
                <a:off x="2129790" y="238125"/>
                <a:ext cx="1166336" cy="428625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9525">
                <a:solidFill>
                  <a:schemeClr val="accent5"/>
                </a:solidFill>
              </a:ln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2182853" y="310991"/>
                <a:ext cx="1060115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0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Layer 1</a:t>
                </a: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922586" y="238125"/>
              <a:ext cx="1962055" cy="5257800"/>
              <a:chOff x="3922586" y="238125"/>
              <a:chExt cx="1962055" cy="52578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3922586" y="733425"/>
                <a:ext cx="1962055" cy="4762500"/>
              </a:xfrm>
              <a:prstGeom prst="roundRect">
                <a:avLst>
                  <a:gd name="adj" fmla="val 7767"/>
                </a:avLst>
              </a:prstGeom>
              <a:solidFill>
                <a:srgbClr val="F8F9FA">
                  <a:alpha val="35000"/>
                </a:srgbClr>
              </a:solidFill>
              <a:ln w="14288">
                <a:solidFill>
                  <a:schemeClr val="accent5"/>
                </a:solidFill>
                <a:custDash>
                  <a:ds d="466667" sp="333333"/>
                </a:custDash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4320445" y="238125"/>
                <a:ext cx="1166336" cy="428625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9525">
                <a:solidFill>
                  <a:schemeClr val="accent5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4373508" y="310991"/>
                <a:ext cx="1060115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0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Layer 2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113145" y="238125"/>
              <a:ext cx="1962055" cy="5257800"/>
              <a:chOff x="6113145" y="238125"/>
              <a:chExt cx="1962055" cy="52578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113145" y="733425"/>
                <a:ext cx="1962055" cy="4762500"/>
              </a:xfrm>
              <a:prstGeom prst="roundRect">
                <a:avLst>
                  <a:gd name="adj" fmla="val 7767"/>
                </a:avLst>
              </a:prstGeom>
              <a:solidFill>
                <a:srgbClr val="F8F9FA">
                  <a:alpha val="35000"/>
                </a:srgbClr>
              </a:solidFill>
              <a:ln w="14288">
                <a:solidFill>
                  <a:schemeClr val="accent5"/>
                </a:solidFill>
                <a:custDash>
                  <a:ds d="466667" sp="333333"/>
                </a:custDash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511100" y="238125"/>
                <a:ext cx="1166336" cy="428625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9525">
                <a:solidFill>
                  <a:schemeClr val="accent5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564162" y="310991"/>
                <a:ext cx="1060115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0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Layer 3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8303800" y="238125"/>
              <a:ext cx="1962055" cy="5257800"/>
              <a:chOff x="8303800" y="238125"/>
              <a:chExt cx="1962055" cy="52578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8303800" y="733425"/>
                <a:ext cx="1962055" cy="4762500"/>
              </a:xfrm>
              <a:prstGeom prst="roundRect">
                <a:avLst>
                  <a:gd name="adj" fmla="val 7767"/>
                </a:avLst>
              </a:prstGeom>
              <a:solidFill>
                <a:srgbClr val="F8F9FA">
                  <a:alpha val="35000"/>
                </a:srgbClr>
              </a:solidFill>
              <a:ln w="14288">
                <a:solidFill>
                  <a:schemeClr val="accent5"/>
                </a:solidFill>
                <a:custDash>
                  <a:ds d="466667" sp="333333"/>
                </a:custDash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8701659" y="238125"/>
                <a:ext cx="1166336" cy="428625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9525">
                <a:solidFill>
                  <a:schemeClr val="accent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754817" y="310991"/>
                <a:ext cx="1060115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0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Layer 4</a:t>
                </a:r>
              </a:p>
            </p:txBody>
          </p:sp>
        </p:grpSp>
      </p:grpSp>
      <p:grpSp>
        <p:nvGrpSpPr>
          <p:cNvPr id="104" name="Group 104"/>
          <p:cNvGrpSpPr/>
          <p:nvPr/>
        </p:nvGrpSpPr>
        <p:grpSpPr>
          <a:xfrm>
            <a:off x="1136047" y="1352550"/>
            <a:ext cx="9806082" cy="3667125"/>
            <a:chOff x="1136047" y="1352550"/>
            <a:chExt cx="9806082" cy="3667125"/>
          </a:xfrm>
        </p:grpSpPr>
        <p:sp>
          <p:nvSpPr>
            <p:cNvPr id="19" name="Freeform 19"/>
            <p:cNvSpPr/>
            <p:nvPr/>
          </p:nvSpPr>
          <p:spPr>
            <a:xfrm>
              <a:off x="1136047" y="1760220"/>
              <a:ext cx="1152430" cy="1106805"/>
            </a:xfrm>
            <a:custGeom>
              <a:avLst/>
              <a:gdLst/>
              <a:ahLst/>
              <a:cxnLst/>
              <a:rect l="l" t="t" r="r" b="b"/>
              <a:pathLst>
                <a:path w="1152430" h="1106805">
                  <a:moveTo>
                    <a:pt x="0" y="1106805"/>
                  </a:moveTo>
                  <a:lnTo>
                    <a:pt x="115243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463326" y="2655760"/>
              <a:ext cx="440055" cy="211265"/>
            </a:xfrm>
            <a:custGeom>
              <a:avLst/>
              <a:gdLst/>
              <a:ahLst/>
              <a:cxnLst/>
              <a:rect l="l" t="t" r="r" b="b"/>
              <a:pathLst>
                <a:path w="440055" h="211265">
                  <a:moveTo>
                    <a:pt x="0" y="211265"/>
                  </a:moveTo>
                  <a:lnTo>
                    <a:pt x="440055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465231" y="31813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463326" y="3495675"/>
              <a:ext cx="440055" cy="211265"/>
            </a:xfrm>
            <a:custGeom>
              <a:avLst/>
              <a:gdLst/>
              <a:ahLst/>
              <a:cxnLst/>
              <a:rect l="l" t="t" r="r" b="b"/>
              <a:pathLst>
                <a:path w="440055" h="211265">
                  <a:moveTo>
                    <a:pt x="0" y="0"/>
                  </a:moveTo>
                  <a:lnTo>
                    <a:pt x="440055" y="211265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136047" y="3495675"/>
              <a:ext cx="1152430" cy="1106805"/>
            </a:xfrm>
            <a:custGeom>
              <a:avLst/>
              <a:gdLst/>
              <a:ahLst/>
              <a:cxnLst/>
              <a:rect l="l" t="t" r="r" b="b"/>
              <a:pathLst>
                <a:path w="1152430" h="1106805">
                  <a:moveTo>
                    <a:pt x="0" y="0"/>
                  </a:moveTo>
                  <a:lnTo>
                    <a:pt x="1152430" y="1106805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522536" y="13525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522536" y="16904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0"/>
                  </a:moveTo>
                  <a:lnTo>
                    <a:pt x="571500" y="238506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201257" y="17602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0"/>
                  </a:moveTo>
                  <a:lnTo>
                    <a:pt x="1213961" y="10134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038475" y="1760220"/>
              <a:ext cx="1539526" cy="1927860"/>
            </a:xfrm>
            <a:custGeom>
              <a:avLst/>
              <a:gdLst/>
              <a:ahLst/>
              <a:cxnLst/>
              <a:rect l="l" t="t" r="r" b="b"/>
              <a:pathLst>
                <a:path w="1539526" h="1927860">
                  <a:moveTo>
                    <a:pt x="0" y="0"/>
                  </a:moveTo>
                  <a:lnTo>
                    <a:pt x="1539526" y="19278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957132" y="1760220"/>
              <a:ext cx="1702308" cy="2842260"/>
            </a:xfrm>
            <a:custGeom>
              <a:avLst/>
              <a:gdLst/>
              <a:ahLst/>
              <a:cxnLst/>
              <a:rect l="l" t="t" r="r" b="b"/>
              <a:pathLst>
                <a:path w="1702308" h="2842260">
                  <a:moveTo>
                    <a:pt x="0" y="0"/>
                  </a:moveTo>
                  <a:lnTo>
                    <a:pt x="1702308" y="28422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522536" y="16904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238506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522536" y="22669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522536" y="26048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0"/>
                  </a:moveTo>
                  <a:lnTo>
                    <a:pt x="571500" y="238506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201257" y="26746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0"/>
                  </a:moveTo>
                  <a:lnTo>
                    <a:pt x="1213961" y="10134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3038475" y="2674620"/>
              <a:ext cx="1539526" cy="1927860"/>
            </a:xfrm>
            <a:custGeom>
              <a:avLst/>
              <a:gdLst/>
              <a:ahLst/>
              <a:cxnLst/>
              <a:rect l="l" t="t" r="r" b="b"/>
              <a:pathLst>
                <a:path w="1539526" h="1927860">
                  <a:moveTo>
                    <a:pt x="0" y="0"/>
                  </a:moveTo>
                  <a:lnTo>
                    <a:pt x="1539526" y="19278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201257" y="17602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1013460"/>
                  </a:moveTo>
                  <a:lnTo>
                    <a:pt x="1213961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3522536" y="26048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238506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522536" y="31813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3522536" y="35192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0"/>
                  </a:moveTo>
                  <a:lnTo>
                    <a:pt x="571500" y="238506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3201257" y="35890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0"/>
                  </a:moveTo>
                  <a:lnTo>
                    <a:pt x="1213961" y="10134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3038475" y="1760220"/>
              <a:ext cx="1539526" cy="1927860"/>
            </a:xfrm>
            <a:custGeom>
              <a:avLst/>
              <a:gdLst/>
              <a:ahLst/>
              <a:cxnLst/>
              <a:rect l="l" t="t" r="r" b="b"/>
              <a:pathLst>
                <a:path w="1539526" h="1927860">
                  <a:moveTo>
                    <a:pt x="0" y="1927860"/>
                  </a:moveTo>
                  <a:lnTo>
                    <a:pt x="1539526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3201257" y="26746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1013460"/>
                  </a:moveTo>
                  <a:lnTo>
                    <a:pt x="1213961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3522536" y="35192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238506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3522536" y="4095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3522536" y="44336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0"/>
                  </a:moveTo>
                  <a:lnTo>
                    <a:pt x="571500" y="238506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2957132" y="1760220"/>
              <a:ext cx="1702308" cy="2842260"/>
            </a:xfrm>
            <a:custGeom>
              <a:avLst/>
              <a:gdLst/>
              <a:ahLst/>
              <a:cxnLst/>
              <a:rect l="l" t="t" r="r" b="b"/>
              <a:pathLst>
                <a:path w="1702308" h="2842260">
                  <a:moveTo>
                    <a:pt x="0" y="2842260"/>
                  </a:moveTo>
                  <a:lnTo>
                    <a:pt x="1702308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3038475" y="2674620"/>
              <a:ext cx="1539526" cy="1927860"/>
            </a:xfrm>
            <a:custGeom>
              <a:avLst/>
              <a:gdLst/>
              <a:ahLst/>
              <a:cxnLst/>
              <a:rect l="l" t="t" r="r" b="b"/>
              <a:pathLst>
                <a:path w="1539526" h="1927860">
                  <a:moveTo>
                    <a:pt x="0" y="1927860"/>
                  </a:moveTo>
                  <a:lnTo>
                    <a:pt x="1539526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3201257" y="35890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1013460"/>
                  </a:moveTo>
                  <a:lnTo>
                    <a:pt x="1213961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3522536" y="44336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238506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3522536" y="50101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5713095" y="13525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5713095" y="16904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0"/>
                  </a:moveTo>
                  <a:lnTo>
                    <a:pt x="571500" y="238506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5391912" y="17602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0"/>
                  </a:moveTo>
                  <a:lnTo>
                    <a:pt x="1213961" y="10134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5229130" y="1760220"/>
              <a:ext cx="1539526" cy="1927860"/>
            </a:xfrm>
            <a:custGeom>
              <a:avLst/>
              <a:gdLst/>
              <a:ahLst/>
              <a:cxnLst/>
              <a:rect l="l" t="t" r="r" b="b"/>
              <a:pathLst>
                <a:path w="1539526" h="1927860">
                  <a:moveTo>
                    <a:pt x="0" y="0"/>
                  </a:moveTo>
                  <a:lnTo>
                    <a:pt x="1539526" y="19278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5147691" y="1760220"/>
              <a:ext cx="1702308" cy="2842260"/>
            </a:xfrm>
            <a:custGeom>
              <a:avLst/>
              <a:gdLst/>
              <a:ahLst/>
              <a:cxnLst/>
              <a:rect l="l" t="t" r="r" b="b"/>
              <a:pathLst>
                <a:path w="1702308" h="2842260">
                  <a:moveTo>
                    <a:pt x="0" y="0"/>
                  </a:moveTo>
                  <a:lnTo>
                    <a:pt x="1702308" y="28422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5713095" y="16904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238506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5713095" y="22669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5713095" y="26048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0"/>
                  </a:moveTo>
                  <a:lnTo>
                    <a:pt x="571500" y="238506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5391912" y="26746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0"/>
                  </a:moveTo>
                  <a:lnTo>
                    <a:pt x="1213961" y="10134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5229130" y="2674620"/>
              <a:ext cx="1539526" cy="1927860"/>
            </a:xfrm>
            <a:custGeom>
              <a:avLst/>
              <a:gdLst/>
              <a:ahLst/>
              <a:cxnLst/>
              <a:rect l="l" t="t" r="r" b="b"/>
              <a:pathLst>
                <a:path w="1539526" h="1927860">
                  <a:moveTo>
                    <a:pt x="0" y="0"/>
                  </a:moveTo>
                  <a:lnTo>
                    <a:pt x="1539526" y="19278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5391912" y="17602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1013460"/>
                  </a:moveTo>
                  <a:lnTo>
                    <a:pt x="1213961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5713095" y="26048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238506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5713095" y="31813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5713095" y="35192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0"/>
                  </a:moveTo>
                  <a:lnTo>
                    <a:pt x="571500" y="238506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5391912" y="35890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0"/>
                  </a:moveTo>
                  <a:lnTo>
                    <a:pt x="1213961" y="10134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5229130" y="1760220"/>
              <a:ext cx="1539526" cy="1927860"/>
            </a:xfrm>
            <a:custGeom>
              <a:avLst/>
              <a:gdLst/>
              <a:ahLst/>
              <a:cxnLst/>
              <a:rect l="l" t="t" r="r" b="b"/>
              <a:pathLst>
                <a:path w="1539526" h="1927860">
                  <a:moveTo>
                    <a:pt x="0" y="1927860"/>
                  </a:moveTo>
                  <a:lnTo>
                    <a:pt x="1539526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5391912" y="26746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1013460"/>
                  </a:moveTo>
                  <a:lnTo>
                    <a:pt x="1213961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5713095" y="35192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238506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5713095" y="4095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5713095" y="44336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0"/>
                  </a:moveTo>
                  <a:lnTo>
                    <a:pt x="571500" y="238506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5147691" y="1760220"/>
              <a:ext cx="1702308" cy="2842260"/>
            </a:xfrm>
            <a:custGeom>
              <a:avLst/>
              <a:gdLst/>
              <a:ahLst/>
              <a:cxnLst/>
              <a:rect l="l" t="t" r="r" b="b"/>
              <a:pathLst>
                <a:path w="1702308" h="2842260">
                  <a:moveTo>
                    <a:pt x="0" y="2842260"/>
                  </a:moveTo>
                  <a:lnTo>
                    <a:pt x="1702308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5229130" y="2674620"/>
              <a:ext cx="1539526" cy="1927860"/>
            </a:xfrm>
            <a:custGeom>
              <a:avLst/>
              <a:gdLst/>
              <a:ahLst/>
              <a:cxnLst/>
              <a:rect l="l" t="t" r="r" b="b"/>
              <a:pathLst>
                <a:path w="1539526" h="1927860">
                  <a:moveTo>
                    <a:pt x="0" y="1927860"/>
                  </a:moveTo>
                  <a:lnTo>
                    <a:pt x="1539526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5391912" y="35890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1013460"/>
                  </a:moveTo>
                  <a:lnTo>
                    <a:pt x="1213961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5713095" y="44336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238506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5713095" y="50101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7903750" y="13525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7903750" y="16904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0"/>
                  </a:moveTo>
                  <a:lnTo>
                    <a:pt x="571500" y="238506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7582567" y="17602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0"/>
                  </a:moveTo>
                  <a:lnTo>
                    <a:pt x="1213961" y="10134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7419784" y="1760220"/>
              <a:ext cx="1539526" cy="1927860"/>
            </a:xfrm>
            <a:custGeom>
              <a:avLst/>
              <a:gdLst/>
              <a:ahLst/>
              <a:cxnLst/>
              <a:rect l="l" t="t" r="r" b="b"/>
              <a:pathLst>
                <a:path w="1539526" h="1927860">
                  <a:moveTo>
                    <a:pt x="0" y="0"/>
                  </a:moveTo>
                  <a:lnTo>
                    <a:pt x="1539526" y="19278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7338346" y="1760220"/>
              <a:ext cx="1702308" cy="2842260"/>
            </a:xfrm>
            <a:custGeom>
              <a:avLst/>
              <a:gdLst/>
              <a:ahLst/>
              <a:cxnLst/>
              <a:rect l="l" t="t" r="r" b="b"/>
              <a:pathLst>
                <a:path w="1702308" h="2842260">
                  <a:moveTo>
                    <a:pt x="0" y="0"/>
                  </a:moveTo>
                  <a:lnTo>
                    <a:pt x="1702308" y="28422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7903750" y="16904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238506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7903750" y="22669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7903750" y="26048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0"/>
                  </a:moveTo>
                  <a:lnTo>
                    <a:pt x="571500" y="238506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7582567" y="26746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0"/>
                  </a:moveTo>
                  <a:lnTo>
                    <a:pt x="1213961" y="10134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7419784" y="2674620"/>
              <a:ext cx="1539526" cy="1927860"/>
            </a:xfrm>
            <a:custGeom>
              <a:avLst/>
              <a:gdLst/>
              <a:ahLst/>
              <a:cxnLst/>
              <a:rect l="l" t="t" r="r" b="b"/>
              <a:pathLst>
                <a:path w="1539526" h="1927860">
                  <a:moveTo>
                    <a:pt x="0" y="0"/>
                  </a:moveTo>
                  <a:lnTo>
                    <a:pt x="1539526" y="19278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7582567" y="17602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1013460"/>
                  </a:moveTo>
                  <a:lnTo>
                    <a:pt x="1213961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7903750" y="26048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238506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7903750" y="31813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7903750" y="35192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0"/>
                  </a:moveTo>
                  <a:lnTo>
                    <a:pt x="571500" y="238506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7582567" y="35890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0"/>
                  </a:moveTo>
                  <a:lnTo>
                    <a:pt x="1213961" y="101346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7419784" y="1760220"/>
              <a:ext cx="1539526" cy="1927860"/>
            </a:xfrm>
            <a:custGeom>
              <a:avLst/>
              <a:gdLst/>
              <a:ahLst/>
              <a:cxnLst/>
              <a:rect l="l" t="t" r="r" b="b"/>
              <a:pathLst>
                <a:path w="1539526" h="1927860">
                  <a:moveTo>
                    <a:pt x="0" y="1927860"/>
                  </a:moveTo>
                  <a:lnTo>
                    <a:pt x="1539526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7582567" y="26746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1013460"/>
                  </a:moveTo>
                  <a:lnTo>
                    <a:pt x="1213961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7903750" y="35192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238506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7903750" y="4095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7903750" y="44336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0"/>
                  </a:moveTo>
                  <a:lnTo>
                    <a:pt x="571500" y="238506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7338346" y="1760220"/>
              <a:ext cx="1702308" cy="2842260"/>
            </a:xfrm>
            <a:custGeom>
              <a:avLst/>
              <a:gdLst/>
              <a:ahLst/>
              <a:cxnLst/>
              <a:rect l="l" t="t" r="r" b="b"/>
              <a:pathLst>
                <a:path w="1702308" h="2842260">
                  <a:moveTo>
                    <a:pt x="0" y="2842260"/>
                  </a:moveTo>
                  <a:lnTo>
                    <a:pt x="1702308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7419784" y="2674620"/>
              <a:ext cx="1539526" cy="1927860"/>
            </a:xfrm>
            <a:custGeom>
              <a:avLst/>
              <a:gdLst/>
              <a:ahLst/>
              <a:cxnLst/>
              <a:rect l="l" t="t" r="r" b="b"/>
              <a:pathLst>
                <a:path w="1539526" h="1927860">
                  <a:moveTo>
                    <a:pt x="0" y="1927860"/>
                  </a:moveTo>
                  <a:lnTo>
                    <a:pt x="1539526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7582567" y="3589020"/>
              <a:ext cx="1213961" cy="1013460"/>
            </a:xfrm>
            <a:custGeom>
              <a:avLst/>
              <a:gdLst/>
              <a:ahLst/>
              <a:cxnLst/>
              <a:rect l="l" t="t" r="r" b="b"/>
              <a:pathLst>
                <a:path w="1213961" h="1013460">
                  <a:moveTo>
                    <a:pt x="0" y="1013460"/>
                  </a:moveTo>
                  <a:lnTo>
                    <a:pt x="1213961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7903750" y="4433697"/>
              <a:ext cx="571500" cy="238506"/>
            </a:xfrm>
            <a:custGeom>
              <a:avLst/>
              <a:gdLst/>
              <a:ahLst/>
              <a:cxnLst/>
              <a:rect l="l" t="t" r="r" b="b"/>
              <a:pathLst>
                <a:path w="571500" h="238506">
                  <a:moveTo>
                    <a:pt x="0" y="238506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7903750" y="50101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9730930" y="1760220"/>
              <a:ext cx="1211199" cy="1106805"/>
            </a:xfrm>
            <a:custGeom>
              <a:avLst/>
              <a:gdLst/>
              <a:ahLst/>
              <a:cxnLst/>
              <a:rect l="l" t="t" r="r" b="b"/>
              <a:pathLst>
                <a:path w="1211199" h="1106805">
                  <a:moveTo>
                    <a:pt x="0" y="0"/>
                  </a:moveTo>
                  <a:lnTo>
                    <a:pt x="1211199" y="1106805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10094404" y="2636901"/>
              <a:ext cx="503777" cy="230124"/>
            </a:xfrm>
            <a:custGeom>
              <a:avLst/>
              <a:gdLst/>
              <a:ahLst/>
              <a:cxnLst/>
              <a:rect l="l" t="t" r="r" b="b"/>
              <a:pathLst>
                <a:path w="503777" h="230124">
                  <a:moveTo>
                    <a:pt x="0" y="0"/>
                  </a:moveTo>
                  <a:lnTo>
                    <a:pt x="503777" y="230124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10094404" y="31813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10094404" y="3495675"/>
              <a:ext cx="503777" cy="230124"/>
            </a:xfrm>
            <a:custGeom>
              <a:avLst/>
              <a:gdLst/>
              <a:ahLst/>
              <a:cxnLst/>
              <a:rect l="l" t="t" r="r" b="b"/>
              <a:pathLst>
                <a:path w="503777" h="230124">
                  <a:moveTo>
                    <a:pt x="0" y="230124"/>
                  </a:moveTo>
                  <a:lnTo>
                    <a:pt x="503777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9730930" y="3495675"/>
              <a:ext cx="1211199" cy="1106805"/>
            </a:xfrm>
            <a:custGeom>
              <a:avLst/>
              <a:gdLst/>
              <a:ahLst/>
              <a:cxnLst/>
              <a:rect l="l" t="t" r="r" b="b"/>
              <a:pathLst>
                <a:path w="1211199" h="1106805">
                  <a:moveTo>
                    <a:pt x="0" y="1106805"/>
                  </a:moveTo>
                  <a:lnTo>
                    <a:pt x="1211199" y="0"/>
                  </a:lnTo>
                </a:path>
              </a:pathLst>
            </a:custGeom>
            <a:noFill/>
            <a:ln w="11906" cap="rnd">
              <a:solidFill>
                <a:schemeClr val="accent5">
                  <a:alpha val="90000"/>
                </a:schemeClr>
              </a:solidFill>
            </a:ln>
          </p:spPr>
        </p:sp>
      </p:grpSp>
      <p:grpSp>
        <p:nvGrpSpPr>
          <p:cNvPr id="110" name="Group 110"/>
          <p:cNvGrpSpPr/>
          <p:nvPr/>
        </p:nvGrpSpPr>
        <p:grpSpPr>
          <a:xfrm>
            <a:off x="1465231" y="1352550"/>
            <a:ext cx="9067323" cy="4331970"/>
            <a:chOff x="1465231" y="1352550"/>
            <a:chExt cx="9067323" cy="4331970"/>
          </a:xfrm>
        </p:grpSpPr>
        <p:sp>
          <p:nvSpPr>
            <p:cNvPr id="105" name="Freeform 105"/>
            <p:cNvSpPr/>
            <p:nvPr/>
          </p:nvSpPr>
          <p:spPr>
            <a:xfrm>
              <a:off x="1465231" y="1352550"/>
              <a:ext cx="438150" cy="1828800"/>
            </a:xfrm>
            <a:custGeom>
              <a:avLst/>
              <a:gdLst/>
              <a:ahLst/>
              <a:cxnLst/>
              <a:rect l="l" t="t" r="r" b="b"/>
              <a:pathLst>
                <a:path w="438150" h="1828800">
                  <a:moveTo>
                    <a:pt x="0" y="1828800"/>
                  </a:moveTo>
                  <a:lnTo>
                    <a:pt x="133350" y="1828800"/>
                  </a:lnTo>
                  <a:lnTo>
                    <a:pt x="133350" y="0"/>
                  </a:lnTo>
                  <a:lnTo>
                    <a:pt x="4381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  <a:tailEnd type="triangle" w="lg" len="lg"/>
            </a:ln>
          </p:spPr>
        </p:sp>
        <p:sp>
          <p:nvSpPr>
            <p:cNvPr id="106" name="Freeform 106"/>
            <p:cNvSpPr/>
            <p:nvPr/>
          </p:nvSpPr>
          <p:spPr>
            <a:xfrm>
              <a:off x="3522536" y="1352550"/>
              <a:ext cx="571500" cy="914400"/>
            </a:xfrm>
            <a:custGeom>
              <a:avLst/>
              <a:gdLst/>
              <a:ahLst/>
              <a:cxnLst/>
              <a:rect l="l" t="t" r="r" b="b"/>
              <a:pathLst>
                <a:path w="571500" h="914400">
                  <a:moveTo>
                    <a:pt x="0" y="0"/>
                  </a:moveTo>
                  <a:lnTo>
                    <a:pt x="285750" y="0"/>
                  </a:lnTo>
                  <a:lnTo>
                    <a:pt x="285750" y="914400"/>
                  </a:lnTo>
                  <a:lnTo>
                    <a:pt x="571500" y="91440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  <a:tailEnd type="triangle" w="lg" len="lg"/>
            </a:ln>
          </p:spPr>
        </p:sp>
        <p:sp>
          <p:nvSpPr>
            <p:cNvPr id="107" name="Freeform 107"/>
            <p:cNvSpPr/>
            <p:nvPr/>
          </p:nvSpPr>
          <p:spPr>
            <a:xfrm>
              <a:off x="5713095" y="2266950"/>
              <a:ext cx="571500" cy="914400"/>
            </a:xfrm>
            <a:custGeom>
              <a:avLst/>
              <a:gdLst/>
              <a:ahLst/>
              <a:cxnLst/>
              <a:rect l="l" t="t" r="r" b="b"/>
              <a:pathLst>
                <a:path w="571500" h="914400">
                  <a:moveTo>
                    <a:pt x="0" y="0"/>
                  </a:moveTo>
                  <a:lnTo>
                    <a:pt x="285750" y="0"/>
                  </a:lnTo>
                  <a:lnTo>
                    <a:pt x="285750" y="914400"/>
                  </a:lnTo>
                  <a:lnTo>
                    <a:pt x="571500" y="91440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  <a:tailEnd type="triangle" w="lg" len="lg"/>
            </a:ln>
          </p:spPr>
        </p:sp>
        <p:sp>
          <p:nvSpPr>
            <p:cNvPr id="108" name="Freeform 108"/>
            <p:cNvSpPr/>
            <p:nvPr/>
          </p:nvSpPr>
          <p:spPr>
            <a:xfrm>
              <a:off x="7903750" y="3181350"/>
              <a:ext cx="838200" cy="2503170"/>
            </a:xfrm>
            <a:custGeom>
              <a:avLst/>
              <a:gdLst/>
              <a:ahLst/>
              <a:cxnLst/>
              <a:rect l="l" t="t" r="r" b="b"/>
              <a:pathLst>
                <a:path w="838200" h="2503170">
                  <a:moveTo>
                    <a:pt x="0" y="0"/>
                  </a:moveTo>
                  <a:lnTo>
                    <a:pt x="285750" y="0"/>
                  </a:lnTo>
                  <a:lnTo>
                    <a:pt x="285750" y="2503170"/>
                  </a:lnTo>
                  <a:lnTo>
                    <a:pt x="838200" y="2503170"/>
                  </a:lnTo>
                  <a:lnTo>
                    <a:pt x="838200" y="223647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  <a:tailEnd type="triangle" w="lg" len="lg"/>
            </a:ln>
          </p:spPr>
        </p:sp>
        <p:sp>
          <p:nvSpPr>
            <p:cNvPr id="109" name="Freeform 109"/>
            <p:cNvSpPr/>
            <p:nvPr/>
          </p:nvSpPr>
          <p:spPr>
            <a:xfrm>
              <a:off x="10094404" y="3181350"/>
              <a:ext cx="438150" cy="1828800"/>
            </a:xfrm>
            <a:custGeom>
              <a:avLst/>
              <a:gdLst/>
              <a:ahLst/>
              <a:cxnLst/>
              <a:rect l="l" t="t" r="r" b="b"/>
              <a:pathLst>
                <a:path w="438150" h="1828800">
                  <a:moveTo>
                    <a:pt x="0" y="1828800"/>
                  </a:moveTo>
                  <a:lnTo>
                    <a:pt x="171450" y="1828800"/>
                  </a:lnTo>
                  <a:lnTo>
                    <a:pt x="171450" y="0"/>
                  </a:lnTo>
                  <a:lnTo>
                    <a:pt x="4381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  <a:tailEnd type="triangle" w="lg" len="lg"/>
            </a:ln>
          </p:spPr>
        </p:sp>
      </p:grpSp>
      <p:grpSp>
        <p:nvGrpSpPr>
          <p:cNvPr id="191" name="Group 191"/>
          <p:cNvGrpSpPr/>
          <p:nvPr/>
        </p:nvGrpSpPr>
        <p:grpSpPr>
          <a:xfrm>
            <a:off x="152400" y="944880"/>
            <a:ext cx="11887200" cy="4472940"/>
            <a:chOff x="152400" y="944880"/>
            <a:chExt cx="11887200" cy="4472940"/>
          </a:xfrm>
        </p:grpSpPr>
        <p:grpSp>
          <p:nvGrpSpPr>
            <p:cNvPr id="118" name="Group 118"/>
            <p:cNvGrpSpPr/>
            <p:nvPr/>
          </p:nvGrpSpPr>
          <p:grpSpPr>
            <a:xfrm>
              <a:off x="152400" y="2867025"/>
              <a:ext cx="1312831" cy="628650"/>
              <a:chOff x="152400" y="2867025"/>
              <a:chExt cx="1312831" cy="628650"/>
            </a:xfrm>
          </p:grpSpPr>
          <p:sp>
            <p:nvSpPr>
              <p:cNvPr id="111" name="Rectangle 111"/>
              <p:cNvSpPr/>
              <p:nvPr/>
            </p:nvSpPr>
            <p:spPr>
              <a:xfrm>
                <a:off x="152400" y="2867025"/>
                <a:ext cx="1312831" cy="628650"/>
              </a:xfrm>
              <a:prstGeom prst="roundRect">
                <a:avLst>
                  <a:gd name="adj" fmla="val 50000"/>
                </a:avLst>
              </a:prstGeom>
              <a:solidFill>
                <a:srgbClr val="FFE2D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12" name="Rectangle 112"/>
              <p:cNvSpPr/>
              <p:nvPr/>
            </p:nvSpPr>
            <p:spPr>
              <a:xfrm>
                <a:off x="342900" y="3000375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116" name="Group 116"/>
              <p:cNvGrpSpPr/>
              <p:nvPr/>
            </p:nvGrpSpPr>
            <p:grpSpPr>
              <a:xfrm>
                <a:off x="441325" y="3098800"/>
                <a:ext cx="175419" cy="165100"/>
                <a:chOff x="441325" y="3098800"/>
                <a:chExt cx="175419" cy="165100"/>
              </a:xfrm>
            </p:grpSpPr>
            <p:sp>
              <p:nvSpPr>
                <p:cNvPr id="113" name="Freeform 113"/>
                <p:cNvSpPr/>
                <p:nvPr/>
              </p:nvSpPr>
              <p:spPr>
                <a:xfrm>
                  <a:off x="441325" y="3098800"/>
                  <a:ext cx="113506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06" h="165100">
                      <a:moveTo>
                        <a:pt x="113506" y="41275"/>
                      </a:moveTo>
                      <a:lnTo>
                        <a:pt x="113506" y="20637"/>
                      </a:lnTo>
                      <a:cubicBezTo>
                        <a:pt x="113506" y="9240"/>
                        <a:pt x="104267" y="0"/>
                        <a:pt x="92869" y="0"/>
                      </a:cubicBezTo>
                      <a:lnTo>
                        <a:pt x="20637" y="0"/>
                      </a:lnTo>
                      <a:cubicBezTo>
                        <a:pt x="9240" y="0"/>
                        <a:pt x="0" y="9240"/>
                        <a:pt x="0" y="20637"/>
                      </a:cubicBezTo>
                      <a:lnTo>
                        <a:pt x="0" y="144462"/>
                      </a:lnTo>
                      <a:cubicBezTo>
                        <a:pt x="0" y="155860"/>
                        <a:pt x="9240" y="165100"/>
                        <a:pt x="20637" y="165100"/>
                      </a:cubicBezTo>
                      <a:lnTo>
                        <a:pt x="92869" y="165100"/>
                      </a:lnTo>
                      <a:cubicBezTo>
                        <a:pt x="104267" y="165100"/>
                        <a:pt x="113506" y="155860"/>
                        <a:pt x="113506" y="144462"/>
                      </a:cubicBezTo>
                      <a:lnTo>
                        <a:pt x="113506" y="123825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114" name="Freeform 114"/>
                <p:cNvSpPr/>
                <p:nvPr/>
              </p:nvSpPr>
              <p:spPr>
                <a:xfrm>
                  <a:off x="482600" y="3150394"/>
                  <a:ext cx="134144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4" h="30956">
                      <a:moveTo>
                        <a:pt x="134144" y="30956"/>
                      </a:moveTo>
                      <a:lnTo>
                        <a:pt x="0" y="30956"/>
                      </a:lnTo>
                      <a:lnTo>
                        <a:pt x="30956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115" name="Freeform 115"/>
                <p:cNvSpPr/>
                <p:nvPr/>
              </p:nvSpPr>
              <p:spPr>
                <a:xfrm>
                  <a:off x="482600" y="3181350"/>
                  <a:ext cx="30956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30956">
                      <a:moveTo>
                        <a:pt x="30956" y="3095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117" name="TextBox 117"/>
              <p:cNvSpPr txBox="1"/>
              <p:nvPr/>
            </p:nvSpPr>
            <p:spPr>
              <a:xfrm>
                <a:off x="678009" y="3064764"/>
                <a:ext cx="6615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Input</a:t>
                </a: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1903381" y="944880"/>
              <a:ext cx="1619155" cy="815340"/>
              <a:chOff x="1903381" y="944880"/>
              <a:chExt cx="1619155" cy="815340"/>
            </a:xfrm>
          </p:grpSpPr>
          <p:sp>
            <p:nvSpPr>
              <p:cNvPr id="119" name="Rectangle 119"/>
              <p:cNvSpPr/>
              <p:nvPr/>
            </p:nvSpPr>
            <p:spPr>
              <a:xfrm>
                <a:off x="1903381" y="9448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2169844" y="1235964"/>
                <a:ext cx="10861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3x3 Conv</a:t>
                </a: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1903381" y="1859280"/>
              <a:ext cx="1619155" cy="815340"/>
              <a:chOff x="1903381" y="1859280"/>
              <a:chExt cx="1619155" cy="815340"/>
            </a:xfrm>
          </p:grpSpPr>
          <p:sp>
            <p:nvSpPr>
              <p:cNvPr id="122" name="Rectangle 122"/>
              <p:cNvSpPr/>
              <p:nvPr/>
            </p:nvSpPr>
            <p:spPr>
              <a:xfrm>
                <a:off x="1903381" y="18592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2169844" y="2150364"/>
                <a:ext cx="10861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5x5 Conv</a:t>
                </a: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1903381" y="2773680"/>
              <a:ext cx="1619155" cy="815340"/>
              <a:chOff x="1903381" y="2773680"/>
              <a:chExt cx="1619155" cy="815340"/>
            </a:xfrm>
          </p:grpSpPr>
          <p:sp>
            <p:nvSpPr>
              <p:cNvPr id="125" name="Rectangle 125"/>
              <p:cNvSpPr/>
              <p:nvPr/>
            </p:nvSpPr>
            <p:spPr>
              <a:xfrm>
                <a:off x="1903381" y="27736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2173746" y="3064764"/>
                <a:ext cx="107832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Max Pool</a:t>
                </a:r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1903381" y="3688080"/>
              <a:ext cx="1619155" cy="815340"/>
              <a:chOff x="1903381" y="3688080"/>
              <a:chExt cx="1619155" cy="815340"/>
            </a:xfrm>
          </p:grpSpPr>
          <p:sp>
            <p:nvSpPr>
              <p:cNvPr id="128" name="Rectangle 128"/>
              <p:cNvSpPr/>
              <p:nvPr/>
            </p:nvSpPr>
            <p:spPr>
              <a:xfrm>
                <a:off x="1903381" y="36880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2199601" y="3979164"/>
                <a:ext cx="10266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Avg Pool</a:t>
                </a:r>
              </a:p>
            </p:txBody>
          </p:sp>
        </p:grpSp>
        <p:grpSp>
          <p:nvGrpSpPr>
            <p:cNvPr id="134" name="Group 134"/>
            <p:cNvGrpSpPr/>
            <p:nvPr/>
          </p:nvGrpSpPr>
          <p:grpSpPr>
            <a:xfrm>
              <a:off x="1903381" y="4602480"/>
              <a:ext cx="1619155" cy="815340"/>
              <a:chOff x="1903381" y="4602480"/>
              <a:chExt cx="1619155" cy="815340"/>
            </a:xfrm>
          </p:grpSpPr>
          <p:sp>
            <p:nvSpPr>
              <p:cNvPr id="131" name="Rectangle 131"/>
              <p:cNvSpPr/>
              <p:nvPr/>
            </p:nvSpPr>
            <p:spPr>
              <a:xfrm>
                <a:off x="1903381" y="46024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2452185" y="4756404"/>
                <a:ext cx="5214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Skip</a:t>
                </a:r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2032103" y="5030724"/>
                <a:ext cx="13616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Connection</a:t>
                </a:r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4094036" y="944880"/>
              <a:ext cx="1619155" cy="815340"/>
              <a:chOff x="4094036" y="944880"/>
              <a:chExt cx="1619155" cy="815340"/>
            </a:xfrm>
          </p:grpSpPr>
          <p:sp>
            <p:nvSpPr>
              <p:cNvPr id="135" name="Rectangle 135"/>
              <p:cNvSpPr/>
              <p:nvPr/>
            </p:nvSpPr>
            <p:spPr>
              <a:xfrm>
                <a:off x="4094036" y="9448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4360499" y="1235964"/>
                <a:ext cx="10861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3x3 Conv</a:t>
                </a:r>
              </a:p>
            </p:txBody>
          </p:sp>
        </p:grpSp>
        <p:grpSp>
          <p:nvGrpSpPr>
            <p:cNvPr id="140" name="Group 140"/>
            <p:cNvGrpSpPr/>
            <p:nvPr/>
          </p:nvGrpSpPr>
          <p:grpSpPr>
            <a:xfrm>
              <a:off x="4094036" y="1859280"/>
              <a:ext cx="1619155" cy="815340"/>
              <a:chOff x="4094036" y="1859280"/>
              <a:chExt cx="1619155" cy="815340"/>
            </a:xfrm>
          </p:grpSpPr>
          <p:sp>
            <p:nvSpPr>
              <p:cNvPr id="138" name="Rectangle 138"/>
              <p:cNvSpPr/>
              <p:nvPr/>
            </p:nvSpPr>
            <p:spPr>
              <a:xfrm>
                <a:off x="4094036" y="18592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39" name="TextBox 139"/>
              <p:cNvSpPr txBox="1"/>
              <p:nvPr/>
            </p:nvSpPr>
            <p:spPr>
              <a:xfrm>
                <a:off x="4360499" y="2150364"/>
                <a:ext cx="10861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5x5 Conv</a:t>
                </a:r>
              </a:p>
            </p:txBody>
          </p:sp>
        </p:grpSp>
        <p:grpSp>
          <p:nvGrpSpPr>
            <p:cNvPr id="143" name="Group 143"/>
            <p:cNvGrpSpPr/>
            <p:nvPr/>
          </p:nvGrpSpPr>
          <p:grpSpPr>
            <a:xfrm>
              <a:off x="4094036" y="2773680"/>
              <a:ext cx="1619155" cy="815340"/>
              <a:chOff x="4094036" y="2773680"/>
              <a:chExt cx="1619155" cy="815340"/>
            </a:xfrm>
          </p:grpSpPr>
          <p:sp>
            <p:nvSpPr>
              <p:cNvPr id="141" name="Rectangle 141"/>
              <p:cNvSpPr/>
              <p:nvPr/>
            </p:nvSpPr>
            <p:spPr>
              <a:xfrm>
                <a:off x="4094036" y="27736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42" name="TextBox 142"/>
              <p:cNvSpPr txBox="1"/>
              <p:nvPr/>
            </p:nvSpPr>
            <p:spPr>
              <a:xfrm>
                <a:off x="4364401" y="3064764"/>
                <a:ext cx="107832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Max Pool</a:t>
                </a:r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>
              <a:off x="4094036" y="3688080"/>
              <a:ext cx="1619155" cy="815340"/>
              <a:chOff x="4094036" y="3688080"/>
              <a:chExt cx="1619155" cy="815340"/>
            </a:xfrm>
          </p:grpSpPr>
          <p:sp>
            <p:nvSpPr>
              <p:cNvPr id="144" name="Rectangle 144"/>
              <p:cNvSpPr/>
              <p:nvPr/>
            </p:nvSpPr>
            <p:spPr>
              <a:xfrm>
                <a:off x="4094036" y="36880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45" name="TextBox 145"/>
              <p:cNvSpPr txBox="1"/>
              <p:nvPr/>
            </p:nvSpPr>
            <p:spPr>
              <a:xfrm>
                <a:off x="4390255" y="3979164"/>
                <a:ext cx="10266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Avg Pool</a:t>
                </a:r>
              </a:p>
            </p:txBody>
          </p:sp>
        </p:grpSp>
        <p:grpSp>
          <p:nvGrpSpPr>
            <p:cNvPr id="150" name="Group 150"/>
            <p:cNvGrpSpPr/>
            <p:nvPr/>
          </p:nvGrpSpPr>
          <p:grpSpPr>
            <a:xfrm>
              <a:off x="4094036" y="4602480"/>
              <a:ext cx="1619155" cy="815340"/>
              <a:chOff x="4094036" y="4602480"/>
              <a:chExt cx="1619155" cy="815340"/>
            </a:xfrm>
          </p:grpSpPr>
          <p:sp>
            <p:nvSpPr>
              <p:cNvPr id="147" name="Rectangle 147"/>
              <p:cNvSpPr/>
              <p:nvPr/>
            </p:nvSpPr>
            <p:spPr>
              <a:xfrm>
                <a:off x="4094036" y="46024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48" name="TextBox 148"/>
              <p:cNvSpPr txBox="1"/>
              <p:nvPr/>
            </p:nvSpPr>
            <p:spPr>
              <a:xfrm>
                <a:off x="4642840" y="4756404"/>
                <a:ext cx="5214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Skip</a:t>
                </a:r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4222757" y="5030724"/>
                <a:ext cx="13616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Connection</a:t>
                </a:r>
              </a:p>
            </p:txBody>
          </p:sp>
        </p:grpSp>
        <p:grpSp>
          <p:nvGrpSpPr>
            <p:cNvPr id="153" name="Group 153"/>
            <p:cNvGrpSpPr/>
            <p:nvPr/>
          </p:nvGrpSpPr>
          <p:grpSpPr>
            <a:xfrm>
              <a:off x="6284595" y="944880"/>
              <a:ext cx="1619155" cy="815340"/>
              <a:chOff x="6284595" y="944880"/>
              <a:chExt cx="1619155" cy="815340"/>
            </a:xfrm>
          </p:grpSpPr>
          <p:sp>
            <p:nvSpPr>
              <p:cNvPr id="151" name="Rectangle 151"/>
              <p:cNvSpPr/>
              <p:nvPr/>
            </p:nvSpPr>
            <p:spPr>
              <a:xfrm>
                <a:off x="6284595" y="9448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52" name="TextBox 152"/>
              <p:cNvSpPr txBox="1"/>
              <p:nvPr/>
            </p:nvSpPr>
            <p:spPr>
              <a:xfrm>
                <a:off x="6551153" y="1235964"/>
                <a:ext cx="10861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3x3 Conv</a:t>
                </a:r>
              </a:p>
            </p:txBody>
          </p:sp>
        </p:grpSp>
        <p:grpSp>
          <p:nvGrpSpPr>
            <p:cNvPr id="156" name="Group 156"/>
            <p:cNvGrpSpPr/>
            <p:nvPr/>
          </p:nvGrpSpPr>
          <p:grpSpPr>
            <a:xfrm>
              <a:off x="6284595" y="1859280"/>
              <a:ext cx="1619155" cy="815340"/>
              <a:chOff x="6284595" y="1859280"/>
              <a:chExt cx="1619155" cy="815340"/>
            </a:xfrm>
          </p:grpSpPr>
          <p:sp>
            <p:nvSpPr>
              <p:cNvPr id="154" name="Rectangle 154"/>
              <p:cNvSpPr/>
              <p:nvPr/>
            </p:nvSpPr>
            <p:spPr>
              <a:xfrm>
                <a:off x="6284595" y="18592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55" name="TextBox 155"/>
              <p:cNvSpPr txBox="1"/>
              <p:nvPr/>
            </p:nvSpPr>
            <p:spPr>
              <a:xfrm>
                <a:off x="6551153" y="2150364"/>
                <a:ext cx="10861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5x5 Conv</a:t>
                </a:r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6284595" y="2773680"/>
              <a:ext cx="1619155" cy="815340"/>
              <a:chOff x="6284595" y="2773680"/>
              <a:chExt cx="1619155" cy="815340"/>
            </a:xfrm>
          </p:grpSpPr>
          <p:sp>
            <p:nvSpPr>
              <p:cNvPr id="157" name="Rectangle 157"/>
              <p:cNvSpPr/>
              <p:nvPr/>
            </p:nvSpPr>
            <p:spPr>
              <a:xfrm>
                <a:off x="6284595" y="27736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58" name="TextBox 158"/>
              <p:cNvSpPr txBox="1"/>
              <p:nvPr/>
            </p:nvSpPr>
            <p:spPr>
              <a:xfrm>
                <a:off x="6555055" y="3064764"/>
                <a:ext cx="107832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Max Pool</a:t>
                </a:r>
              </a:p>
            </p:txBody>
          </p:sp>
        </p:grpSp>
        <p:grpSp>
          <p:nvGrpSpPr>
            <p:cNvPr id="162" name="Group 162"/>
            <p:cNvGrpSpPr/>
            <p:nvPr/>
          </p:nvGrpSpPr>
          <p:grpSpPr>
            <a:xfrm>
              <a:off x="6284595" y="3688080"/>
              <a:ext cx="1619155" cy="815340"/>
              <a:chOff x="6284595" y="3688080"/>
              <a:chExt cx="1619155" cy="815340"/>
            </a:xfrm>
          </p:grpSpPr>
          <p:sp>
            <p:nvSpPr>
              <p:cNvPr id="160" name="Rectangle 160"/>
              <p:cNvSpPr/>
              <p:nvPr/>
            </p:nvSpPr>
            <p:spPr>
              <a:xfrm>
                <a:off x="6284595" y="36880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61" name="TextBox 161"/>
              <p:cNvSpPr txBox="1"/>
              <p:nvPr/>
            </p:nvSpPr>
            <p:spPr>
              <a:xfrm>
                <a:off x="6580910" y="3979164"/>
                <a:ext cx="10266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Avg Pool</a:t>
                </a:r>
              </a:p>
            </p:txBody>
          </p:sp>
        </p:grpSp>
        <p:grpSp>
          <p:nvGrpSpPr>
            <p:cNvPr id="166" name="Group 166"/>
            <p:cNvGrpSpPr/>
            <p:nvPr/>
          </p:nvGrpSpPr>
          <p:grpSpPr>
            <a:xfrm>
              <a:off x="6284595" y="4602480"/>
              <a:ext cx="1619155" cy="815340"/>
              <a:chOff x="6284595" y="4602480"/>
              <a:chExt cx="1619155" cy="815340"/>
            </a:xfrm>
          </p:grpSpPr>
          <p:sp>
            <p:nvSpPr>
              <p:cNvPr id="163" name="Rectangle 163"/>
              <p:cNvSpPr/>
              <p:nvPr/>
            </p:nvSpPr>
            <p:spPr>
              <a:xfrm>
                <a:off x="6284595" y="46024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64" name="TextBox 164"/>
              <p:cNvSpPr txBox="1"/>
              <p:nvPr/>
            </p:nvSpPr>
            <p:spPr>
              <a:xfrm>
                <a:off x="6833495" y="4756404"/>
                <a:ext cx="5214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Skip</a:t>
                </a:r>
              </a:p>
            </p:txBody>
          </p:sp>
          <p:sp>
            <p:nvSpPr>
              <p:cNvPr id="165" name="TextBox 165"/>
              <p:cNvSpPr txBox="1"/>
              <p:nvPr/>
            </p:nvSpPr>
            <p:spPr>
              <a:xfrm>
                <a:off x="6413412" y="5030724"/>
                <a:ext cx="13616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Connection</a:t>
                </a:r>
              </a:p>
            </p:txBody>
          </p:sp>
        </p:grpSp>
        <p:grpSp>
          <p:nvGrpSpPr>
            <p:cNvPr id="169" name="Group 169"/>
            <p:cNvGrpSpPr/>
            <p:nvPr/>
          </p:nvGrpSpPr>
          <p:grpSpPr>
            <a:xfrm>
              <a:off x="8475250" y="944880"/>
              <a:ext cx="1619155" cy="815340"/>
              <a:chOff x="8475250" y="944880"/>
              <a:chExt cx="1619155" cy="815340"/>
            </a:xfrm>
          </p:grpSpPr>
          <p:sp>
            <p:nvSpPr>
              <p:cNvPr id="167" name="Rectangle 167"/>
              <p:cNvSpPr/>
              <p:nvPr/>
            </p:nvSpPr>
            <p:spPr>
              <a:xfrm>
                <a:off x="8475250" y="9448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8741808" y="1235964"/>
                <a:ext cx="10861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3x3 Conv</a:t>
                </a:r>
              </a:p>
            </p:txBody>
          </p:sp>
        </p:grpSp>
        <p:grpSp>
          <p:nvGrpSpPr>
            <p:cNvPr id="172" name="Group 172"/>
            <p:cNvGrpSpPr/>
            <p:nvPr/>
          </p:nvGrpSpPr>
          <p:grpSpPr>
            <a:xfrm>
              <a:off x="8475250" y="1859280"/>
              <a:ext cx="1619155" cy="815340"/>
              <a:chOff x="8475250" y="1859280"/>
              <a:chExt cx="1619155" cy="815340"/>
            </a:xfrm>
          </p:grpSpPr>
          <p:sp>
            <p:nvSpPr>
              <p:cNvPr id="170" name="Rectangle 170"/>
              <p:cNvSpPr/>
              <p:nvPr/>
            </p:nvSpPr>
            <p:spPr>
              <a:xfrm>
                <a:off x="8475250" y="18592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8741808" y="2150364"/>
                <a:ext cx="10861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5x5 Conv</a:t>
                </a:r>
              </a:p>
            </p:txBody>
          </p:sp>
        </p:grpSp>
        <p:grpSp>
          <p:nvGrpSpPr>
            <p:cNvPr id="175" name="Group 175"/>
            <p:cNvGrpSpPr/>
            <p:nvPr/>
          </p:nvGrpSpPr>
          <p:grpSpPr>
            <a:xfrm>
              <a:off x="8475250" y="2773680"/>
              <a:ext cx="1619155" cy="815340"/>
              <a:chOff x="8475250" y="2773680"/>
              <a:chExt cx="1619155" cy="815340"/>
            </a:xfrm>
          </p:grpSpPr>
          <p:sp>
            <p:nvSpPr>
              <p:cNvPr id="173" name="Rectangle 173"/>
              <p:cNvSpPr/>
              <p:nvPr/>
            </p:nvSpPr>
            <p:spPr>
              <a:xfrm>
                <a:off x="8475250" y="27736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4" name="TextBox 174"/>
              <p:cNvSpPr txBox="1"/>
              <p:nvPr/>
            </p:nvSpPr>
            <p:spPr>
              <a:xfrm>
                <a:off x="8745710" y="3064764"/>
                <a:ext cx="107832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Max Pool</a:t>
                </a:r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8475250" y="3688080"/>
              <a:ext cx="1619155" cy="815340"/>
              <a:chOff x="8475250" y="3688080"/>
              <a:chExt cx="1619155" cy="815340"/>
            </a:xfrm>
          </p:grpSpPr>
          <p:sp>
            <p:nvSpPr>
              <p:cNvPr id="176" name="Rectangle 176"/>
              <p:cNvSpPr/>
              <p:nvPr/>
            </p:nvSpPr>
            <p:spPr>
              <a:xfrm>
                <a:off x="8475250" y="36880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7" name="TextBox 177"/>
              <p:cNvSpPr txBox="1"/>
              <p:nvPr/>
            </p:nvSpPr>
            <p:spPr>
              <a:xfrm>
                <a:off x="8771565" y="3979164"/>
                <a:ext cx="10266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Avg Pool</a:t>
                </a:r>
              </a:p>
            </p:txBody>
          </p:sp>
        </p:grpSp>
        <p:grpSp>
          <p:nvGrpSpPr>
            <p:cNvPr id="182" name="Group 182"/>
            <p:cNvGrpSpPr/>
            <p:nvPr/>
          </p:nvGrpSpPr>
          <p:grpSpPr>
            <a:xfrm>
              <a:off x="8475250" y="4602480"/>
              <a:ext cx="1619155" cy="815340"/>
              <a:chOff x="8475250" y="4602480"/>
              <a:chExt cx="1619155" cy="815340"/>
            </a:xfrm>
          </p:grpSpPr>
          <p:sp>
            <p:nvSpPr>
              <p:cNvPr id="179" name="Rectangle 179"/>
              <p:cNvSpPr/>
              <p:nvPr/>
            </p:nvSpPr>
            <p:spPr>
              <a:xfrm>
                <a:off x="8475250" y="4602480"/>
                <a:ext cx="1619155" cy="815340"/>
              </a:xfrm>
              <a:prstGeom prst="roundRect">
                <a:avLst>
                  <a:gd name="adj" fmla="val 14019"/>
                </a:avLst>
              </a:prstGeom>
              <a:solidFill>
                <a:srgbClr val="F3F4F6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9024149" y="4756404"/>
                <a:ext cx="5214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Skip</a:t>
                </a:r>
              </a:p>
            </p:txBody>
          </p:sp>
          <p:sp>
            <p:nvSpPr>
              <p:cNvPr id="181" name="TextBox 181"/>
              <p:cNvSpPr txBox="1"/>
              <p:nvPr/>
            </p:nvSpPr>
            <p:spPr>
              <a:xfrm>
                <a:off x="8604067" y="5030724"/>
                <a:ext cx="13616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Connection</a:t>
                </a:r>
              </a:p>
            </p:txBody>
          </p:sp>
        </p:grpSp>
        <p:grpSp>
          <p:nvGrpSpPr>
            <p:cNvPr id="190" name="Group 190"/>
            <p:cNvGrpSpPr/>
            <p:nvPr/>
          </p:nvGrpSpPr>
          <p:grpSpPr>
            <a:xfrm>
              <a:off x="10532554" y="2867025"/>
              <a:ext cx="1507046" cy="628650"/>
              <a:chOff x="10532554" y="2867025"/>
              <a:chExt cx="1507046" cy="628650"/>
            </a:xfrm>
          </p:grpSpPr>
          <p:sp>
            <p:nvSpPr>
              <p:cNvPr id="183" name="Rectangle 183"/>
              <p:cNvSpPr/>
              <p:nvPr/>
            </p:nvSpPr>
            <p:spPr>
              <a:xfrm>
                <a:off x="10532554" y="2867025"/>
                <a:ext cx="1507046" cy="628650"/>
              </a:xfrm>
              <a:prstGeom prst="roundRect">
                <a:avLst>
                  <a:gd name="adj" fmla="val 50000"/>
                </a:avLst>
              </a:prstGeom>
              <a:solidFill>
                <a:srgbClr val="EAD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84" name="Rectangle 184"/>
              <p:cNvSpPr/>
              <p:nvPr/>
            </p:nvSpPr>
            <p:spPr>
              <a:xfrm>
                <a:off x="10723054" y="3000375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188" name="Group 188"/>
              <p:cNvGrpSpPr/>
              <p:nvPr/>
            </p:nvGrpSpPr>
            <p:grpSpPr>
              <a:xfrm>
                <a:off x="10811161" y="3098800"/>
                <a:ext cx="185737" cy="165100"/>
                <a:chOff x="10811161" y="3098800"/>
                <a:chExt cx="185737" cy="165100"/>
              </a:xfrm>
            </p:grpSpPr>
            <p:sp>
              <p:nvSpPr>
                <p:cNvPr id="185" name="Freeform 185"/>
                <p:cNvSpPr/>
                <p:nvPr/>
              </p:nvSpPr>
              <p:spPr>
                <a:xfrm>
                  <a:off x="10811161" y="3098800"/>
                  <a:ext cx="113506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06" h="165100">
                      <a:moveTo>
                        <a:pt x="113506" y="41275"/>
                      </a:moveTo>
                      <a:lnTo>
                        <a:pt x="113506" y="20637"/>
                      </a:lnTo>
                      <a:cubicBezTo>
                        <a:pt x="113506" y="9240"/>
                        <a:pt x="104267" y="0"/>
                        <a:pt x="92869" y="0"/>
                      </a:cubicBezTo>
                      <a:lnTo>
                        <a:pt x="20637" y="0"/>
                      </a:lnTo>
                      <a:cubicBezTo>
                        <a:pt x="9240" y="0"/>
                        <a:pt x="0" y="9240"/>
                        <a:pt x="0" y="20637"/>
                      </a:cubicBezTo>
                      <a:lnTo>
                        <a:pt x="0" y="144462"/>
                      </a:lnTo>
                      <a:cubicBezTo>
                        <a:pt x="0" y="155860"/>
                        <a:pt x="9240" y="165100"/>
                        <a:pt x="20637" y="165100"/>
                      </a:cubicBezTo>
                      <a:lnTo>
                        <a:pt x="92869" y="165100"/>
                      </a:lnTo>
                      <a:cubicBezTo>
                        <a:pt x="104267" y="165100"/>
                        <a:pt x="113506" y="155860"/>
                        <a:pt x="113506" y="144462"/>
                      </a:cubicBezTo>
                      <a:lnTo>
                        <a:pt x="113506" y="123825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186" name="Freeform 186"/>
                <p:cNvSpPr/>
                <p:nvPr/>
              </p:nvSpPr>
              <p:spPr>
                <a:xfrm>
                  <a:off x="10873073" y="3150394"/>
                  <a:ext cx="12382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30956">
                      <a:moveTo>
                        <a:pt x="0" y="30956"/>
                      </a:moveTo>
                      <a:lnTo>
                        <a:pt x="123825" y="30956"/>
                      </a:lnTo>
                      <a:lnTo>
                        <a:pt x="92869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187" name="Freeform 187"/>
                <p:cNvSpPr/>
                <p:nvPr/>
              </p:nvSpPr>
              <p:spPr>
                <a:xfrm>
                  <a:off x="10965942" y="3181350"/>
                  <a:ext cx="30956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30956">
                      <a:moveTo>
                        <a:pt x="0" y="30956"/>
                      </a:moveTo>
                      <a:lnTo>
                        <a:pt x="30956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189" name="TextBox 189"/>
              <p:cNvSpPr txBox="1"/>
              <p:nvPr/>
            </p:nvSpPr>
            <p:spPr>
              <a:xfrm>
                <a:off x="11027502" y="3064764"/>
                <a:ext cx="9172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Output</a:t>
                </a:r>
              </a:p>
            </p:txBody>
          </p:sp>
        </p:grpSp>
      </p:grpSp>
      <p:grpSp>
        <p:nvGrpSpPr>
          <p:cNvPr id="196" name="Group 196"/>
          <p:cNvGrpSpPr/>
          <p:nvPr/>
        </p:nvGrpSpPr>
        <p:grpSpPr>
          <a:xfrm>
            <a:off x="4114800" y="5830729"/>
            <a:ext cx="5495241" cy="308039"/>
            <a:chOff x="4114800" y="5830729"/>
            <a:chExt cx="5495241" cy="308039"/>
          </a:xfrm>
        </p:grpSpPr>
        <p:sp>
          <p:nvSpPr>
            <p:cNvPr id="192" name="Freeform 192"/>
            <p:cNvSpPr/>
            <p:nvPr/>
          </p:nvSpPr>
          <p:spPr>
            <a:xfrm>
              <a:off x="4114800" y="59436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93" name="TextBox 193"/>
            <p:cNvSpPr txBox="1"/>
            <p:nvPr/>
          </p:nvSpPr>
          <p:spPr>
            <a:xfrm>
              <a:off x="4659249" y="5830729"/>
              <a:ext cx="23680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Selected optimal path</a:t>
              </a:r>
            </a:p>
          </p:txBody>
        </p:sp>
        <p:sp>
          <p:nvSpPr>
            <p:cNvPr id="194" name="Freeform 194"/>
            <p:cNvSpPr/>
            <p:nvPr/>
          </p:nvSpPr>
          <p:spPr>
            <a:xfrm>
              <a:off x="7105650" y="59436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1906">
              <a:solidFill>
                <a:schemeClr val="accent5">
                  <a:alpha val="90000"/>
                </a:schemeClr>
              </a:solidFill>
            </a:ln>
          </p:spPr>
        </p:sp>
        <p:sp>
          <p:nvSpPr>
            <p:cNvPr id="195" name="TextBox 195"/>
            <p:cNvSpPr txBox="1"/>
            <p:nvPr/>
          </p:nvSpPr>
          <p:spPr>
            <a:xfrm>
              <a:off x="7631049" y="5830729"/>
              <a:ext cx="19789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Feasible transition</a:t>
              </a:r>
            </a:p>
          </p:txBody>
        </p:sp>
      </p:grpSp>
      <p:grpSp>
        <p:nvGrpSpPr>
          <p:cNvPr id="198" name="Group 198"/>
          <p:cNvGrpSpPr/>
          <p:nvPr/>
        </p:nvGrpSpPr>
        <p:grpSpPr>
          <a:xfrm>
            <a:off x="788252" y="6468904"/>
            <a:ext cx="10615496" cy="308039"/>
            <a:chOff x="788252" y="6468904"/>
            <a:chExt cx="10615496" cy="308039"/>
          </a:xfrm>
        </p:grpSpPr>
        <p:sp>
          <p:nvSpPr>
            <p:cNvPr id="197" name="TextBox 197"/>
            <p:cNvSpPr txBox="1"/>
            <p:nvPr/>
          </p:nvSpPr>
          <p:spPr>
            <a:xfrm>
              <a:off x="788252" y="6468904"/>
              <a:ext cx="106154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scenario does not specify an operator sequence; the highlighted route is a plausible optimal path.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cenario_4_nas_search_space">
  <a:themeElements>
    <a:clrScheme name="scenario_4_nas_search_space">
      <a:dk1>
        <a:srgbClr val="111827"/>
      </a:dk1>
      <a:lt1>
        <a:srgbClr val="FBFAF7"/>
      </a:lt1>
      <a:dk2>
        <a:srgbClr val="4B5563"/>
      </a:dk2>
      <a:lt2>
        <a:srgbClr val="FBFAF7"/>
      </a:lt2>
      <a:accent1>
        <a:srgbClr val="1F2933"/>
      </a:accent1>
      <a:accent2>
        <a:srgbClr val="D55E00"/>
      </a:accent2>
      <a:accent3>
        <a:srgbClr val="D55E00"/>
      </a:accent3>
      <a:accent4>
        <a:srgbClr val="1F2933"/>
      </a:accent4>
      <a:accent5>
        <a:srgbClr val="9CA3AF"/>
      </a:accent5>
      <a:accent6>
        <a:srgbClr val="CBD5E1"/>
      </a:accent6>
      <a:hlink>
        <a:srgbClr val="D55E00"/>
      </a:hlink>
      <a:folHlink>
        <a:srgbClr val="D55E00"/>
      </a:folHlink>
    </a:clrScheme>
    <a:fontScheme name="scenario_4_nas_search_spac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enario_4_nas_search_spa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2026-09-04T01:34:28Z</dcterms:created>
  <dcterms:modified xsi:type="dcterms:W3CDTF">2026-09-04T01:34:28Z</dcterms:modified>
  <cp:category/>
  <cp:contentStatus/>
</cp:coreProperties>
</file>
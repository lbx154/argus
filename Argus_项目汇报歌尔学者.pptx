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1" r:id="rId5"/>
    <p:sldId id="258" r:id="rId6"/>
    <p:sldId id="270" r:id="rId7"/>
    <p:sldId id="259" r:id="rId8"/>
    <p:sldId id="260" r:id="rId9"/>
    <p:sldId id="261" r:id="rId10"/>
    <p:sldId id="272" r:id="rId11"/>
    <p:sldId id="262" r:id="rId12"/>
    <p:sldId id="263" r:id="rId13"/>
    <p:sldId id="264" r:id="rId14"/>
    <p:sldId id="273" r:id="rId15"/>
    <p:sldId id="268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 snapToObjects="1" showGuides="1">
      <p:cViewPr varScale="1">
        <p:scale>
          <a:sx n="120" d="100"/>
          <a:sy n="120" d="100"/>
        </p:scale>
        <p:origin x="114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3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E1633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822960" cy="10058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66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</a:t>
            </a:r>
            <a:endParaRPr sz="66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424160" cy="4370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600" b="1" i="0">
                <a:solidFill>
                  <a:srgbClr val="CED9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7×24 自主研究生成系统</a:t>
            </a:r>
            <a:endParaRPr sz="2600" b="1" i="0">
              <a:solidFill>
                <a:srgbClr val="CED9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95020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0">
                <a:solidFill>
                  <a:srgbClr val="9FB0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Autonomous Research Generation &amp; Understanding System</a:t>
            </a:r>
            <a:endParaRPr sz="1500" b="0" i="0">
              <a:solidFill>
                <a:srgbClr val="9FB0E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058400" cy="26007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0" i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一个让 agent </a:t>
            </a:r>
            <a:r>
              <a:rPr lang="zh-CN" altLang="en-US" sz="145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聚焦于密集智能任务的</a:t>
            </a:r>
            <a:r>
              <a:rPr sz="1450" b="0" i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harness</a:t>
            </a:r>
            <a:r>
              <a:rPr lang="zh-CN" altLang="en-US" sz="1450" b="0" i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，并可以扩展至多领域</a:t>
            </a:r>
            <a:endParaRPr sz="1450" b="0" i="0">
              <a:solidFill>
                <a:srgbClr val="C9D2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" y="5943600"/>
            <a:ext cx="4754880" cy="18288"/>
          </a:xfrm>
          <a:prstGeom prst="rect">
            <a:avLst/>
          </a:prstGeom>
          <a:solidFill>
            <a:srgbClr val="3A4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05840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00" b="0" i="0">
                <a:solidFill>
                  <a:srgbClr val="9FB0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汇报人：</a:t>
            </a:r>
            <a:r>
              <a:rPr lang="en-US" sz="1200" b="0" i="0">
                <a:solidFill>
                  <a:srgbClr val="9FB0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</a:t>
            </a:r>
            <a:r>
              <a:rPr lang="en-US" altLang="zh-CN" sz="1200" b="0" i="0">
                <a:solidFill>
                  <a:srgbClr val="9FB0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rgus</a:t>
            </a:r>
            <a:r>
              <a:rPr sz="1200" b="0" i="0">
                <a:solidFill>
                  <a:srgbClr val="9FB0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  ·    2026-06    </a:t>
            </a:r>
            <a:endParaRPr sz="1200" b="0" i="0">
              <a:solidFill>
                <a:srgbClr val="9FB0E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PROBLEM · 动机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731005"/>
            <a:ext cx="10607040" cy="4216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我们要</a:t>
            </a:r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做到</a:t>
            </a:r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什么</a:t>
            </a:r>
            <a:r>
              <a:rPr 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第一步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1091672" cy="950976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" y="1379021"/>
            <a:ext cx="1069848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一句话：</a:t>
            </a:r>
            <a:r>
              <a:rPr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是一个长期运行的 agent harness，让 AI 端到端自主产出 EMNLP/ACL 级别论文 —— 并在过程中自我沉淀经验、永续运行。</a:t>
            </a:r>
            <a:endParaRPr sz="150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175504"/>
            <a:ext cx="11091672" cy="1060704"/>
          </a:xfrm>
          <a:prstGeom prst="roundRect">
            <a:avLst/>
          </a:prstGeom>
          <a:solidFill>
            <a:srgbClr val="0E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56502"/>
            <a:ext cx="10607040" cy="8987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500" b="1" i="0" dirty="0" err="1">
                <a:solidFill>
                  <a:srgbClr val="F0A5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设计哲学</a:t>
            </a:r>
            <a:r>
              <a:rPr sz="1500" b="1" i="0" dirty="0">
                <a:solidFill>
                  <a:srgbClr val="F0A5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　</a:t>
            </a:r>
            <a:r>
              <a:rPr sz="1500" b="0" i="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Harness </a:t>
            </a:r>
            <a:r>
              <a:rPr sz="1500" b="0" i="0" dirty="0" err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只做机械、确定性的兜底；判断永远交给</a:t>
            </a:r>
            <a:r>
              <a:rPr sz="1500" b="0" i="0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agent —— </a:t>
            </a:r>
            <a:r>
              <a:rPr sz="1500" b="1" i="0" dirty="0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「</a:t>
            </a:r>
            <a:r>
              <a:rPr sz="1500" b="1" i="0" dirty="0" err="1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不让</a:t>
            </a:r>
            <a:r>
              <a:rPr sz="1500" b="1" i="0" dirty="0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harness 比 agent </a:t>
            </a:r>
            <a:r>
              <a:rPr sz="1500" b="1" i="0" dirty="0" err="1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聪明</a:t>
            </a:r>
            <a:r>
              <a:rPr sz="1500" b="1" i="0" dirty="0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」</a:t>
            </a:r>
            <a:r>
              <a:rPr sz="1300" b="0" i="0" dirty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。
</a:t>
            </a:r>
            <a:r>
              <a:rPr sz="1300" b="0" i="0" dirty="0" err="1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用显式结构化信号取代关键词猜测；原始轨迹</a:t>
            </a:r>
            <a:r>
              <a:rPr sz="1300" b="0" i="0" dirty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</a:t>
            </a:r>
            <a:r>
              <a:rPr sz="1300" b="0" i="0" dirty="0" err="1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证据永远先落盘</a:t>
            </a:r>
            <a:r>
              <a:rPr sz="1300" b="0" i="0" dirty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。</a:t>
            </a:r>
            <a:endParaRPr lang="en-US" sz="1300" b="0" i="0" dirty="0">
              <a:solidFill>
                <a:srgbClr val="C9D2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就是</a:t>
            </a:r>
            <a:r>
              <a:rPr 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principle(harness)+skill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</a:t>
            </a:r>
            <a:r>
              <a:rPr 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principle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是固定的，</a:t>
            </a:r>
            <a:r>
              <a:rPr lang="en-US" altLang="zh-CN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是每个领域独有。我们只需要扩展</a:t>
            </a:r>
            <a:r>
              <a:rPr lang="en-US" altLang="zh-CN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，而保证</a:t>
            </a:r>
            <a:r>
              <a:rPr 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principle </a:t>
            </a:r>
            <a:r>
              <a:rPr lang="en-US" altLang="zh-CN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induce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出来的</a:t>
            </a:r>
            <a:r>
              <a:rPr lang="en-US" altLang="zh-CN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pipeline</a:t>
            </a:r>
            <a:r>
              <a:rPr lang="zh-CN" altLang="en-US" sz="1400" dirty="0">
                <a:solidFill>
                  <a:schemeClr val="bg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的鲁棒性，就能扩展多领域应用，如金融。</a:t>
            </a:r>
            <a:endParaRPr sz="1300" b="0" i="0" dirty="0">
              <a:solidFill>
                <a:srgbClr val="C9D2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7"/>
          <p:cNvSpPr/>
          <p:nvPr/>
        </p:nvSpPr>
        <p:spPr>
          <a:xfrm>
            <a:off x="496691" y="2779776"/>
            <a:ext cx="11091672" cy="950976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637" y="2811636"/>
            <a:ext cx="10984726" cy="97565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zh-CN" altLang="en-US" sz="1500" b="1" i="0">
                <a:solidFill>
                  <a:schemeClr val="accent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为什么</a:t>
            </a:r>
            <a:r>
              <a:rPr lang="zh-CN" altLang="en-US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：以</a:t>
            </a:r>
            <a:r>
              <a:rPr lang="en-US" altLang="zh-CN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Paper</a:t>
            </a:r>
            <a:r>
              <a:rPr lang="zh-CN" altLang="en-US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为形式载体的研究，他的价值更容易被凝练，被审视。</a:t>
            </a:r>
            <a:r>
              <a:rPr lang="en-US" altLang="zh-CN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Review</a:t>
            </a:r>
            <a:r>
              <a:rPr lang="zh-CN" altLang="en-US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是一个很重要的阶段，尤其是在密集智能长程任务中。而</a:t>
            </a:r>
            <a:r>
              <a:rPr lang="en-US" altLang="zh-CN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Paper</a:t>
            </a:r>
            <a:r>
              <a:rPr lang="zh-CN" altLang="en-US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的形式恰巧就是为</a:t>
            </a:r>
            <a:r>
              <a:rPr lang="en-US" altLang="zh-CN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Peer review</a:t>
            </a:r>
            <a:r>
              <a:rPr lang="zh-CN" altLang="en-US" sz="15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所生。</a:t>
            </a:r>
            <a:endParaRPr lang="en-US" altLang="zh-CN" sz="150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lang="zh-CN" altLang="en-US" sz="1600"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调研</a:t>
            </a:r>
            <a:r>
              <a:rPr lang="en-US" altLang="zh-CN" sz="1600"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</a:t>
            </a:r>
            <a:r>
              <a:rPr lang="zh-CN" altLang="en-US" sz="1600"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挖掘 → 产出证据 → 写成可解释报告 → </a:t>
            </a:r>
            <a:r>
              <a:rPr lang="en-US" altLang="zh-CN" sz="1600"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peer review </a:t>
            </a:r>
            <a:r>
              <a:rPr lang="zh-CN" altLang="en-US" sz="1600"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认证</a:t>
            </a:r>
            <a:endParaRPr lang="en-US" sz="1600"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endParaRPr sz="150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PROBLEM · 动机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731005"/>
            <a:ext cx="10607040" cy="4216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为什么是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AI for AI</a:t>
            </a:r>
            <a:r>
              <a:rPr 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第一步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8076" y="1610593"/>
            <a:ext cx="11091672" cy="950976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2071"/>
            <a:ext cx="10698480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zh-CN" altLang="en-US" sz="150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直接让</a:t>
            </a:r>
            <a:r>
              <a:rPr lang="en-US" altLang="zh-CN" sz="150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Agent</a:t>
            </a:r>
            <a:r>
              <a:rPr lang="zh-CN" altLang="en-US" sz="150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去做会发生什么？</a:t>
            </a:r>
            <a:endParaRPr sz="150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9"/>
          <p:cNvSpPr/>
          <p:nvPr/>
        </p:nvSpPr>
        <p:spPr>
          <a:xfrm>
            <a:off x="534327" y="2898357"/>
            <a:ext cx="267004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10"/>
          <p:cNvSpPr/>
          <p:nvPr/>
        </p:nvSpPr>
        <p:spPr>
          <a:xfrm>
            <a:off x="534327" y="2898357"/>
            <a:ext cx="2670048" cy="128016"/>
          </a:xfrm>
          <a:prstGeom prst="round2Same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919" y="3200109"/>
            <a:ext cx="234086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 horizon · 会失忆</a:t>
            </a:r>
            <a:endParaRPr sz="14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8919" y="3812757"/>
            <a:ext cx="2340864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单篇论文需上百轮迭代；session 被反复压缩 → amnesia loop（反复空转）</a:t>
            </a:r>
            <a:endParaRPr sz="115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13"/>
          <p:cNvSpPr/>
          <p:nvPr/>
        </p:nvSpPr>
        <p:spPr>
          <a:xfrm>
            <a:off x="3323247" y="2898357"/>
            <a:ext cx="267004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14"/>
          <p:cNvSpPr/>
          <p:nvPr/>
        </p:nvSpPr>
        <p:spPr>
          <a:xfrm>
            <a:off x="3323247" y="2898357"/>
            <a:ext cx="2670048" cy="128016"/>
          </a:xfrm>
          <a:prstGeom prst="round2Same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7839" y="3200109"/>
            <a:ext cx="234086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易 overclaim</a:t>
            </a:r>
            <a:endParaRPr sz="14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87839" y="3812757"/>
            <a:ext cx="2340864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缺乏证据的「结果」被写进论文，dilute 学术可信度</a:t>
            </a:r>
            <a:endParaRPr sz="115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17"/>
          <p:cNvSpPr/>
          <p:nvPr/>
        </p:nvSpPr>
        <p:spPr>
          <a:xfrm>
            <a:off x="6112166" y="2898357"/>
            <a:ext cx="267004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18"/>
          <p:cNvSpPr/>
          <p:nvPr/>
        </p:nvSpPr>
        <p:spPr>
          <a:xfrm>
            <a:off x="6112166" y="2898357"/>
            <a:ext cx="2670048" cy="128016"/>
          </a:xfrm>
          <a:prstGeom prst="round2Same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6758" y="3200109"/>
            <a:ext cx="234086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经验不复用</a:t>
            </a:r>
            <a:endParaRPr sz="14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76758" y="3812757"/>
            <a:ext cx="2340864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每个任务从零开始，踩过的坑、读过的文献不沉淀</a:t>
            </a:r>
            <a:endParaRPr sz="115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21"/>
          <p:cNvSpPr/>
          <p:nvPr/>
        </p:nvSpPr>
        <p:spPr>
          <a:xfrm>
            <a:off x="8901086" y="2898357"/>
            <a:ext cx="2670048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22"/>
          <p:cNvSpPr/>
          <p:nvPr/>
        </p:nvSpPr>
        <p:spPr>
          <a:xfrm>
            <a:off x="8901086" y="2898357"/>
            <a:ext cx="2670048" cy="128016"/>
          </a:xfrm>
          <a:prstGeom prst="round2Same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65678" y="3200109"/>
            <a:ext cx="2340864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早停 / 误判</a:t>
            </a:r>
            <a:endParaRPr sz="14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65678" y="3812757"/>
            <a:ext cx="2340864" cy="3908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</a:t>
            </a:r>
            <a:r>
              <a:rPr lang="en-US" altLang="zh-CN"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gent </a:t>
            </a:r>
            <a:r>
              <a:rPr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误报完成、质量门形同虚设，论文没真正 ready</a:t>
            </a:r>
            <a:endParaRPr sz="115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ARCHITECTURE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整体架构：外层调度 + 内层执行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7040880" cy="713232"/>
          </a:xfrm>
          <a:prstGeom prst="roundRect">
            <a:avLst/>
          </a:prstGeom>
          <a:solidFill>
            <a:srgbClr val="29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L0 · CLI / daemon / cockpit</a:t>
            </a:r>
            <a:endParaRPr sz="12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apps/cli.py · daemon/life_worker.py · _life_repl 交互驾驶舱</a:t>
            </a:r>
            <a:endParaRPr sz="10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7040880" cy="713232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L4 · LifeSupervisor（长期大脑）</a:t>
            </a:r>
            <a:endParaRPr sz="12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backlog 调度 · 预算门 · planner 自动排活 / EMNLP 完成认证</a:t>
            </a:r>
            <a:endParaRPr sz="10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3374136"/>
            <a:ext cx="7040880" cy="713232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SkillLoop（单任务核心胶水）</a:t>
            </a:r>
            <a:endParaRPr sz="12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matcher → distiller → engineer → reviewer</a:t>
            </a:r>
            <a:endParaRPr sz="10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261104"/>
            <a:ext cx="3401568" cy="713232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L1 · Engineer</a:t>
            </a:r>
            <a:endParaRPr sz="12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单轮执行 round loop</a:t>
            </a:r>
            <a:endParaRPr sz="10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6552" y="4261104"/>
            <a:ext cx="3401568" cy="713232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L2 · Reviewer</a:t>
            </a:r>
            <a:endParaRPr sz="12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done/continue/blocked 裁决</a:t>
            </a:r>
            <a:endParaRPr sz="10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151376" y="2295144"/>
            <a:ext cx="292608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151376" y="3182112"/>
            <a:ext cx="292608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4151376" y="4069080"/>
            <a:ext cx="292608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4178808" y="4517136"/>
            <a:ext cx="237744" cy="201168"/>
          </a:xfrm>
          <a:prstGeom prst="leftArrow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600200"/>
            <a:ext cx="3364992" cy="1078992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 库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markdown + frontmatter
匹配 / 蒸馏 / writeback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75320" y="2807208"/>
            <a:ext cx="3364992" cy="1078992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 Wiki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.autors/&lt;project&gt;/wiki
文献 · RunCard · 综合卡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75320" y="4014215"/>
            <a:ext cx="3364992" cy="96012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EMNLP 论文 pipeline</a:t>
            </a:r>
            <a:endParaRPr sz="13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research → … → submission</a:t>
            </a:r>
            <a:endParaRPr sz="105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64424" y="2011680"/>
            <a:ext cx="310896" cy="4572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64424" y="3200400"/>
            <a:ext cx="310896" cy="45720"/>
          </a:xfrm>
          <a:prstGeom prst="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75504"/>
            <a:ext cx="10789920" cy="4652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主链路　</a:t>
            </a:r>
            <a:r>
              <a:rPr sz="12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argus_skill → apps/cli → life/supervisor → loop → engineer/reviewer。</a:t>
            </a:r>
            <a:endParaRPr sz="12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外层 LifeSupervisor 是「一个任务接一个任务」的调度器；内层 SkillLoop 负责单个 mission 的技能匹配与执行验收。</a:t>
            </a:r>
            <a:endParaRPr lang="en-US" sz="12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DEMO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731005"/>
            <a:ext cx="10607040" cy="4216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产出示例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460696"/>
            <a:ext cx="4711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Argus’ Experiment</a:t>
            </a:r>
            <a:endParaRPr lang="en-US" b="1">
              <a:solidFill>
                <a:schemeClr val="tx2"/>
              </a:solidFill>
            </a:endParaRPr>
          </a:p>
          <a:p>
            <a:r>
              <a:rPr lang="zh-CN" b="1" noProof="0">
                <a:latin typeface="+mn-ea"/>
              </a:rPr>
              <a:t>A</a:t>
            </a:r>
            <a:r>
              <a:rPr lang="en-US" altLang="zh-CN">
                <a:latin typeface="+mn-ea"/>
              </a:rPr>
              <a:t>rgus</a:t>
            </a:r>
            <a:r>
              <a:rPr lang="zh-CN" altLang="en-US">
                <a:latin typeface="+mn-ea"/>
              </a:rPr>
              <a:t>可以独立监督长达</a:t>
            </a:r>
            <a:r>
              <a:rPr lang="en-US" altLang="zh-CN">
                <a:latin typeface="+mn-ea"/>
              </a:rPr>
              <a:t>24</a:t>
            </a:r>
            <a:r>
              <a:rPr lang="zh-CN" altLang="en-US">
                <a:latin typeface="+mn-ea"/>
              </a:rPr>
              <a:t>小时的</a:t>
            </a:r>
            <a:r>
              <a:rPr lang="en-US" altLang="zh-CN">
                <a:latin typeface="+mn-ea"/>
              </a:rPr>
              <a:t>RL</a:t>
            </a:r>
            <a:r>
              <a:rPr lang="zh-CN" altLang="en-US">
                <a:latin typeface="+mn-ea"/>
              </a:rPr>
              <a:t>实验，并自己从</a:t>
            </a:r>
            <a:r>
              <a:rPr lang="en-US" altLang="zh-CN">
                <a:latin typeface="+mn-ea"/>
              </a:rPr>
              <a:t>0</a:t>
            </a:r>
            <a:r>
              <a:rPr lang="zh-CN" altLang="en-US">
                <a:latin typeface="+mn-ea"/>
              </a:rPr>
              <a:t>配置环境，运行起公认“较难配置”的</a:t>
            </a:r>
            <a:r>
              <a:rPr lang="en-US" altLang="zh-CN">
                <a:latin typeface="+mn-ea"/>
              </a:rPr>
              <a:t>verl</a:t>
            </a:r>
            <a:r>
              <a:rPr lang="zh-CN" altLang="en-US">
                <a:latin typeface="+mn-ea"/>
              </a:rPr>
              <a:t>与</a:t>
            </a:r>
            <a:r>
              <a:rPr lang="en-US" altLang="zh-CN">
                <a:latin typeface="+mn-ea"/>
              </a:rPr>
              <a:t>Agentic RL</a:t>
            </a:r>
            <a:r>
              <a:rPr lang="zh-CN" altLang="en-US">
                <a:latin typeface="+mn-ea"/>
              </a:rPr>
              <a:t>，并使训练奏效。</a:t>
            </a:r>
            <a:endParaRPr lang="en-US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44312" y="146069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A</a:t>
            </a:r>
            <a:r>
              <a:rPr lang="en-US" altLang="zh-CN" b="1">
                <a:solidFill>
                  <a:schemeClr val="tx2"/>
                </a:solidFill>
              </a:rPr>
              <a:t>rgus’</a:t>
            </a:r>
            <a:r>
              <a:rPr lang="zh-CN" altLang="en-US" b="1">
                <a:solidFill>
                  <a:schemeClr val="tx2"/>
                </a:solidFill>
              </a:rPr>
              <a:t> </a:t>
            </a:r>
            <a:r>
              <a:rPr lang="en-US" altLang="zh-CN" b="1">
                <a:solidFill>
                  <a:schemeClr val="tx2"/>
                </a:solidFill>
              </a:rPr>
              <a:t>Idea:</a:t>
            </a:r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/>
              <a:t>A</a:t>
            </a:r>
            <a:r>
              <a:rPr lang="en-US" altLang="zh-CN"/>
              <a:t>rgus</a:t>
            </a:r>
            <a:r>
              <a:rPr lang="zh-CN" altLang="en-US"/>
              <a:t>会自己阅读文献，包括机器之心</a:t>
            </a:r>
            <a:r>
              <a:rPr lang="en-US" altLang="zh-CN"/>
              <a:t>/</a:t>
            </a:r>
            <a:r>
              <a:rPr lang="zh-CN" altLang="en-US"/>
              <a:t>新智元，来获取学界</a:t>
            </a:r>
            <a:r>
              <a:rPr lang="en-US" altLang="zh-CN"/>
              <a:t>/</a:t>
            </a:r>
            <a:r>
              <a:rPr lang="zh-CN" altLang="en-US"/>
              <a:t>业界最新动向，不局限于训练知识。</a:t>
            </a:r>
            <a:endParaRPr lang="en-US" altLang="zh-CN"/>
          </a:p>
          <a:p>
            <a:r>
              <a:rPr lang="zh-CN" i="1" noProof="0"/>
              <a:t>"RLVR 到底是教会了新推理，还是只是重新加权已有推理路径？"</a:t>
            </a:r>
            <a:endParaRPr lang="zh-CN" i="1" noProof="0"/>
          </a:p>
          <a:p>
            <a:r>
              <a:rPr lang="zh-CN" i="1" noProof="0"/>
              <a:t>把 RLVR（GRPO/DAPO 类 verifiable-reward 后训练）当作分布塑形过程来研究，核心假设是：只有当 rollout group 里包含语义多样但 verifier 可比的推理路径时 RLVR 才真正提升推理，否则塌缩成格式学习/采样效率。切中 2025–26 RLVR 文献里 capability-boundary vs sampling-efficiency 的真实分歧</a:t>
            </a:r>
            <a:endParaRPr lang="zh-CN" i="1" noProof="0"/>
          </a:p>
        </p:txBody>
      </p:sp>
      <p:sp>
        <p:nvSpPr>
          <p:cNvPr id="13" name="TextBox 12"/>
          <p:cNvSpPr txBox="1"/>
          <p:nvPr/>
        </p:nvSpPr>
        <p:spPr>
          <a:xfrm>
            <a:off x="608076" y="3059668"/>
            <a:ext cx="4651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Argus’ E</a:t>
            </a:r>
            <a:r>
              <a:rPr lang="en-US" altLang="zh-CN" b="1">
                <a:solidFill>
                  <a:schemeClr val="tx2"/>
                </a:solidFill>
              </a:rPr>
              <a:t>nvironment</a:t>
            </a:r>
            <a:endParaRPr lang="en-US" altLang="zh-CN" b="1">
              <a:solidFill>
                <a:schemeClr val="tx2"/>
              </a:solidFill>
            </a:endParaRPr>
          </a:p>
          <a:p>
            <a:r>
              <a:rPr lang="en-US">
                <a:latin typeface="+mn-ea"/>
              </a:rPr>
              <a:t>A</a:t>
            </a:r>
            <a:r>
              <a:rPr lang="en-US" altLang="zh-CN">
                <a:latin typeface="+mn-ea"/>
              </a:rPr>
              <a:t>rgus</a:t>
            </a:r>
            <a:r>
              <a:rPr lang="zh-CN" altLang="en-US">
                <a:latin typeface="+mn-ea"/>
              </a:rPr>
              <a:t>会给每个目录配置虚拟环境，并只在自己的工作区内工作，不污染服务器环境。</a:t>
            </a:r>
            <a:endParaRPr lang="en-US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8076" y="4286857"/>
            <a:ext cx="4651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Argus’ W</a:t>
            </a:r>
            <a:r>
              <a:rPr lang="en-US" altLang="zh-CN" b="1">
                <a:solidFill>
                  <a:schemeClr val="tx2"/>
                </a:solidFill>
              </a:rPr>
              <a:t>iki</a:t>
            </a:r>
            <a:endParaRPr lang="en-US" altLang="zh-CN" b="1">
              <a:solidFill>
                <a:schemeClr val="tx2"/>
              </a:solidFill>
            </a:endParaRPr>
          </a:p>
          <a:p>
            <a:r>
              <a:rPr lang="en-US">
                <a:latin typeface="+mn-ea"/>
              </a:rPr>
              <a:t>A</a:t>
            </a:r>
            <a:r>
              <a:rPr lang="en-US" altLang="zh-CN">
                <a:latin typeface="+mn-ea"/>
              </a:rPr>
              <a:t>rgus</a:t>
            </a:r>
            <a:r>
              <a:rPr lang="zh-CN" altLang="en-US">
                <a:latin typeface="+mn-ea"/>
              </a:rPr>
              <a:t>会在每个项目开始前进行调研，并且验证每篇论文的真实性，再在巨人的肩膀上开始研究，从而了解自己原本不熟悉的领域。</a:t>
            </a:r>
            <a:endParaRPr lang="en-US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44312" y="4475212"/>
            <a:ext cx="4651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Argus’ P</a:t>
            </a:r>
            <a:r>
              <a:rPr lang="en-US" altLang="zh-CN" b="1">
                <a:solidFill>
                  <a:schemeClr val="tx2"/>
                </a:solidFill>
              </a:rPr>
              <a:t>ipeline</a:t>
            </a:r>
            <a:endParaRPr lang="en-US" altLang="zh-CN" b="1">
              <a:solidFill>
                <a:schemeClr val="tx2"/>
              </a:solidFill>
            </a:endParaRPr>
          </a:p>
          <a:p>
            <a:r>
              <a:rPr lang="en-US">
                <a:latin typeface="+mn-ea"/>
              </a:rPr>
              <a:t>A</a:t>
            </a:r>
            <a:r>
              <a:rPr lang="en-US" altLang="zh-CN">
                <a:latin typeface="+mn-ea"/>
              </a:rPr>
              <a:t>rgus</a:t>
            </a:r>
            <a:r>
              <a:rPr lang="zh-CN" altLang="en-US">
                <a:latin typeface="+mn-ea"/>
              </a:rPr>
              <a:t>不会被长时间的实验阻塞，我们的</a:t>
            </a:r>
            <a:r>
              <a:rPr lang="en-US" altLang="zh-CN">
                <a:latin typeface="+mn-ea"/>
              </a:rPr>
              <a:t>pipeline</a:t>
            </a:r>
            <a:r>
              <a:rPr lang="zh-CN" altLang="en-US">
                <a:latin typeface="+mn-ea"/>
              </a:rPr>
              <a:t>不是串行，允许多个</a:t>
            </a:r>
            <a:r>
              <a:rPr lang="en-US" altLang="zh-CN">
                <a:latin typeface="+mn-ea"/>
              </a:rPr>
              <a:t>stage</a:t>
            </a:r>
            <a:r>
              <a:rPr lang="zh-CN" altLang="en-US">
                <a:latin typeface="+mn-ea"/>
              </a:rPr>
              <a:t>并行。</a:t>
            </a:r>
            <a:endParaRPr lang="en-US">
              <a:latin typeface="+mn-ea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7269" y="2661025"/>
            <a:ext cx="901869" cy="61660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312" y="5405554"/>
            <a:ext cx="5079030" cy="117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LAYERS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五个层级，各司其职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517904"/>
            <a:ext cx="11091672" cy="786384"/>
          </a:xfrm>
          <a:prstGeom prst="rect">
            <a:avLst/>
          </a:prstGeom>
          <a:solidFill>
            <a:srgbClr val="0E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17904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层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4207" y="1517904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角色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0208" y="1517904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关键文件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7807" y="1517904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职责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1672" cy="786384"/>
          </a:xfrm>
          <a:prstGeom prst="rect">
            <a:avLst/>
          </a:prstGeom>
          <a:solidFill>
            <a:srgbClr val="F4F6FB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04288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L0</a:t>
            </a:r>
            <a:endParaRPr sz="14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7" y="2304288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CLI / daemon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0208" y="2304288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apps/cli.py · daemon/life_worker.py</a:t>
            </a:r>
            <a:endParaRPr sz="10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07807" y="2304288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命令行、REPL、daemon 启停、--status / --follow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090672"/>
            <a:ext cx="110916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090672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L1</a:t>
            </a:r>
            <a:endParaRPr sz="14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4207" y="3090672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Engineer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50208" y="3090672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engineer/runner.py</a:t>
            </a:r>
            <a:endParaRPr sz="10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07807" y="3090672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单轮执行、失败重试、acceptance check、反失忆 checkpoint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877056"/>
            <a:ext cx="11091672" cy="786384"/>
          </a:xfrm>
          <a:prstGeom prst="rect">
            <a:avLst/>
          </a:prstGeom>
          <a:solidFill>
            <a:srgbClr val="F4F6FB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77056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L2</a:t>
            </a:r>
            <a:endParaRPr sz="14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64207" y="3877056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Reviewer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50208" y="3877056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engineer/reviewer.py</a:t>
            </a:r>
            <a:endParaRPr sz="10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07807" y="3877056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done/continue/blocked 裁决、论文 peer-review gate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110916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63440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L4</a:t>
            </a:r>
            <a:endParaRPr sz="14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64207" y="4663440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Planner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208" y="4663440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planner/planner.py · life/supervisor.py</a:t>
            </a:r>
            <a:endParaRPr sz="10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07807" y="4663440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continuous 自动排活、EMNLP 最终提交认证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5449824"/>
            <a:ext cx="11091672" cy="786384"/>
          </a:xfrm>
          <a:prstGeom prst="rect">
            <a:avLst/>
          </a:prstGeom>
          <a:solidFill>
            <a:srgbClr val="F4F6FB"/>
          </a:solidFill>
          <a:ln w="9525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449824"/>
            <a:ext cx="82296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</a:t>
            </a:r>
            <a:endParaRPr sz="14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64207" y="5449824"/>
            <a:ext cx="2103120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横向复用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50208" y="5449824"/>
            <a:ext cx="3474719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skills/store.py · scientist/distiller.py</a:t>
            </a:r>
            <a:endParaRPr sz="10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07807" y="5449824"/>
            <a:ext cx="3959352" cy="7863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 匹配 / miss 蒸馏 / writeback + 研究 wiki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 LOOP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单任务核心：SkillLoop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148840" cy="9144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objective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干净用户目标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825496" y="2139696"/>
            <a:ext cx="310896" cy="29260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2968" y="1828800"/>
            <a:ext cx="2148840" cy="914400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Matcher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找相关 skill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358384" y="2139696"/>
            <a:ext cx="310896" cy="292608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05856" y="1828800"/>
            <a:ext cx="2148840" cy="91440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Engineer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L1 执行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891271" y="2139696"/>
            <a:ext cx="310896" cy="292608"/>
          </a:xfrm>
          <a:prstGeom prst="rightArrow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38744" y="1828800"/>
            <a:ext cx="2148840" cy="91440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Reviewer</a:t>
            </a:r>
            <a:endParaRPr sz="14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L2 裁决</a:t>
            </a:r>
            <a:endParaRPr sz="105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4128515" y="2761488"/>
            <a:ext cx="237744" cy="256032"/>
          </a:xfrm>
          <a:prstGeom prst="downArrow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90087" y="3035808"/>
            <a:ext cx="2514600" cy="658368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miss → Distiller 蒸馏新 skill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复用 engineer backend，沉淀进 skill 库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60720" y="4114800"/>
            <a:ext cx="1828800" cy="877824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done → writeback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反哺 skill 库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44383" y="4114800"/>
            <a:ext cx="1828800" cy="87782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continue → 下一轮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注入 next_action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528048" y="4114800"/>
            <a:ext cx="1828800" cy="877824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blocked → 退出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或 max rounds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9194292" y="2761488"/>
            <a:ext cx="237744" cy="38404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要点　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命中 skill → 复用经验少走弯路；miss → 蒸馏沉淀；done → writeback 反哺，让框架越跑越聪明。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每一轮 engineer 执行后跑 acceptance checks，再由 reviewer 出结构化裁决（loop.py · engineer/runner.py · reviewer.py）。</a:t>
            </a:r>
            <a:endParaRPr sz="115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CONTEXT MGMT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长时任务的「反失忆」：Curated Working Memory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5349240" cy="18288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F1C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937760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E0313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问题：amnesia loop</a:t>
            </a:r>
            <a:endParaRPr sz="1450" b="1" i="0">
              <a:solidFill>
                <a:srgbClr val="E0313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mission 的 session 被逐轮 resume，token 暴涨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被 codex 自动有损压缩上百次，工作记忆丢失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模型反复重读同一批 skill 文档 → 空转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1481328"/>
            <a:ext cx="5559552" cy="1828800"/>
          </a:xfrm>
          <a:prstGeom prst="roundRect">
            <a:avLst/>
          </a:prstGeom>
          <a:solidFill>
            <a:srgbClr val="ECF7F0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91056"/>
            <a:ext cx="5120640" cy="1645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50" b="1" i="0">
                <a:solidFill>
                  <a:srgbClr val="2F9E4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解法：结构化短命 session + 记忆交接</a:t>
            </a:r>
            <a:endParaRPr sz="1450" b="1" i="0">
              <a:solidFill>
                <a:srgbClr val="2F9E4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CheckpointState：硬上限的工作记忆（goal / done[] / tried_and_failed[] / blocker / next_step）</a:t>
            </a:r>
            <a:endParaRPr sz="11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作者 = reviewer（记忆审计员）：engineer 提 HANDOFF，reviewer 校验后落定 canonical checkpoint</a:t>
            </a:r>
            <a:endParaRPr sz="11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Session roll：thread 活满 N 轮主动 drop，从 checkpoint 重新播种全新 session</a:t>
            </a:r>
            <a:endParaRPr sz="11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993392" cy="676656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满 N 轮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633472" y="3813048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3611880"/>
            <a:ext cx="1993392" cy="676656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drop thread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809744" y="3813048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92624" y="3611880"/>
            <a:ext cx="1993392" cy="676656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从 checkpoint 播种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986016" y="3813048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8896" y="3611880"/>
            <a:ext cx="1993392" cy="676656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全新 session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9162288" y="3813048"/>
            <a:ext cx="182880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5168" y="3611880"/>
            <a:ext cx="1993392" cy="676656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上下文有界</a:t>
            </a:r>
            <a:endParaRPr sz="12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91672" cy="1554480"/>
          </a:xfrm>
          <a:prstGeom prst="roundRect">
            <a:avLst/>
          </a:prstGeom>
          <a:solidFill>
            <a:srgbClr val="0E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91456"/>
            <a:ext cx="10607040" cy="1325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00" b="1" i="0">
                <a:solidFill>
                  <a:srgbClr val="F0A5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哲学：不靠看门狗。</a:t>
            </a:r>
            <a:r>
              <a:rPr sz="13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记忆上限本身就是强制「遗忘 / 筛选」的机制 —— 删除是解毒不是丢失，地面真相始终在磁盘 artifact 里可重新召回。</a:t>
            </a:r>
            <a:endParaRPr sz="13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600"/>
              </a:spcBef>
            </a:pPr>
            <a:r>
              <a:rPr sz="1150" b="0" i="0">
                <a:solidFill>
                  <a:srgbClr val="C4CE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per-session 上下文有界 → 上百次压缩的 runaway 不可能发生。fail-soft：reviewer 写坏 checkpoint 时保留上一份，绝不清空记忆。</a:t>
            </a:r>
            <a:endParaRPr sz="1150" b="0" i="0">
              <a:solidFill>
                <a:srgbClr val="C4CE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272784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engineer/checkpoint.py · runner.py · reviewer.py　|　tests: test_checkpoint*.py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LAYERS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731005"/>
            <a:ext cx="10607040" cy="4216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整体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Pipeline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078" y="1467992"/>
            <a:ext cx="7977807" cy="4196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PAPER PIPELINE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EMNLP 论文 pipeline：一组状态契约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7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1700784" cy="1371600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选题 / grounding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research/*.json
LIT_MATRIX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249424" y="2304288"/>
            <a:ext cx="155448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86584" y="1737360"/>
            <a:ext cx="1700784" cy="1371600"/>
          </a:xfrm>
          <a:prstGeom prst="roundRect">
            <a:avLst/>
          </a:prstGeom>
          <a:solidFill>
            <a:srgbClr val="29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实验 / benchmark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experiments/**
full-scale evidence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069080" y="2304288"/>
            <a:ext cx="155448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1737360"/>
            <a:ext cx="1700784" cy="1371600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结果 → claim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CLAIM_GRAPH
RESULTS_REPORT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888736" y="2304288"/>
            <a:ext cx="155448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25896" y="1737360"/>
            <a:ext cx="1700784" cy="1371600"/>
          </a:xfrm>
          <a:prstGeom prst="round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初稿 / LaTeX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paper/main.tex
main.pdf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708392" y="2304288"/>
            <a:ext cx="155448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45552" y="1737360"/>
            <a:ext cx="1700784" cy="137160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格式·图表·语言·布局 review</a:t>
            </a:r>
            <a:endParaRPr sz="11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*_REVIEW.json
IMAGE2_FIGURES</a:t>
            </a:r>
            <a:endParaRPr sz="90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9528048" y="2304288"/>
            <a:ext cx="155448" cy="237744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65208" y="1737360"/>
            <a:ext cx="1700784" cy="1371600"/>
          </a:xfrm>
          <a:prstGeom prst="round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最终提交认证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9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SUBMISSION_
ASSURANCE</a:t>
            </a:r>
            <a:endParaRPr sz="9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3383280"/>
            <a:ext cx="1106424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8640" y="3346704"/>
            <a:ext cx="11091672" cy="786384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10698480" cy="6766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不是单个脚本。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pipeline = built-in skill（操作手册）+ per-stage reviewer checklist（对照 artifact 裁决）+ planner fallback 共同实现。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4297680"/>
            <a:ext cx="11064240" cy="1828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每个 stage 有专属 built-in skill 与 artifact 契约：</a:t>
            </a:r>
            <a:endParaRPr sz="12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2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选题→实验：research-brief-to-experiment-plan · agent-research-benchmark-runner（必须 full-scale，不接受 pilot/synthetic 冒充）</a:t>
            </a:r>
            <a:endParaRPr sz="12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2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结果→初稿：claims-evidence-audit · result-to-claim · emnlp-paper-drafting（LaTeX，正文页数受限）</a:t>
            </a:r>
            <a:endParaRPr sz="12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2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2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Review 工具生成「证据 JSON」：学术语言 / 基建泄漏 / 视觉布局 / IMAGE2 图（不可手改成 PASS，须改源 artifact 重跑）</a:t>
            </a:r>
            <a:endParaRPr sz="12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QUALITY GATE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完成判定：L2 reviewer 的整链 checklist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6492240" cy="3657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6035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项目「EMNLP ready」= reviewer 对 full-pipeline checklist 整链裁决</a:t>
            </a:r>
            <a:endParaRPr sz="135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22960" y="2194560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139696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full-scale evidence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794760" y="2194560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2139696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claim graph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" y="2852928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798064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paper contract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794760" y="2852928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2798064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format preflight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22960" y="3511296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456432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image-2 figures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794760" y="3511296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6" y="3456432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language / infra / layout review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2960" y="4169664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114800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artifact manifest &amp; freshness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794760" y="4169664"/>
            <a:ext cx="237744" cy="237744"/>
          </a:xfrm>
          <a:prstGeom prst="ellipse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5656" y="4114800"/>
            <a:ext cx="2697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submission assurance</a:t>
            </a:r>
            <a:endParaRPr sz="11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6035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1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不是看某个 validator 的返回值，也不只是看 PDF 是否存在。</a:t>
            </a:r>
            <a:endParaRPr sz="1150" b="0" i="1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69480" y="1517904"/>
            <a:ext cx="4370832" cy="137160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planner 误报 project_done？</a:t>
            </a:r>
            <a:endParaRPr sz="14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full_emnlp_gate=True 时，未拿到认证就报完成 →</a:t>
            </a:r>
            <a:endParaRPr sz="1050" b="0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9235440" y="2907792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480" y="3291840"/>
            <a:ext cx="4370832" cy="960120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强制改派 scope=final_submission 任务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/>
            <a:r>
              <a:rPr sz="105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交回 L2 reviewer 做整链认证</a:t>
            </a:r>
            <a:endParaRPr sz="105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269480" y="4480560"/>
            <a:ext cx="4370832" cy="1609344"/>
          </a:xfrm>
          <a:prstGeom prst="roundRect">
            <a:avLst/>
          </a:prstGeom>
          <a:solidFill>
            <a:srgbClr val="0E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590288"/>
            <a:ext cx="3931920" cy="1417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 i="0">
                <a:solidFill>
                  <a:srgbClr val="F0A5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设计演进</a:t>
            </a:r>
            <a:endParaRPr sz="1300" b="1" i="0">
              <a:solidFill>
                <a:srgbClr val="F0A50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移除关键词改判 / issue-code 分流</a:t>
            </a:r>
            <a:endParaRPr sz="11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scope 由 planner 以 tag 结构化透传</a:t>
            </a:r>
            <a:endParaRPr sz="11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完成与否只由 reviewer 认证决定</a:t>
            </a:r>
            <a:endParaRPr sz="1100" b="0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MEMORY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经验沉淀：Skill 库 + 研究 Wiki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9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17904"/>
            <a:ext cx="5394960" cy="566928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① Skill 库（横向能力复用）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5212080" cy="20862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markdown + YAML-like frontmatter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matcher 匹配 → miss 时 distiller 蒸馏新 skill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quality 质量门 · lifecycle 强化/修订/退役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done 后 writeback：把成功轨迹反哺回库</a:t>
            </a:r>
            <a:r>
              <a:rPr lang="zh-CN" altLang="en-US"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，验证</a:t>
            </a:r>
            <a:r>
              <a:rPr lang="en-US" altLang="zh-CN"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</a:t>
            </a:r>
            <a:r>
              <a:rPr lang="zh-CN" altLang="en-US"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的质量，积累经验</a:t>
            </a:r>
            <a:endParaRPr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3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sz="130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内置 builtin_skills/*（论文 / research playbook）</a:t>
            </a:r>
            <a:endParaRPr lang="en-US" sz="130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lang="en-US" sz="13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▸ </a:t>
            </a:r>
            <a:r>
              <a:rPr lang="zh-CN" altLang="en-US" sz="130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渐进式披露，多级检索，多</a:t>
            </a:r>
            <a:r>
              <a:rPr lang="en-US" altLang="zh-CN" sz="130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key</a:t>
            </a:r>
            <a:r>
              <a:rPr lang="zh-CN" altLang="en-US" sz="130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检索设计，提高</a:t>
            </a:r>
            <a:r>
              <a:rPr lang="en-US" altLang="zh-CN" sz="130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</a:t>
            </a:r>
            <a:r>
              <a:rPr lang="zh-CN" altLang="en-US" sz="130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库的命中率与质量</a:t>
            </a:r>
            <a:endParaRPr sz="130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517904"/>
            <a:ext cx="5468112" cy="566928"/>
          </a:xfrm>
          <a:prstGeom prst="round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② 研究 Wiki（每个 project 的长期知识库）</a:t>
            </a:r>
            <a:endParaRPr sz="14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2212848"/>
            <a:ext cx="52120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150" b="0" i="0">
                <a:solidFill>
                  <a:srgbClr val="6B728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目录： .autors/&lt;project&gt;/wiki/</a:t>
            </a:r>
            <a:endParaRPr sz="1150" b="0" i="0">
              <a:solidFill>
                <a:srgbClr val="6B728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2697480"/>
            <a:ext cx="109728" cy="7132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97480"/>
            <a:ext cx="50292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1" i="0">
                <a:solidFill>
                  <a:srgbClr val="1A1F3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sources/papers/  </a:t>
            </a:r>
            <a:endParaRPr sz="1150" b="1" i="0">
              <a:solidFill>
                <a:srgbClr val="1A1F3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r>
              <a:rPr sz="11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文献卡（来自 refs.bib）</a:t>
            </a:r>
            <a:endParaRPr sz="11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3538728"/>
            <a:ext cx="109728" cy="713232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538728"/>
            <a:ext cx="50292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1" i="0">
                <a:solidFill>
                  <a:srgbClr val="1A1F3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sources/runs/  </a:t>
            </a:r>
            <a:endParaRPr sz="1150" b="1" i="0">
              <a:solidFill>
                <a:srgbClr val="1A1F3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r>
              <a:rPr sz="11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RunCard：每个 mission 的原始轨迹（含 outcome）</a:t>
            </a:r>
            <a:endParaRPr sz="11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9360" y="4379976"/>
            <a:ext cx="109728" cy="713232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379976"/>
            <a:ext cx="50292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1" i="0">
                <a:solidFill>
                  <a:srgbClr val="1A1F3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pages/{techniques,conflicts,patterns}/  </a:t>
            </a:r>
            <a:endParaRPr sz="1150" b="1" i="0">
              <a:solidFill>
                <a:srgbClr val="1A1F3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r>
              <a:rPr sz="11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综合卡 · status: scratch → candidate → stable</a:t>
            </a:r>
            <a:endParaRPr sz="11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5221224"/>
            <a:ext cx="109728" cy="713232"/>
          </a:xfrm>
          <a:prstGeom prst="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221224"/>
            <a:ext cx="502920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50" b="1" i="0">
                <a:solidFill>
                  <a:srgbClr val="1A1F3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queries/  </a:t>
            </a:r>
            <a:endParaRPr sz="1150" b="1" i="0">
              <a:solidFill>
                <a:srgbClr val="1A1F3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r>
              <a:rPr sz="11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检索索引入口</a:t>
            </a:r>
            <a:endParaRPr sz="11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521208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两套记忆互补：</a:t>
            </a:r>
            <a:r>
              <a:rPr sz="12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 = 跨项目「怎么做」的能力</a:t>
            </a:r>
            <a:r>
              <a:rPr lang="zh-CN" altLang="en-US" sz="12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，经验</a:t>
            </a:r>
            <a:r>
              <a:rPr sz="1250" b="0" i="0">
                <a:solidFill>
                  <a:srgbClr val="3A4155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；Wiki = 单项目「读过什么、试过什么、得到什么」的研究知识。</a:t>
            </a:r>
            <a:endParaRPr sz="1250" b="0" i="0">
              <a:solidFill>
                <a:srgbClr val="3A4155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100" b="1" i="0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QUESTION</a:t>
            </a:r>
            <a:endParaRPr sz="1100" b="1" i="0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731005"/>
            <a:ext cx="10607040" cy="4216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gent</a:t>
            </a:r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可以自主发现</a:t>
            </a:r>
            <a:r>
              <a:rPr 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</a:t>
            </a:r>
            <a:r>
              <a:rPr lang="en-US" altLang="zh-CN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killopt</a:t>
            </a:r>
            <a:r>
              <a:rPr lang="zh-CN" altLang="en-US" sz="2500" b="1" i="0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？</a:t>
            </a:r>
            <a:endParaRPr sz="2500" b="1" i="0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11 / 13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 i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ounded Rectangle 4"/>
          <p:cNvSpPr/>
          <p:nvPr/>
        </p:nvSpPr>
        <p:spPr>
          <a:xfrm>
            <a:off x="427025" y="1695742"/>
            <a:ext cx="3515258" cy="27889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5"/>
          <p:cNvSpPr/>
          <p:nvPr/>
        </p:nvSpPr>
        <p:spPr>
          <a:xfrm>
            <a:off x="427025" y="1695742"/>
            <a:ext cx="3515258" cy="566928"/>
          </a:xfrm>
          <a:prstGeom prst="round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5" y="1695742"/>
            <a:ext cx="3515258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自主闭环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193" y="2445550"/>
            <a:ext cx="3112922" cy="1874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一句 seed → 文献调研 → 自建 benchmark →
基线 + 方法 → 跑实验 → 写出过
validate-full-emnlp 闸门的 EMNLP 投稿包
▸ 完整研究循环，自主重复 24 次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4262323" y="1695742"/>
            <a:ext cx="3515258" cy="27889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9"/>
          <p:cNvSpPr/>
          <p:nvPr/>
        </p:nvSpPr>
        <p:spPr>
          <a:xfrm>
            <a:off x="4262323" y="1695742"/>
            <a:ext cx="3515258" cy="566928"/>
          </a:xfrm>
          <a:prstGeom prst="round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2323" y="1695742"/>
            <a:ext cx="3515258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选题有 taste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63491" y="2445550"/>
            <a:ext cx="3112922" cy="1874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独立收敛到「verifier-gated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skill memory」
（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门控式技能记忆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验证后晋升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）
▸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正是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SkillOpt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的前身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 / baseline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r>
              <a:rPr sz="1350" b="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
▸ </a:t>
            </a:r>
            <a:r>
              <a:rPr sz="1350" b="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自己走进真·热门活水区</a:t>
            </a:r>
            <a:endParaRPr sz="1350" b="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12"/>
          <p:cNvSpPr/>
          <p:nvPr/>
        </p:nvSpPr>
        <p:spPr>
          <a:xfrm>
            <a:off x="8097621" y="1695742"/>
            <a:ext cx="3515258" cy="27889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13"/>
          <p:cNvSpPr/>
          <p:nvPr/>
        </p:nvSpPr>
        <p:spPr>
          <a:xfrm>
            <a:off x="8097621" y="1695742"/>
            <a:ext cx="3515258" cy="566928"/>
          </a:xfrm>
          <a:prstGeom prst="round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7621" y="1695742"/>
            <a:ext cx="3515258" cy="56692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真实 + 诚实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98789" y="2445550"/>
            <a:ext cx="3112922" cy="1874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真实 benchmark：SWE-bench Verified、
RepoBench-P 等 + 真实模型 gpt-5-mini
▸ 如实报告负结果与适用边界
▸ 不编造「赢」的结论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16"/>
          <p:cNvSpPr/>
          <p:nvPr/>
        </p:nvSpPr>
        <p:spPr>
          <a:xfrm>
            <a:off x="427025" y="4804702"/>
            <a:ext cx="5074920" cy="841248"/>
          </a:xfrm>
          <a:prstGeom prst="roundRect">
            <a:avLst/>
          </a:prstGeom>
          <a:solidFill>
            <a:srgbClr val="148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025" y="4804702"/>
            <a:ext cx="5074920" cy="84124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 雏形（已达成）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门控式技能记忆：验证通过才晋升进库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ight Arrow 18"/>
          <p:cNvSpPr/>
          <p:nvPr/>
        </p:nvSpPr>
        <p:spPr>
          <a:xfrm>
            <a:off x="5639105" y="4987582"/>
            <a:ext cx="1051560" cy="475488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19"/>
          <p:cNvSpPr/>
          <p:nvPr/>
        </p:nvSpPr>
        <p:spPr>
          <a:xfrm>
            <a:off x="6827825" y="4804702"/>
            <a:ext cx="4785055" cy="841248"/>
          </a:xfrm>
          <a:prstGeom prst="round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7825" y="4804702"/>
            <a:ext cx="4785055" cy="84124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完整体 SkillOpt（下一步）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技能 = 可训练参数：文本空间 optimizer 反复编辑同一份技能文档</a:t>
            </a:r>
            <a:endParaRPr sz="1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4632" y="6035040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对照：SkillOpt — Self-Evolving Agent Skills（arXiv 2605.23904, 2026）。本页主张为「雏形 / 前身」，非已复现完整方案。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4898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3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640080"/>
            <a:ext cx="822960" cy="100584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设计哲学 &amp; 总结</a:t>
            </a:r>
            <a:endParaRPr sz="3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118872" cy="914400"/>
          </a:xfrm>
          <a:prstGeom prst="rect">
            <a:avLst/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241280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①  Harness 不比 agent 聪明</a:t>
            </a:r>
            <a:endParaRPr sz="16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C4CE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只做机械、确定性的兜底；判断交给 agent。用显式结构化信号（scope / config flag）取代关键词猜测与事后改判。</a:t>
            </a:r>
            <a:endParaRPr sz="1250" b="0" i="0">
              <a:solidFill>
                <a:srgbClr val="C4CE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953511"/>
            <a:ext cx="118872" cy="9144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53511"/>
            <a:ext cx="10241280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②  原始轨迹永远优先</a:t>
            </a:r>
            <a:endParaRPr sz="16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C4CE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RunCard / evidence 先落盘；蒸馏与综合只是「附加」，绝不替代原始证据（SkillEvolBench）。</a:t>
            </a:r>
            <a:endParaRPr sz="1250" b="0" i="0">
              <a:solidFill>
                <a:srgbClr val="C4CE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4032504"/>
            <a:ext cx="118872" cy="91440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32504"/>
            <a:ext cx="10241280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③  长时可持续</a:t>
            </a:r>
            <a:endParaRPr sz="16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C4CE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反失忆 checkpoint + session roll + 预算门 + 永续/有界双模 → 真正能 7×24 跑下去。</a:t>
            </a:r>
            <a:endParaRPr sz="1250" b="0" i="0">
              <a:solidFill>
                <a:srgbClr val="C4CE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5230368"/>
            <a:ext cx="10543032" cy="987552"/>
          </a:xfrm>
          <a:prstGeom prst="roundRect">
            <a:avLst/>
          </a:prstGeom>
          <a:solidFill>
            <a:srgbClr val="1B2752"/>
          </a:solidFill>
          <a:ln w="1524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321808"/>
            <a:ext cx="1005840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= 会自我沉淀经验、能端到端产出可信论文、并能 7×24 永续运行的研究 agent harness。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TEAM · 核心团队</a:t>
            </a:r>
            <a:endParaRPr sz="110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r>
              <a:rPr sz="25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顶尖院校与机构背景的研究团队</a:t>
            </a:r>
            <a:endParaRPr sz="250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 algn="r"/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14 / 16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11091672" cy="65836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核心成员来自 </a:t>
            </a:r>
            <a:r>
              <a:rPr sz="12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上海交通大学永强荣誉班 · 致远工科荣誉计划</a:t>
            </a:r>
            <a:r>
              <a:rPr sz="12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，并在多家顶尖机构从事一线研究；另有 </a:t>
            </a:r>
            <a:r>
              <a:rPr sz="12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清华大学、南京大学博士生</a:t>
            </a:r>
            <a:r>
              <a:rPr sz="12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作为 contributor 参与。</a:t>
            </a:r>
            <a:endParaRPr sz="12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139696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39696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22576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微软亚洲研究院 · MSRA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2706624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研究实习生 · 明日之星（Star of Tomorrow）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61688" y="2139696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139696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22576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百亿级量化私募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2706624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量化研究员实习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74736" y="2139696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2139696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322576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商汤科技 · SenseTime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2706624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顶尖实习生（Top Intern）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3547872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47872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730752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香港大学 · HKU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114800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暑期科研顾问（Research Advisor）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361688" y="3547872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61688" y="3547872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730752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清华大学 · Tsinghua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80" y="4114800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博士生 · contributor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74736" y="3547872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74736" y="3547872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3730752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南京大学 · Nanjing Univ.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8" y="4114800"/>
            <a:ext cx="3099816" cy="621792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博士生 · contributor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48640" y="4992624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5257800"/>
            <a:ext cx="82296" cy="5669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010912"/>
            <a:ext cx="4873752" cy="10607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交大课题组科研合作</a:t>
            </a:r>
            <a:endParaRPr sz="125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16000"/>
              </a:lnSpc>
            </a:pPr>
            <a:r>
              <a:rPr sz="11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核心成员在 </a:t>
            </a:r>
            <a:r>
              <a:rPr sz="11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上海交通大学 卢策吾（MVIG）· 邓志杰（Deng Lab）· 周</a:t>
            </a:r>
            <a:r>
              <a:rPr lang="zh-CN" sz="11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煊赫</a:t>
            </a:r>
            <a:r>
              <a:rPr sz="11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（weAIDB）</a:t>
            </a:r>
            <a:r>
              <a:rPr sz="11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等教授课题组开展研究。</a:t>
            </a:r>
            <a:endParaRPr sz="11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99632" y="4992624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5257800"/>
            <a:ext cx="82296" cy="566928"/>
          </a:xfrm>
          <a:prstGeom prst="roundRect">
            <a:avLst>
              <a:gd name="adj" fmla="val 50000"/>
            </a:avLst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5010912"/>
            <a:ext cx="4873752" cy="10607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5AAB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研究方向</a:t>
            </a:r>
            <a:endParaRPr sz="1250" b="1">
              <a:solidFill>
                <a:srgbClr val="15AAB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16000"/>
              </a:lnSpc>
            </a:pPr>
            <a:r>
              <a:rPr sz="11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具身智能 · 多模态 · Agent · LLM 推理 · 量化</a:t>
            </a:r>
            <a:r>
              <a:rPr sz="11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，学术训练与工业一线工程经验并重。</a:t>
            </a:r>
            <a:endParaRPr sz="11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PUBLICATIONS · 代表性论文</a:t>
            </a:r>
            <a:endParaRPr sz="110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r>
              <a:rPr sz="25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团队成员代表性论文</a:t>
            </a:r>
            <a:endParaRPr sz="250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 algn="r"/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15 / 16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1091672" cy="329184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节选核心成员近两年代表性工作，涵盖 NeurIPS / EMNLP / SIGMOD / CIKM 等顶级会议。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1869948"/>
            <a:ext cx="91440" cy="3383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73936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Never Too Late for Force: Accelerating VLA Post-Training with Reactive Force Injection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Yi Wang*, Wendi Chen*, Zimo Wen* et al. · Preprint 2026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902952" y="188366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2952" y="1883664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Preprint</a:t>
            </a:r>
            <a:endParaRPr sz="900" b="1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2378354"/>
            <a:ext cx="91440" cy="33832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282342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DANet: A RAG-inspired Dual Attention Model for Few-shot Time Series Prediction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Zimo Wen, Hanwen Hu et al. · CIKM 2025 (Oral)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902952" y="239207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2952" y="2392070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CIKM ’25</a:t>
            </a:r>
            <a:endParaRPr sz="90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2886761"/>
            <a:ext cx="91440" cy="33832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790749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Tri-MARF: A Tri-Modal Multi-Agent Responsive Framework for Comprehensive 3D Object Annotation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Jusheng Zhan, Zimo Wen et al. · NeurIPS 2025 (Poster)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902952" y="2900477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04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2900477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7048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NeurIPS ’25</a:t>
            </a:r>
            <a:endParaRPr sz="900" b="1">
              <a:solidFill>
                <a:srgbClr val="7048E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3395167"/>
            <a:ext cx="91440" cy="338328"/>
          </a:xfrm>
          <a:prstGeom prst="rect">
            <a:avLst/>
          </a:prstGeom>
          <a:solidFill>
            <a:srgbClr val="0C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299155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UniG2U: Benchmarking When Generation Helps Understanding in Multimodal Unified Models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Zimo Wen, Boxiu Li et al. · arXiv · HuggingFace Daily Papers #1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902952" y="3408883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85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3408883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0C859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HF #1</a:t>
            </a:r>
            <a:endParaRPr sz="900" b="1">
              <a:solidFill>
                <a:srgbClr val="0C859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3903574"/>
            <a:ext cx="91440" cy="33832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07562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Resource2skills: Distilling Executable Skills from Human-Created Resources for Software Agents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Yijia Fan*, Zonglin Di*, Zimo Wen* et al. · NeurIPS 2026 (Under Review)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902952" y="391729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04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3917290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7048E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NeurIPS ’26</a:t>
            </a:r>
            <a:endParaRPr sz="900" b="1">
              <a:solidFill>
                <a:srgbClr val="7048E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4411980"/>
            <a:ext cx="91440" cy="338328"/>
          </a:xfrm>
          <a:prstGeom prst="rect">
            <a:avLst/>
          </a:prstGeom>
          <a:solidFill>
            <a:srgbClr val="08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315968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SIFT: Grounding LLM Reasoning in Contexts via Stickers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Zihao Zeng, Xuyao Huang, Boxiu Li, Zhijie Deng · EMNLP 2025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902952" y="442569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87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2952" y="4425696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087F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EMNLP ’25</a:t>
            </a:r>
            <a:endParaRPr sz="900" b="1">
              <a:solidFill>
                <a:srgbClr val="087F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4920386"/>
            <a:ext cx="91440" cy="338328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824374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ST-Raptor: LLM-Powered Semi-Structured Table Question Answering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Zirui Tang, Boyu Niu, Xuanhe Zhou*, Boxiu Li et al. · SIGMOD 2025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02952" y="493410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4934102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E0313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SIGMOD ’25</a:t>
            </a:r>
            <a:endParaRPr sz="900" b="1">
              <a:solidFill>
                <a:srgbClr val="E0313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5428793"/>
            <a:ext cx="91440" cy="3383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332781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StepRouter: From Effort Priors to Utility Posteriors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Boxiu Li, Zimo Wen, Zehao Du et al. · Under Review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902952" y="5442509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2952" y="5442509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 Review</a:t>
            </a:r>
            <a:endParaRPr sz="900" b="1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8" y="5937199"/>
            <a:ext cx="91440" cy="3383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841187"/>
            <a:ext cx="8732520" cy="5029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Done Is Better than Perfect: Unlocking Efficient Reasoning by Structured Multi-Turn Decomposition</a:t>
            </a:r>
            <a:endParaRPr sz="108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88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Zihao Zeng, Xuyao Huang, Boxiu Li et al. · Under Review</a:t>
            </a:r>
            <a:endParaRPr sz="88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902952" y="5950915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02952" y="5950915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900" b="1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 Review</a:t>
            </a:r>
            <a:endParaRPr sz="900" b="1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COLLABORATION · 合作与影响</a:t>
            </a:r>
            <a:endParaRPr sz="110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r>
              <a:rPr sz="250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与微软亚洲研究院（MSRA）深度合作</a:t>
            </a:r>
            <a:endParaRPr sz="250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 algn="r"/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 / 16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11091672" cy="969264"/>
          </a:xfrm>
          <a:prstGeom prst="roundRect">
            <a:avLst>
              <a:gd name="adj" fmla="val 8000"/>
            </a:avLst>
          </a:prstGeom>
          <a:solidFill>
            <a:srgbClr val="0E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10451592" cy="9692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项目与微软亚洲研究院（MSRA）深度合作</a:t>
            </a:r>
            <a:endParaRPr sz="15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sz="1200" b="0">
                <a:solidFill>
                  <a:srgbClr val="C9D2E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已向 MSRA 十余名高级研究员做过专题汇报，并已作为内部工具试用。</a:t>
            </a:r>
            <a:endParaRPr sz="1200" b="0">
              <a:solidFill>
                <a:srgbClr val="C9D2E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670048"/>
            <a:ext cx="342900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深度合作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3236976"/>
            <a:ext cx="3099816" cy="13716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由 MSRA 首席研究员 / 资深研究员直接指导；多个相关开源项目获 MSRA 支持。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1688" y="2670048"/>
            <a:ext cx="342900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670048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5A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52928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汇报 · 认可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80" y="3236976"/>
            <a:ext cx="3099816" cy="13716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 MSRA 十余名高级研究员做专题技术汇报，获得正向反馈。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74736" y="2670048"/>
            <a:ext cx="342900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2670048"/>
            <a:ext cx="3429000" cy="11887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852928"/>
            <a:ext cx="3099816" cy="4572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3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内部试用</a:t>
            </a:r>
            <a:endParaRPr sz="13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39328" y="3236976"/>
            <a:ext cx="3099816" cy="137160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已作为内部工具在 MSRA 试用，服务自主研究与长程任务。</a:t>
            </a:r>
            <a:endParaRPr sz="105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992624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92624"/>
            <a:ext cx="10451592" cy="10058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1A1F3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相关开源生态（团队核心成员发起 · MSRA 支持）</a:t>
            </a:r>
            <a:endParaRPr sz="125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ArgusBot</a:t>
            </a:r>
            <a:r>
              <a:rPr sz="11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（7×24 监督者智能体，2 天内获 228+ GitHub stars）、</a:t>
            </a:r>
            <a:r>
              <a:rPr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Skill agent</a:t>
            </a:r>
            <a:r>
              <a:rPr sz="11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（大模型一次写技能、小模型反复执行）等开源项目。</a:t>
            </a:r>
            <a:endParaRPr sz="11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75488"/>
            <a:ext cx="118872" cy="512064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lang="en-US"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DEMO·</a:t>
            </a:r>
            <a:r>
              <a:rPr lang="zh-CN" altLang="en-US" sz="1100" b="1">
                <a:solidFill>
                  <a:srgbClr val="3B5BD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演示</a:t>
            </a:r>
            <a:endParaRPr lang="zh-CN" altLang="en-US" sz="1100" b="1">
              <a:solidFill>
                <a:srgbClr val="3B5BD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endParaRPr sz="2500" b="1">
              <a:solidFill>
                <a:srgbClr val="1A1F3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91672" cy="16459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Argus · 7×24 自主研究 agent harness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292608"/>
          </a:xfrm>
          <a:prstGeom prst="rect">
            <a:avLst/>
          </a:prstGeom>
          <a:noFill/>
        </p:spPr>
        <p:txBody>
          <a:bodyPr wrap="square" lIns="36576" tIns="18288" rIns="36576" bIns="18288"/>
          <a:lstStyle/>
          <a:p>
            <a:pPr algn="r"/>
            <a:r>
              <a:rPr sz="1000" b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 / 16</a:t>
            </a:r>
            <a:endParaRPr sz="1000" b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a9a98038624fe6579b15905da5a4431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83895" y="686435"/>
            <a:ext cx="10956925" cy="5523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8747</Words>
  <Application>WPS 演示</Application>
  <PresentationFormat>Widescreen</PresentationFormat>
  <Paragraphs>520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Segoe UI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v-boxiuli</cp:lastModifiedBy>
  <cp:revision>10</cp:revision>
  <dcterms:created xsi:type="dcterms:W3CDTF">2013-01-27T09:14:00Z</dcterms:created>
  <dcterms:modified xsi:type="dcterms:W3CDTF">2026-06-14T15:42:13Z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2052-12.1.0.26880</vt:lpwstr>
  </property>
  <property fmtid="{D5CDD505-2E9C-101B-9397-08002B2CF9AE}" pid="3" name="ICV">
    <vt:lpwstr>CAE1BBB6D99449B6AA7E811F564D64B0_12</vt:lpwstr>
  </property>
</Properties>
</file>
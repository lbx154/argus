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ags/tag2.xml" ContentType="application/vnd.openxmlformats-officedocument.presentationml.tags+xml"/>
  <Override PartName="/ppt/theme/themeOverride2.xml" ContentType="application/vnd.openxmlformats-officedocument.themeOverride+xml"/>
  <Override PartName="/ppt/tags/tag3.xml" ContentType="application/vnd.openxmlformats-officedocument.presentationml.tags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heme/themeOverride5.xml" ContentType="application/vnd.openxmlformats-officedocument.themeOverride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6.xml" ContentType="application/vnd.openxmlformats-officedocument.themeOverr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ags/tag17.xml" ContentType="application/vnd.openxmlformats-officedocument.presentationml.tags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heme/themeOverride1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259" r:id="rId3"/>
    <p:sldId id="257" r:id="rId4"/>
    <p:sldId id="266" r:id="rId5"/>
    <p:sldId id="272" r:id="rId6"/>
    <p:sldId id="261" r:id="rId7"/>
    <p:sldId id="277" r:id="rId8"/>
    <p:sldId id="279" r:id="rId9"/>
    <p:sldId id="263" r:id="rId10"/>
    <p:sldId id="276" r:id="rId11"/>
    <p:sldId id="264" r:id="rId12"/>
    <p:sldId id="270" r:id="rId13"/>
    <p:sldId id="278" r:id="rId14"/>
    <p:sldId id="271" r:id="rId15"/>
    <p:sldId id="260" r:id="rId16"/>
  </p:sldIdLst>
  <p:sldSz cx="12192000" cy="6858000"/>
  <p:notesSz cx="6858000" cy="9144000"/>
  <p:custDataLst>
    <p:tags r:id="rId19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3761D7"/>
    <a:srgbClr val="000000"/>
    <a:srgbClr val="FC3904"/>
    <a:srgbClr val="FF6600"/>
    <a:srgbClr val="030303"/>
    <a:srgbClr val="F85690"/>
    <a:srgbClr val="7F43BB"/>
    <a:srgbClr val="5C7EDE"/>
    <a:srgbClr val="4E4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1" autoAdjust="0"/>
    <p:restoredTop sz="94700" autoAdjust="0"/>
  </p:normalViewPr>
  <p:slideViewPr>
    <p:cSldViewPr snapToGrid="0">
      <p:cViewPr varScale="1">
        <p:scale>
          <a:sx n="105" d="100"/>
          <a:sy n="105" d="100"/>
        </p:scale>
        <p:origin x="72" y="17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notesViewPr>
    <p:cSldViewPr snapToGrid="0" showGuides="1">
      <p:cViewPr varScale="1">
        <p:scale>
          <a:sx n="86" d="100"/>
          <a:sy n="86" d="100"/>
        </p:scale>
        <p:origin x="1926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tags" Target="tags/tag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6.xml"/><Relationship Id="rId2" Type="http://schemas.microsoft.com/office/2011/relationships/chartColorStyle" Target="colors1.xml"/><Relationship Id="rId1" Type="http://schemas.microsoft.com/office/2011/relationships/chartStyle" Target="style1.xml"/><Relationship Id="rId4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7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800" dirty="0">
                <a:solidFill>
                  <a:srgbClr val="FFFFFF"/>
                </a:solidFill>
              </a:rPr>
              <a:t>一次典型研究中的边际成本结构</a:t>
            </a:r>
          </a:p>
        </c:rich>
      </c:tx>
      <c:layout>
        <c:manualLayout>
          <c:xMode val="edge"/>
          <c:yMode val="edge"/>
          <c:x val="0.23994871680123075"/>
          <c:y val="0.90211505541142201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系列1</c:v>
                </c:pt>
              </c:strCache>
            </c:strRef>
          </c:tx>
          <c:spPr>
            <a:ln w="25400" cap="rnd" cmpd="sng">
              <a:solidFill>
                <a:schemeClr val="bg1"/>
              </a:solidFill>
              <a:prstDash val="solid"/>
              <a:bevel/>
            </a:ln>
            <a:effectLst/>
            <a:scene3d>
              <a:camera prst="orthographicFront"/>
              <a:lightRig rig="threePt" dir="t"/>
            </a:scene3d>
          </c:spPr>
          <c:dPt>
            <c:idx val="0"/>
            <c:bubble3D val="0"/>
            <c:spPr>
              <a:solidFill>
                <a:schemeClr val="accent1"/>
              </a:solidFill>
              <a:ln w="25400" cap="rnd" cmpd="sng">
                <a:solidFill>
                  <a:schemeClr val="bg1"/>
                </a:solidFill>
                <a:prstDash val="solid"/>
                <a:beve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3-C50D-49A6-A5DD-0D958B90005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 cap="rnd" cmpd="sng">
                <a:solidFill>
                  <a:schemeClr val="bg1"/>
                </a:solidFill>
                <a:prstDash val="solid"/>
                <a:beve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3-EF54-45F9-BACB-7F0E545605A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 cap="rnd" cmpd="sng">
                <a:solidFill>
                  <a:schemeClr val="bg1"/>
                </a:solidFill>
                <a:prstDash val="solid"/>
                <a:beve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5-EF54-45F9-BACB-7F0E545605A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 cap="rnd" cmpd="sng">
                <a:solidFill>
                  <a:schemeClr val="bg1"/>
                </a:solidFill>
                <a:prstDash val="solid"/>
                <a:beve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7-EF54-45F9-BACB-7F0E545605A5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 cap="rnd" cmpd="sng">
                <a:solidFill>
                  <a:schemeClr val="bg1"/>
                </a:solidFill>
                <a:prstDash val="solid"/>
                <a:beve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9-EF54-45F9-BACB-7F0E545605A5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25400" cap="rnd" cmpd="sng">
                <a:solidFill>
                  <a:schemeClr val="bg1"/>
                </a:solidFill>
                <a:prstDash val="solid"/>
                <a:beve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A-EF54-45F9-BACB-7F0E545605A5}"/>
              </c:ext>
            </c:extLst>
          </c:dPt>
          <c:dLbls>
            <c:dLbl>
              <c:idx val="0"/>
              <c:layout>
                <c:manualLayout>
                  <c:x val="-0.20342816541766434"/>
                  <c:y val="3.5811967328608703E-2"/>
                </c:manualLayout>
              </c:layout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altLang="zh-CN" sz="1400" b="0" i="0" u="none" strike="noStrike" kern="1200" baseline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50D-49A6-A5DD-0D958B90005A}"/>
                </c:ext>
              </c:extLst>
            </c:dLbl>
            <c:dLbl>
              <c:idx val="1"/>
              <c:layout>
                <c:manualLayout>
                  <c:x val="0.14092032165662827"/>
                  <c:y val="-0.20786479672461197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algn="ctr" rtl="0">
                      <a:defRPr lang="en-US" altLang="zh-CN" sz="1400" b="0" i="0" u="none" strike="noStrike" kern="1200" baseline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fld id="{22BA0512-2DC8-48FC-8052-30759FE485D0}" type="CATEGORYNAME">
                      <a:rPr lang="en-US" altLang="zh-CN" sz="1400" b="0" i="0" u="none" strike="noStrike" kern="1200" baseline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rPr>
                      <a:pPr algn="ctr" rtl="0">
                        <a:defRPr lang="en-US" altLang="zh-CN" sz="1400" b="0" i="0" u="none" strike="noStrike" kern="1200" baseline="0">
                          <a:solidFill>
                            <a:prstClr val="white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[类别名称]</a:t>
                    </a:fld>
                    <a:r>
                      <a:rPr lang="en-US" altLang="zh-CN" baseline="0" dirty="0"/>
                      <a:t>
</a:t>
                    </a:r>
                    <a:fld id="{10B35BA2-D163-4593-B012-7F93DE80ADAB}" type="PERCENTAGE">
                      <a:rPr lang="en-US" altLang="zh-CN" baseline="0"/>
                      <a:pPr algn="ctr" rtl="0">
                        <a:defRPr lang="en-US" altLang="zh-CN" sz="1400" b="0" i="0" u="none" strike="noStrike" kern="1200" baseline="0">
                          <a:solidFill>
                            <a:prstClr val="white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[百分比]</a:t>
                    </a:fld>
                    <a:endParaRPr lang="en-US" altLang="zh-CN" baseline="0" dirty="0"/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altLang="zh-CN" sz="1400" b="0" i="0" u="none" strike="noStrike" kern="1200" baseline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EF54-45F9-BACB-7F0E545605A5}"/>
                </c:ext>
              </c:extLst>
            </c:dLbl>
            <c:dLbl>
              <c:idx val="2"/>
              <c:layout>
                <c:manualLayout>
                  <c:x val="0.13999771699937186"/>
                  <c:y val="0.1371731793794814"/>
                </c:manualLayout>
              </c:layout>
              <c:tx>
                <c:rich>
                  <a:bodyPr/>
                  <a:lstStyle/>
                  <a:p>
                    <a:fld id="{BC2C7193-8754-4CFC-92FE-6AE51F2752AA}" type="CATEGORYNAME">
                      <a:rPr lang="en-US" altLang="zh-CN" sz="1400"/>
                      <a:pPr/>
                      <a:t>[类别名称]</a:t>
                    </a:fld>
                    <a:r>
                      <a:rPr lang="en-US" altLang="zh-CN" sz="1400" baseline="0" dirty="0"/>
                      <a:t>
</a:t>
                    </a:r>
                    <a:fld id="{066BA5B5-72DF-4F2A-845B-6C11ED6AE8FF}" type="PERCENTAGE">
                      <a:rPr lang="en-US" altLang="zh-CN" sz="1400" baseline="0"/>
                      <a:pPr/>
                      <a:t>[百分比]</a:t>
                    </a:fld>
                    <a:endParaRPr lang="en-US" altLang="zh-CN" sz="1400" baseline="0" dirty="0"/>
                  </a:p>
                </c:rich>
              </c:tx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EF54-45F9-BACB-7F0E545605A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7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3"/>
                <c:pt idx="0">
                  <c:v>Fresh Input</c:v>
                </c:pt>
                <c:pt idx="1">
                  <c:v>Cached Input</c:v>
                </c:pt>
                <c:pt idx="2">
                  <c:v>Output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42</c:v>
                </c:pt>
                <c:pt idx="1">
                  <c:v>31</c:v>
                </c:pt>
                <c:pt idx="2">
                  <c:v>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CD-4C9C-A5C9-295B6DDAB9A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系列2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3"/>
                <c:pt idx="0">
                  <c:v>Fresh Input</c:v>
                </c:pt>
                <c:pt idx="1">
                  <c:v>Cached Input</c:v>
                </c:pt>
                <c:pt idx="2">
                  <c:v>Output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AB44-40C6-95D1-34E56BF21AB2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3"/>
                <c:pt idx="0">
                  <c:v>Fresh Input</c:v>
                </c:pt>
                <c:pt idx="1">
                  <c:v>Cached Input</c:v>
                </c:pt>
                <c:pt idx="2">
                  <c:v>Output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AB44-40C6-95D1-34E56BF21AB2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>
          <a:glow rad="63500">
            <a:schemeClr val="accent1">
              <a:satMod val="175000"/>
              <a:alpha val="40000"/>
            </a:schemeClr>
          </a:glow>
        </a:effectLst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 algn="ctr" rtl="0">
              <a:defRPr lang="zh-CN" altLang="en-US" sz="1800" b="0" i="0" u="none" strike="noStrike" kern="1200" spc="0" baseline="0" dirty="0" smtClean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pPr>
            <a:r>
              <a:rPr lang="zh-CN" altLang="en-US" sz="1800" b="0" i="0" u="none" strike="noStrike" kern="1200" spc="0" baseline="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一次典型研究中的数据价值分布</a:t>
            </a:r>
          </a:p>
        </c:rich>
      </c:tx>
      <c:layout>
        <c:manualLayout>
          <c:xMode val="edge"/>
          <c:yMode val="edge"/>
          <c:x val="0.22957700186918201"/>
          <c:y val="0.84918885812288669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 algn="ctr" rtl="0">
            <a:defRPr lang="zh-CN" altLang="en-US" sz="1800" b="0" i="0" u="none" strike="noStrike" kern="1200" spc="0" baseline="0" dirty="0" smtClean="0">
              <a:solidFill>
                <a:srgbClr val="FFFFFF"/>
              </a:solidFill>
              <a:latin typeface="+mn-lt"/>
              <a:ea typeface="+mn-ea"/>
              <a:cs typeface="+mn-cs"/>
            </a:defRPr>
          </a:pPr>
          <a:endParaRPr lang="zh-CN"/>
        </a:p>
      </c:txPr>
    </c:title>
    <c:autoTitleDeleted val="0"/>
    <c:plotArea>
      <c:layout>
        <c:manualLayout>
          <c:layoutTarget val="inner"/>
          <c:xMode val="edge"/>
          <c:yMode val="edge"/>
          <c:x val="0.25077091190870776"/>
          <c:y val="0.13978628311924562"/>
          <c:w val="0.50381385334645667"/>
          <c:h val="0.75572073353095881"/>
        </c:manualLayout>
      </c:layout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系列1</c:v>
                </c:pt>
              </c:strCache>
            </c:strRef>
          </c:tx>
          <c:spPr>
            <a:ln w="25400" cap="rnd" cmpd="sng">
              <a:solidFill>
                <a:schemeClr val="bg1"/>
              </a:solidFill>
              <a:prstDash val="solid"/>
              <a:bevel/>
            </a:ln>
            <a:effectLst/>
            <a:scene3d>
              <a:camera prst="orthographicFront"/>
              <a:lightRig rig="threePt" dir="t"/>
            </a:scene3d>
          </c:spPr>
          <c:dPt>
            <c:idx val="0"/>
            <c:bubble3D val="0"/>
            <c:spPr>
              <a:solidFill>
                <a:schemeClr val="accent1"/>
              </a:solidFill>
              <a:ln w="25400" cap="rnd" cmpd="sng">
                <a:solidFill>
                  <a:schemeClr val="bg1"/>
                </a:solidFill>
                <a:prstDash val="solid"/>
                <a:beve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3-C50D-49A6-A5DD-0D958B90005A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 cap="rnd" cmpd="sng">
                <a:solidFill>
                  <a:schemeClr val="bg1"/>
                </a:solidFill>
                <a:prstDash val="solid"/>
                <a:beve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3-EF54-45F9-BACB-7F0E545605A5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 cap="rnd" cmpd="sng">
                <a:solidFill>
                  <a:schemeClr val="bg1"/>
                </a:solidFill>
                <a:prstDash val="solid"/>
                <a:beve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5-EF54-45F9-BACB-7F0E545605A5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 cap="rnd" cmpd="sng">
                <a:solidFill>
                  <a:schemeClr val="bg1"/>
                </a:solidFill>
                <a:prstDash val="solid"/>
                <a:beve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7-EF54-45F9-BACB-7F0E545605A5}"/>
              </c:ext>
            </c:extLst>
          </c:dPt>
          <c:dPt>
            <c:idx val="4"/>
            <c:bubble3D val="0"/>
            <c:spPr>
              <a:solidFill>
                <a:schemeClr val="accent5"/>
              </a:solidFill>
              <a:ln w="25400" cap="rnd" cmpd="sng">
                <a:solidFill>
                  <a:schemeClr val="bg1"/>
                </a:solidFill>
                <a:prstDash val="solid"/>
                <a:beve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9-EF54-45F9-BACB-7F0E545605A5}"/>
              </c:ext>
            </c:extLst>
          </c:dPt>
          <c:dPt>
            <c:idx val="5"/>
            <c:bubble3D val="0"/>
            <c:spPr>
              <a:solidFill>
                <a:schemeClr val="accent6"/>
              </a:solidFill>
              <a:ln w="25400" cap="rnd" cmpd="sng">
                <a:solidFill>
                  <a:schemeClr val="bg1"/>
                </a:solidFill>
                <a:prstDash val="solid"/>
                <a:bevel/>
              </a:ln>
              <a:effectLst/>
              <a:scene3d>
                <a:camera prst="orthographicFront"/>
                <a:lightRig rig="threePt" dir="t"/>
              </a:scene3d>
            </c:spPr>
            <c:extLst>
              <c:ext xmlns:c16="http://schemas.microsoft.com/office/drawing/2014/chart" uri="{C3380CC4-5D6E-409C-BE32-E72D297353CC}">
                <c16:uniqueId val="{0000000A-EF54-45F9-BACB-7F0E545605A5}"/>
              </c:ext>
            </c:extLst>
          </c:dPt>
          <c:dLbls>
            <c:dLbl>
              <c:idx val="0"/>
              <c:layout>
                <c:manualLayout>
                  <c:x val="-0.19786401294893816"/>
                  <c:y val="8.0640738657403496E-2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algn="ctr" rtl="0">
                      <a:defRPr lang="zh-CN" altLang="en-US" sz="1400" b="0" i="0" u="none" strike="noStrike" kern="1200" baseline="0" dirty="0" smtClean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zh-CN" altLang="en-US" sz="1400" b="0" i="0" u="none" strike="noStrike" kern="1200" baseline="0" dirty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rPr>
                      <a:t>论文</a:t>
                    </a:r>
                    <a:r>
                      <a:rPr lang="en-US" altLang="zh-CN" sz="1400" b="0" i="0" u="none" strike="noStrike" kern="1200" baseline="0" dirty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rPr>
                      <a:t>+</a:t>
                    </a:r>
                    <a:r>
                      <a:rPr lang="zh-CN" altLang="en-US" sz="1400" b="0" i="0" u="none" strike="noStrike" kern="1200" baseline="0" dirty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rPr>
                      <a:t>审查链
</a:t>
                    </a:r>
                    <a:fld id="{A08E98C0-AD70-4586-A252-7A8D6E06E5AE}" type="PERCENTAGE">
                      <a:rPr lang="en-US" altLang="zh-CN" sz="1400" b="0" i="0" u="none" strike="noStrike" kern="1200" baseline="0" dirty="0" smtClean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rPr>
                      <a:pPr algn="ctr" rtl="0">
                        <a:defRPr lang="zh-CN" altLang="en-US" sz="1400" b="0" i="0" u="none" strike="noStrike" kern="1200" baseline="0" dirty="0" smtClean="0">
                          <a:solidFill>
                            <a:prstClr val="white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[百分比]</a:t>
                    </a:fld>
                    <a:endParaRPr lang="zh-CN" altLang="en-US" sz="1400" b="0" i="0" u="none" strike="noStrike" kern="1200" baseline="0" dirty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zh-CN" altLang="en-US" sz="1400" b="0" i="0" u="none" strike="noStrike" kern="1200" baseline="0" dirty="0" smtClean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C50D-49A6-A5DD-0D958B90005A}"/>
                </c:ext>
              </c:extLst>
            </c:dLbl>
            <c:dLbl>
              <c:idx val="1"/>
              <c:layout>
                <c:manualLayout>
                  <c:x val="0.14610027693590261"/>
                  <c:y val="-0.19506378642215585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algn="ctr" rtl="0">
                      <a:defRPr lang="en-US" altLang="zh-CN" sz="1400" b="0" i="0" u="none" strike="noStrike" kern="1200" baseline="0" dirty="0" smtClean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en-US" altLang="zh-CN" sz="1400" b="0" i="0" u="none" strike="noStrike" kern="1200" baseline="0" dirty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rPr>
                      <a:t>Agent</a:t>
                    </a:r>
                    <a:r>
                      <a:rPr lang="zh-CN" altLang="en-US" sz="1400" b="0" i="0" u="none" strike="noStrike" kern="1200" baseline="0" dirty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rPr>
                      <a:t>决策轨迹
</a:t>
                    </a:r>
                    <a:fld id="{AAA56BEA-6DD8-4991-9498-14AA0DFF62E4}" type="PERCENTAGE">
                      <a:rPr lang="en-US" altLang="zh-CN" sz="1400" b="0" i="0" u="none" strike="noStrike" kern="1200" baseline="0" dirty="0" smtClean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rPr>
                      <a:pPr algn="ctr" rtl="0">
                        <a:defRPr lang="en-US" altLang="zh-CN" sz="1400" b="0" i="0" u="none" strike="noStrike" kern="1200" baseline="0" dirty="0" smtClean="0">
                          <a:solidFill>
                            <a:prstClr val="white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[百分比]</a:t>
                    </a:fld>
                    <a:endParaRPr lang="zh-CN" altLang="en-US" sz="1400" b="0" i="0" u="none" strike="noStrike" kern="1200" baseline="0" dirty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en-US" altLang="zh-CN" sz="1400" b="0" i="0" u="none" strike="noStrike" kern="1200" baseline="0" dirty="0" smtClean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3-EF54-45F9-BACB-7F0E545605A5}"/>
                </c:ext>
              </c:extLst>
            </c:dLbl>
            <c:dLbl>
              <c:idx val="2"/>
              <c:layout>
                <c:manualLayout>
                  <c:x val="0.14419536625372459"/>
                  <c:y val="0.12755511933606939"/>
                </c:manualLayout>
              </c:layout>
              <c:tx>
                <c:rich>
                  <a:bodyPr rot="0" spcFirstLastPara="1" vertOverflow="ellipsis" vert="horz" wrap="square" lIns="38100" tIns="19050" rIns="38100" bIns="19050" anchor="ctr" anchorCtr="0">
                    <a:spAutoFit/>
                  </a:bodyPr>
                  <a:lstStyle/>
                  <a:p>
                    <a:pPr algn="ctr" rtl="0">
                      <a:defRPr lang="zh-CN" altLang="en-US" sz="1400" b="0" i="0" u="none" strike="noStrike" kern="1200" baseline="0" dirty="0" smtClean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defRPr>
                    </a:pPr>
                    <a:r>
                      <a:rPr lang="zh-CN" altLang="en-US" sz="1400" b="0" i="0" u="none" strike="noStrike" kern="1200" baseline="0" dirty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rPr>
                      <a:t>实验输出
</a:t>
                    </a:r>
                    <a:fld id="{EDA7A3EB-7C66-4A53-9823-C18AC6FB925E}" type="PERCENTAGE">
                      <a:rPr lang="en-US" altLang="zh-CN" sz="1400" b="0" i="0" u="none" strike="noStrike" kern="1200" baseline="0" dirty="0" smtClean="0">
                        <a:solidFill>
                          <a:prstClr val="white"/>
                        </a:solidFill>
                        <a:latin typeface="+mn-lt"/>
                        <a:ea typeface="+mn-ea"/>
                        <a:cs typeface="+mn-cs"/>
                      </a:rPr>
                      <a:pPr algn="ctr" rtl="0">
                        <a:defRPr lang="zh-CN" altLang="en-US" sz="1400" b="0" i="0" u="none" strike="noStrike" kern="1200" baseline="0" dirty="0" smtClean="0">
                          <a:solidFill>
                            <a:prstClr val="white"/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t>[百分比]</a:t>
                    </a:fld>
                    <a:endParaRPr lang="zh-CN" altLang="en-US" sz="1400" b="0" i="0" u="none" strike="noStrike" kern="1200" baseline="0" dirty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endParaRPr>
                  </a:p>
                </c:rich>
              </c:tx>
              <c:spPr>
                <a:noFill/>
                <a:ln>
                  <a:noFill/>
                </a:ln>
                <a:effectLst/>
              </c:spPr>
              <c:txPr>
                <a:bodyPr rot="0" spcFirstLastPara="1" vertOverflow="ellipsis" vert="horz" wrap="square" lIns="38100" tIns="19050" rIns="38100" bIns="19050" anchor="ctr" anchorCtr="0">
                  <a:spAutoFit/>
                </a:bodyPr>
                <a:lstStyle/>
                <a:p>
                  <a:pPr algn="ctr" rtl="0">
                    <a:defRPr lang="zh-CN" altLang="en-US" sz="1400" b="0" i="0" u="none" strike="noStrike" kern="1200" baseline="0" dirty="0" smtClean="0">
                      <a:solidFill>
                        <a:prstClr val="white"/>
                      </a:solidFill>
                      <a:latin typeface="+mn-lt"/>
                      <a:ea typeface="+mn-ea"/>
                      <a:cs typeface="+mn-cs"/>
                    </a:defRPr>
                  </a:pPr>
                  <a:endParaRPr lang="zh-CN"/>
                </a:p>
              </c:txPr>
              <c:dLblPos val="bestFit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5-EF54-45F9-BACB-7F0E545605A5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zh-CN" altLang="en-US"/>
                      <a:t>代码</a:t>
                    </a:r>
                    <a:r>
                      <a:rPr lang="zh-CN" altLang="en-US" baseline="0" dirty="0"/>
                      <a:t>
</a:t>
                    </a:r>
                    <a:fld id="{DCF5D848-5C55-4E2F-9C3F-7BD83A6A3E5A}" type="PERCENTAGE">
                      <a:rPr lang="en-US" altLang="zh-CN" baseline="0"/>
                      <a:pPr/>
                      <a:t>[百分比]</a:t>
                    </a:fld>
                    <a:endParaRPr lang="zh-CN" altLang="en-US" baseline="0" dirty="0"/>
                  </a:p>
                </c:rich>
              </c:tx>
              <c:dLblPos val="inEnd"/>
              <c:showLegendKey val="0"/>
              <c:showVal val="0"/>
              <c:showCatName val="1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7-EF54-45F9-BACB-7F0E545605A5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0">
                <a:spAutoFit/>
              </a:bodyPr>
              <a:lstStyle/>
              <a:p>
                <a:pPr algn="ctr" rtl="0">
                  <a:defRPr lang="en-US" altLang="zh-CN" sz="1400" b="0" i="0" u="none" strike="noStrike" kern="1200" baseline="0">
                    <a:solidFill>
                      <a:prstClr val="white"/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inEnd"/>
            <c:showLegendKey val="0"/>
            <c:showVal val="0"/>
            <c:showCatName val="1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分类1</c:v>
                </c:pt>
                <c:pt idx="1">
                  <c:v>分类2</c:v>
                </c:pt>
                <c:pt idx="2">
                  <c:v>分类3</c:v>
                </c:pt>
                <c:pt idx="3">
                  <c:v>分类4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40</c:v>
                </c:pt>
                <c:pt idx="1">
                  <c:v>35</c:v>
                </c:pt>
                <c:pt idx="2">
                  <c:v>20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7CD-4C9C-A5C9-295B6DDAB9A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系列2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分类1</c:v>
                </c:pt>
                <c:pt idx="1">
                  <c:v>分类2</c:v>
                </c:pt>
                <c:pt idx="2">
                  <c:v>分类3</c:v>
                </c:pt>
                <c:pt idx="3">
                  <c:v>分类4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0-633C-4299-B9A5-430B5172D31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系列3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</c:dPt>
          <c:dPt>
            <c:idx val="2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</c:dPt>
          <c:dPt>
            <c:idx val="3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Sheet1!$A$2:$A$5</c:f>
              <c:strCache>
                <c:ptCount val="4"/>
                <c:pt idx="0">
                  <c:v>分类1</c:v>
                </c:pt>
                <c:pt idx="1">
                  <c:v>分类2</c:v>
                </c:pt>
                <c:pt idx="2">
                  <c:v>分类3</c:v>
                </c:pt>
                <c:pt idx="3">
                  <c:v>分类4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1-633C-4299-B9A5-430B5172D31B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>
          <a:glow rad="63500">
            <a:schemeClr val="accent1">
              <a:satMod val="175000"/>
              <a:alpha val="40000"/>
            </a:schemeClr>
          </a:glow>
        </a:effectLst>
      </c:spPr>
    </c:plotArea>
    <c:plotVisOnly val="1"/>
    <c:dispBlanksAs val="gap"/>
    <c:showDLblsOverMax val="0"/>
    <c:extLst/>
  </c:chart>
  <c:spPr>
    <a:noFill/>
    <a:ln w="9525" cap="flat" cmpd="sng" algn="ctr">
      <a:noFill/>
      <a:round/>
    </a:ln>
    <a:effectLst/>
  </c:spPr>
  <c:txPr>
    <a:bodyPr/>
    <a:lstStyle/>
    <a:p>
      <a:pPr>
        <a:defRPr/>
      </a:pPr>
      <a:endParaRPr lang="zh-CN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0D761AF9-87E1-4512-AA58-141FD29E64A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54A76DA-BA7F-4DDC-8D11-BC603BB9932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DE2A01-0D98-45DA-B747-20EF7AE7E7B9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89A5760-AC57-47DC-82F7-455433B8F85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B9025C4-AD5D-460E-972B-33947D58C7F3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52BC34-296C-448D-ACCA-6752837BE73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5754022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BE6FB-4983-42F5-B216-1A2ADEE7DF7A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735503-9D21-443F-BC18-5459550EB72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4610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 descr="图片包含 游戏机, 蓝色&#10;&#10;描述已自动生成">
            <a:extLst>
              <a:ext uri="{FF2B5EF4-FFF2-40B4-BE49-F238E27FC236}">
                <a16:creationId xmlns:a16="http://schemas.microsoft.com/office/drawing/2014/main" id="{9074DB8D-9DCA-47F7-B249-70E1090DF65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587"/>
            <a:ext cx="12192000" cy="6846827"/>
          </a:xfrm>
          <a:prstGeom prst="rect">
            <a:avLst/>
          </a:prstGeom>
        </p:spPr>
      </p:pic>
      <p:sp>
        <p:nvSpPr>
          <p:cNvPr id="12" name="矩形 11">
            <a:extLst>
              <a:ext uri="{FF2B5EF4-FFF2-40B4-BE49-F238E27FC236}">
                <a16:creationId xmlns:a16="http://schemas.microsoft.com/office/drawing/2014/main" id="{D5C15E26-F047-4D23-800B-EDF17728418F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bg1">
                  <a:lumMod val="95000"/>
                  <a:lumOff val="5000"/>
                  <a:alpha val="88000"/>
                </a:schemeClr>
              </a:gs>
              <a:gs pos="100000">
                <a:schemeClr val="bg1">
                  <a:lumMod val="95000"/>
                  <a:lumOff val="5000"/>
                  <a:alpha val="64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7" name="文本占位符 6">
            <a:extLst>
              <a:ext uri="{FF2B5EF4-FFF2-40B4-BE49-F238E27FC236}">
                <a16:creationId xmlns:a16="http://schemas.microsoft.com/office/drawing/2014/main" id="{8BAACAFB-E078-41E5-BE32-2CCD597E1D45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7867649" y="6109861"/>
            <a:ext cx="3651251" cy="180659"/>
          </a:xfrm>
        </p:spPr>
        <p:txBody>
          <a:bodyPr vert="horz" wrap="none" lIns="91440" tIns="45720" rIns="91440" bIns="45720" rtlCol="0" anchor="ctr">
            <a:noAutofit/>
          </a:bodyPr>
          <a:lstStyle>
            <a:lvl1pPr marL="0" indent="0" algn="r">
              <a:buNone/>
              <a:defRPr lang="zh-CN" altLang="en-US" sz="1050" b="0" dirty="0" smtClean="0">
                <a:ln>
                  <a:noFill/>
                </a:ln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573" lvl="0" indent="-228573" algn="r">
              <a:spcBef>
                <a:spcPct val="0"/>
              </a:spcBef>
            </a:pPr>
            <a:r>
              <a:rPr lang="en-US" altLang="zh-CN" dirty="0"/>
              <a:t>Speaker name and title</a:t>
            </a:r>
          </a:p>
        </p:txBody>
      </p:sp>
      <p:sp>
        <p:nvSpPr>
          <p:cNvPr id="8" name="文本占位符 7">
            <a:extLst>
              <a:ext uri="{FF2B5EF4-FFF2-40B4-BE49-F238E27FC236}">
                <a16:creationId xmlns:a16="http://schemas.microsoft.com/office/drawing/2014/main" id="{B593D43E-1697-4C76-BF37-C96E16B13488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673100" y="6109861"/>
            <a:ext cx="3651251" cy="180659"/>
          </a:xfrm>
        </p:spPr>
        <p:txBody>
          <a:bodyPr vert="horz" wrap="none" lIns="91440" tIns="45720" rIns="91440" bIns="45720" rtlCol="0" anchor="ctr">
            <a:noAutofit/>
          </a:bodyPr>
          <a:lstStyle>
            <a:lvl1pPr marL="0" indent="0" algn="l">
              <a:buNone/>
              <a:defRPr lang="zh-CN" altLang="en-US" sz="1050" b="0" dirty="0" smtClean="0">
                <a:ln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indent="0"/>
            <a:r>
              <a:rPr lang="en-US" altLang="zh-CN" dirty="0"/>
              <a:t>OfficePLUS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CA8FF249-69FA-478C-853F-D62CA2935D87}"/>
              </a:ext>
            </a:extLst>
          </p:cNvPr>
          <p:cNvSpPr>
            <a:spLocks noGrp="1"/>
          </p:cNvSpPr>
          <p:nvPr userDrawn="1">
            <p:ph type="subTitle" idx="1" hasCustomPrompt="1"/>
          </p:nvPr>
        </p:nvSpPr>
        <p:spPr>
          <a:xfrm>
            <a:off x="8297449" y="4789356"/>
            <a:ext cx="3179478" cy="521235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050">
                <a:solidFill>
                  <a:srgbClr val="FFFFFF"/>
                </a:solidFill>
              </a:defRPr>
            </a:lvl1pPr>
            <a:lvl2pPr marL="457167" indent="0" algn="ctr">
              <a:buNone/>
              <a:defRPr sz="2000"/>
            </a:lvl2pPr>
            <a:lvl3pPr marL="914332" indent="0" algn="ctr">
              <a:buNone/>
              <a:defRPr sz="1800"/>
            </a:lvl3pPr>
            <a:lvl4pPr marL="1371498" indent="0" algn="ctr">
              <a:buNone/>
              <a:defRPr sz="1600"/>
            </a:lvl4pPr>
            <a:lvl5pPr marL="1828664" indent="0" algn="ctr">
              <a:buNone/>
              <a:defRPr sz="1600"/>
            </a:lvl5pPr>
            <a:lvl6pPr marL="2285830" indent="0" algn="ctr">
              <a:buNone/>
              <a:defRPr sz="1600"/>
            </a:lvl6pPr>
            <a:lvl7pPr marL="2742994" indent="0" algn="ctr">
              <a:buNone/>
              <a:defRPr sz="1600"/>
            </a:lvl7pPr>
            <a:lvl8pPr marL="3200160" indent="0" algn="ctr">
              <a:buNone/>
              <a:defRPr sz="1600"/>
            </a:lvl8pPr>
            <a:lvl9pPr marL="3657327" indent="0" algn="ctr">
              <a:buNone/>
              <a:defRPr sz="1600"/>
            </a:lvl9pPr>
          </a:lstStyle>
          <a:p>
            <a:r>
              <a:rPr lang="en-US" altLang="zh-CN" dirty="0"/>
              <a:t>Adjust the spacing to adapt to Chinese typesetting, use the reference line in PPT.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53FD368F-863D-4527-8F6D-CEC87B7E23EE}"/>
              </a:ext>
            </a:extLst>
          </p:cNvPr>
          <p:cNvSpPr>
            <a:spLocks noGrp="1"/>
          </p:cNvSpPr>
          <p:nvPr userDrawn="1">
            <p:ph type="ctrTitle" hasCustomPrompt="1"/>
          </p:nvPr>
        </p:nvSpPr>
        <p:spPr>
          <a:xfrm>
            <a:off x="684443" y="2946899"/>
            <a:ext cx="7613006" cy="964201"/>
          </a:xfrm>
          <a:noFill/>
          <a:ln>
            <a:noFill/>
          </a:ln>
        </p:spPr>
        <p:txBody>
          <a:bodyPr vert="horz" wrap="square" lIns="91440" tIns="45720" rIns="91440" bIns="45720" rtlCol="0" anchor="b">
            <a:noAutofit/>
          </a:bodyPr>
          <a:lstStyle>
            <a:lvl1pPr>
              <a:defRPr lang="zh-CN" altLang="en-US" sz="4800" i="0" dirty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altLang="zh-CN" dirty="0"/>
              <a:t>Click to edit Master title style </a:t>
            </a:r>
            <a:endParaRPr lang="zh-CN" altLang="en-US" dirty="0"/>
          </a:p>
        </p:txBody>
      </p:sp>
      <p:sp>
        <p:nvSpPr>
          <p:cNvPr id="29" name="文本占位符 28">
            <a:extLst>
              <a:ext uri="{FF2B5EF4-FFF2-40B4-BE49-F238E27FC236}">
                <a16:creationId xmlns:a16="http://schemas.microsoft.com/office/drawing/2014/main" id="{ED6BE465-BD02-406D-811B-827A8C48C35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701222" y="3911100"/>
            <a:ext cx="5200650" cy="1306512"/>
          </a:xfrm>
        </p:spPr>
        <p:txBody>
          <a:bodyPr>
            <a:noAutofit/>
          </a:bodyPr>
          <a:lstStyle>
            <a:lvl1pPr marL="0" indent="0">
              <a:buFontTx/>
              <a:buNone/>
              <a:defRPr sz="13800" b="1">
                <a:solidFill>
                  <a:schemeClr val="tx1">
                    <a:alpha val="5000"/>
                  </a:schemeClr>
                </a:solidFill>
              </a:defRPr>
            </a:lvl1pPr>
            <a:lvl2pPr marL="457166" indent="0">
              <a:buFontTx/>
              <a:buNone/>
              <a:defRPr>
                <a:solidFill>
                  <a:schemeClr val="bg1"/>
                </a:solidFill>
              </a:defRPr>
            </a:lvl2pPr>
            <a:lvl3pPr marL="914330" indent="0">
              <a:buFontTx/>
              <a:buNone/>
              <a:defRPr>
                <a:solidFill>
                  <a:schemeClr val="bg1"/>
                </a:solidFill>
              </a:defRPr>
            </a:lvl3pPr>
            <a:lvl4pPr marL="1371496" indent="0">
              <a:buFontTx/>
              <a:buNone/>
              <a:defRPr>
                <a:solidFill>
                  <a:schemeClr val="bg1"/>
                </a:solidFill>
              </a:defRPr>
            </a:lvl4pPr>
            <a:lvl5pPr marL="1828663" indent="0">
              <a:buFontTx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 err="1"/>
              <a:t>OfficePLUS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430096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图片包含 游戏机, 蓝色&#10;&#10;描述已自动生成">
            <a:extLst>
              <a:ext uri="{FF2B5EF4-FFF2-40B4-BE49-F238E27FC236}">
                <a16:creationId xmlns:a16="http://schemas.microsoft.com/office/drawing/2014/main" id="{DEA7F1E0-3BA4-48B0-A211-D2F1E492AEC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0" y="5586"/>
            <a:ext cx="12192000" cy="6846827"/>
          </a:xfrm>
          <a:prstGeom prst="rect">
            <a:avLst/>
          </a:prstGeom>
        </p:spPr>
      </p:pic>
      <p:sp>
        <p:nvSpPr>
          <p:cNvPr id="4" name="矩形 3">
            <a:extLst>
              <a:ext uri="{FF2B5EF4-FFF2-40B4-BE49-F238E27FC236}">
                <a16:creationId xmlns:a16="http://schemas.microsoft.com/office/drawing/2014/main" id="{4E99473B-7B2B-4555-8F4C-43A4A2BC92E4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4000">
                <a:schemeClr val="bg1">
                  <a:lumMod val="95000"/>
                  <a:lumOff val="5000"/>
                  <a:alpha val="88000"/>
                </a:schemeClr>
              </a:gs>
              <a:gs pos="100000">
                <a:schemeClr val="bg1">
                  <a:lumMod val="95000"/>
                  <a:lumOff val="5000"/>
                  <a:alpha val="64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B6B40EAC-1236-4C2C-A5B0-5B2D469D0AD7}"/>
              </a:ext>
            </a:extLst>
          </p:cNvPr>
          <p:cNvSpPr>
            <a:spLocks noGrp="1"/>
          </p:cNvSpPr>
          <p:nvPr userDrawn="1">
            <p:ph type="title" hasCustomPrompt="1"/>
          </p:nvPr>
        </p:nvSpPr>
        <p:spPr>
          <a:xfrm>
            <a:off x="3635895" y="3472659"/>
            <a:ext cx="4920211" cy="681576"/>
          </a:xfrm>
        </p:spPr>
        <p:txBody>
          <a:bodyPr anchor="b">
            <a:normAutofit/>
          </a:bodyPr>
          <a:lstStyle>
            <a:lvl1pPr algn="ctr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4712325-CA12-44BF-8B8C-2D3C6232D8B6}"/>
              </a:ext>
            </a:extLst>
          </p:cNvPr>
          <p:cNvSpPr>
            <a:spLocks noGrp="1"/>
          </p:cNvSpPr>
          <p:nvPr userDrawn="1">
            <p:ph type="body" idx="1" hasCustomPrompt="1"/>
          </p:nvPr>
        </p:nvSpPr>
        <p:spPr>
          <a:xfrm>
            <a:off x="3635895" y="4255835"/>
            <a:ext cx="4920211" cy="681576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</a:defRPr>
            </a:lvl1pPr>
            <a:lvl2pPr marL="457167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32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4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66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83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299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1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327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zh-CN" dirty="0"/>
              <a:t>Click to edit Master title style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AF4A77F-477A-42CF-AB01-C5164F0848BA}"/>
              </a:ext>
            </a:extLst>
          </p:cNvPr>
          <p:cNvSpPr>
            <a:spLocks noGrp="1"/>
          </p:cNvSpPr>
          <p:nvPr userDrawn="1">
            <p:ph type="body" sz="quarter" idx="10" hasCustomPrompt="1"/>
          </p:nvPr>
        </p:nvSpPr>
        <p:spPr>
          <a:xfrm>
            <a:off x="5196681" y="1781080"/>
            <a:ext cx="1798639" cy="1589979"/>
          </a:xfrm>
        </p:spPr>
        <p:txBody>
          <a:bodyPr wrap="none">
            <a:noAutofit/>
          </a:bodyPr>
          <a:lstStyle>
            <a:lvl1pPr marL="0" indent="0" algn="ctr">
              <a:buNone/>
              <a:defRPr sz="13800" b="0">
                <a:solidFill>
                  <a:schemeClr val="tx1"/>
                </a:solidFill>
              </a:defRPr>
            </a:lvl1pPr>
            <a:lvl2pPr marL="457166" indent="0">
              <a:buNone/>
              <a:defRPr b="1">
                <a:solidFill>
                  <a:schemeClr val="bg1"/>
                </a:solidFill>
              </a:defRPr>
            </a:lvl2pPr>
            <a:lvl3pPr marL="914330" indent="0">
              <a:buNone/>
              <a:defRPr b="1">
                <a:solidFill>
                  <a:schemeClr val="bg1"/>
                </a:solidFill>
              </a:defRPr>
            </a:lvl3pPr>
            <a:lvl4pPr marL="1371496" indent="0">
              <a:buNone/>
              <a:defRPr b="1">
                <a:solidFill>
                  <a:schemeClr val="bg1"/>
                </a:solidFill>
              </a:defRPr>
            </a:lvl4pPr>
            <a:lvl5pPr marL="1828663" indent="0">
              <a:buNone/>
              <a:defRPr b="1">
                <a:solidFill>
                  <a:schemeClr val="bg1"/>
                </a:solidFill>
              </a:defRPr>
            </a:lvl5pPr>
          </a:lstStyle>
          <a:p>
            <a:pPr lvl="0"/>
            <a:r>
              <a:rPr lang="en-US" altLang="zh-CN" dirty="0"/>
              <a:t>O1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571867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组合 2">
            <a:extLst>
              <a:ext uri="{FF2B5EF4-FFF2-40B4-BE49-F238E27FC236}">
                <a16:creationId xmlns:a16="http://schemas.microsoft.com/office/drawing/2014/main" id="{4A8DE2F7-6142-4D12-A907-9E79CDAA340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286533"/>
            <a:chExt cx="12192000" cy="6858000"/>
          </a:xfrm>
        </p:grpSpPr>
        <p:pic>
          <p:nvPicPr>
            <p:cNvPr id="9" name="图片 8" descr="图片包含 游戏机, 蓝色&#10;&#10;描述已自动生成">
              <a:extLst>
                <a:ext uri="{FF2B5EF4-FFF2-40B4-BE49-F238E27FC236}">
                  <a16:creationId xmlns:a16="http://schemas.microsoft.com/office/drawing/2014/main" id="{86BADC8E-2489-4EBF-9420-6E31AF210EB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292120"/>
              <a:ext cx="12192000" cy="6846827"/>
            </a:xfrm>
            <a:prstGeom prst="rect">
              <a:avLst/>
            </a:prstGeom>
            <a:gradFill flip="none" rotWithShape="1">
              <a:gsLst>
                <a:gs pos="4000">
                  <a:schemeClr val="bg1">
                    <a:lumMod val="95000"/>
                    <a:lumOff val="5000"/>
                    <a:alpha val="70000"/>
                  </a:schemeClr>
                </a:gs>
                <a:gs pos="100000">
                  <a:schemeClr val="bg1">
                    <a:lumMod val="85000"/>
                    <a:lumOff val="15000"/>
                    <a:alpha val="52000"/>
                  </a:schemeClr>
                </a:gs>
              </a:gsLst>
              <a:lin ang="0" scaled="1"/>
              <a:tileRect/>
            </a:gradFill>
            <a:ln>
              <a:noFill/>
            </a:ln>
          </p:spPr>
        </p:pic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859174CF-9F8D-46D3-B42D-F4D9C094B9E8}"/>
                </a:ext>
              </a:extLst>
            </p:cNvPr>
            <p:cNvSpPr/>
            <p:nvPr userDrawn="1"/>
          </p:nvSpPr>
          <p:spPr>
            <a:xfrm>
              <a:off x="0" y="286533"/>
              <a:ext cx="12192000" cy="6858000"/>
            </a:xfrm>
            <a:prstGeom prst="rect">
              <a:avLst/>
            </a:prstGeom>
            <a:gradFill flip="none" rotWithShape="1">
              <a:gsLst>
                <a:gs pos="4000">
                  <a:schemeClr val="bg1">
                    <a:lumMod val="95000"/>
                    <a:lumOff val="5000"/>
                    <a:alpha val="97000"/>
                  </a:schemeClr>
                </a:gs>
                <a:gs pos="100000">
                  <a:schemeClr val="bg1">
                    <a:lumMod val="95000"/>
                    <a:lumOff val="5000"/>
                    <a:alpha val="82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dirty="0"/>
            </a:p>
          </p:txBody>
        </p:sp>
      </p:grpSp>
      <p:sp>
        <p:nvSpPr>
          <p:cNvPr id="2" name="标题 1">
            <a:extLst>
              <a:ext uri="{FF2B5EF4-FFF2-40B4-BE49-F238E27FC236}">
                <a16:creationId xmlns:a16="http://schemas.microsoft.com/office/drawing/2014/main" id="{D95B5B30-EAE6-475D-9E77-B9C4E87F9C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6" name="日期占位符 5">
            <a:extLst>
              <a:ext uri="{FF2B5EF4-FFF2-40B4-BE49-F238E27FC236}">
                <a16:creationId xmlns:a16="http://schemas.microsoft.com/office/drawing/2014/main" id="{F27A5331-58C4-4210-9B29-7D209EC69FA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01732" y="6235706"/>
            <a:ext cx="1388536" cy="206381"/>
          </a:xfrm>
          <a:prstGeom prst="rect">
            <a:avLst/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7" name="页脚占位符 6">
            <a:extLst>
              <a:ext uri="{FF2B5EF4-FFF2-40B4-BE49-F238E27FC236}">
                <a16:creationId xmlns:a16="http://schemas.microsoft.com/office/drawing/2014/main" id="{CAC1F83E-F48A-4A82-AEA9-9C5660FBDC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60404" y="6235706"/>
            <a:ext cx="4140201" cy="206381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1D47482C-BA78-45A4-AAF3-F9A7E84F9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971305" y="6235706"/>
            <a:ext cx="2547595" cy="206381"/>
          </a:xfrm>
          <a:prstGeom prst="rect">
            <a:avLst/>
          </a:prstGeom>
        </p:spPr>
        <p:txBody>
          <a:bodyPr/>
          <a:lstStyle/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51123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672A6749-9C6D-4DCD-A24E-B5A08663EA6D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286533"/>
            <a:chExt cx="12192000" cy="6858000"/>
          </a:xfrm>
        </p:grpSpPr>
        <p:pic>
          <p:nvPicPr>
            <p:cNvPr id="3" name="图片 2" descr="图片包含 游戏机, 蓝色&#10;&#10;描述已自动生成">
              <a:extLst>
                <a:ext uri="{FF2B5EF4-FFF2-40B4-BE49-F238E27FC236}">
                  <a16:creationId xmlns:a16="http://schemas.microsoft.com/office/drawing/2014/main" id="{808B8D93-CF07-4139-A5EB-9BAA8A6202E5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292120"/>
              <a:ext cx="12192000" cy="6846827"/>
            </a:xfrm>
            <a:prstGeom prst="rect">
              <a:avLst/>
            </a:prstGeom>
          </p:spPr>
        </p:pic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A850005-FBE9-4FE9-9A91-4F8898AE6A27}"/>
                </a:ext>
              </a:extLst>
            </p:cNvPr>
            <p:cNvSpPr/>
            <p:nvPr userDrawn="1"/>
          </p:nvSpPr>
          <p:spPr>
            <a:xfrm>
              <a:off x="0" y="286533"/>
              <a:ext cx="12192000" cy="6858000"/>
            </a:xfrm>
            <a:prstGeom prst="rect">
              <a:avLst/>
            </a:prstGeom>
            <a:gradFill flip="none" rotWithShape="1">
              <a:gsLst>
                <a:gs pos="4000">
                  <a:schemeClr val="bg1">
                    <a:lumMod val="95000"/>
                    <a:lumOff val="5000"/>
                    <a:alpha val="97000"/>
                  </a:schemeClr>
                </a:gs>
                <a:gs pos="100000">
                  <a:schemeClr val="bg1">
                    <a:lumMod val="95000"/>
                    <a:lumOff val="5000"/>
                    <a:alpha val="82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34721742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>
            <a:extLst>
              <a:ext uri="{FF2B5EF4-FFF2-40B4-BE49-F238E27FC236}">
                <a16:creationId xmlns:a16="http://schemas.microsoft.com/office/drawing/2014/main" id="{98F60BE4-4A9D-4CF0-85F4-AAE1506D9FEB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267483"/>
            <a:chExt cx="12192000" cy="6858000"/>
          </a:xfrm>
        </p:grpSpPr>
        <p:pic>
          <p:nvPicPr>
            <p:cNvPr id="12" name="图片 11" descr="图片包含 游戏机, 蓝色&#10;&#10;描述已自动生成">
              <a:extLst>
                <a:ext uri="{FF2B5EF4-FFF2-40B4-BE49-F238E27FC236}">
                  <a16:creationId xmlns:a16="http://schemas.microsoft.com/office/drawing/2014/main" id="{8B70A9F1-5D58-443C-97C5-24869A6AEE33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screen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0" y="273070"/>
              <a:ext cx="12192000" cy="6846827"/>
            </a:xfrm>
            <a:prstGeom prst="rect">
              <a:avLst/>
            </a:prstGeom>
          </p:spPr>
        </p:pic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BF5E0FD6-C0B1-40DC-B2D5-4A291CA38820}"/>
                </a:ext>
              </a:extLst>
            </p:cNvPr>
            <p:cNvSpPr/>
            <p:nvPr userDrawn="1"/>
          </p:nvSpPr>
          <p:spPr>
            <a:xfrm>
              <a:off x="0" y="267483"/>
              <a:ext cx="12192000" cy="6858000"/>
            </a:xfrm>
            <a:prstGeom prst="rect">
              <a:avLst/>
            </a:prstGeom>
            <a:gradFill flip="none" rotWithShape="1">
              <a:gsLst>
                <a:gs pos="4000">
                  <a:schemeClr val="bg1">
                    <a:lumMod val="95000"/>
                    <a:lumOff val="5000"/>
                    <a:alpha val="88000"/>
                  </a:schemeClr>
                </a:gs>
                <a:gs pos="100000">
                  <a:schemeClr val="bg1">
                    <a:lumMod val="95000"/>
                    <a:lumOff val="5000"/>
                    <a:alpha val="64000"/>
                  </a:scheme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lvl="0" algn="ctr"/>
              <a:endParaRPr lang="zh-CN" altLang="en-US" dirty="0"/>
            </a:p>
          </p:txBody>
        </p:sp>
      </p:grpSp>
      <p:sp>
        <p:nvSpPr>
          <p:cNvPr id="11" name="任意多边形: 形状 10">
            <a:extLst>
              <a:ext uri="{FF2B5EF4-FFF2-40B4-BE49-F238E27FC236}">
                <a16:creationId xmlns:a16="http://schemas.microsoft.com/office/drawing/2014/main" id="{0A271160-581E-4BCE-BACF-7271659F1D01}"/>
              </a:ext>
            </a:extLst>
          </p:cNvPr>
          <p:cNvSpPr/>
          <p:nvPr/>
        </p:nvSpPr>
        <p:spPr>
          <a:xfrm>
            <a:off x="12191319" y="0"/>
            <a:ext cx="684" cy="13546"/>
          </a:xfrm>
          <a:custGeom>
            <a:avLst/>
            <a:gdLst>
              <a:gd name="connsiteX0" fmla="*/ 0 w 684"/>
              <a:gd name="connsiteY0" fmla="*/ 0 h 13546"/>
              <a:gd name="connsiteX1" fmla="*/ 684 w 684"/>
              <a:gd name="connsiteY1" fmla="*/ 0 h 13546"/>
              <a:gd name="connsiteX2" fmla="*/ 684 w 684"/>
              <a:gd name="connsiteY2" fmla="*/ 13546 h 13546"/>
              <a:gd name="connsiteX3" fmla="*/ 0 w 684"/>
              <a:gd name="connsiteY3" fmla="*/ 0 h 13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84" h="13546">
                <a:moveTo>
                  <a:pt x="0" y="0"/>
                </a:moveTo>
                <a:lnTo>
                  <a:pt x="684" y="0"/>
                </a:lnTo>
                <a:lnTo>
                  <a:pt x="684" y="13546"/>
                </a:lnTo>
                <a:lnTo>
                  <a:pt x="0" y="0"/>
                </a:lnTo>
                <a:close/>
              </a:path>
            </a:pathLst>
          </a:custGeom>
          <a:solidFill>
            <a:schemeClr val="bg1"/>
          </a:solidFill>
          <a:ln w="1401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zh-CN" altLang="en-US" sz="1800">
              <a:solidFill>
                <a:schemeClr val="tx1"/>
              </a:solidFill>
            </a:endParaRPr>
          </a:p>
        </p:txBody>
      </p:sp>
      <p:sp>
        <p:nvSpPr>
          <p:cNvPr id="23" name="文本占位符 22">
            <a:extLst>
              <a:ext uri="{FF2B5EF4-FFF2-40B4-BE49-F238E27FC236}">
                <a16:creationId xmlns:a16="http://schemas.microsoft.com/office/drawing/2014/main" id="{14C84A20-CF9D-4080-959D-55F32AB29A8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60399" y="6082576"/>
            <a:ext cx="1498339" cy="230832"/>
          </a:xfrm>
        </p:spPr>
        <p:txBody>
          <a:bodyPr vert="horz" wrap="none" lIns="91440" tIns="45720" rIns="91440" bIns="45720" rtlCol="0" anchor="ctr">
            <a:noAutofit/>
          </a:bodyPr>
          <a:lstStyle>
            <a:lvl1pPr marL="0" indent="0">
              <a:buFontTx/>
              <a:buNone/>
              <a:defRPr lang="en-US" altLang="zh-CN" sz="1050" b="0" dirty="0" smtClean="0">
                <a:ln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584" lvl="0" indent="-228584"/>
            <a:r>
              <a:rPr lang="en-US" altLang="zh-CN" dirty="0"/>
              <a:t>OfficePLUS</a:t>
            </a:r>
          </a:p>
        </p:txBody>
      </p:sp>
      <p:sp>
        <p:nvSpPr>
          <p:cNvPr id="27" name="文本占位符 26">
            <a:extLst>
              <a:ext uri="{FF2B5EF4-FFF2-40B4-BE49-F238E27FC236}">
                <a16:creationId xmlns:a16="http://schemas.microsoft.com/office/drawing/2014/main" id="{FEA7D86A-A334-4E0C-B01B-43F345A176D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314441" y="6082576"/>
            <a:ext cx="3204458" cy="230832"/>
          </a:xfrm>
        </p:spPr>
        <p:txBody>
          <a:bodyPr vert="horz" wrap="none" lIns="91440" tIns="45720" rIns="91440" bIns="45720" rtlCol="0" anchor="ctr">
            <a:noAutofit/>
          </a:bodyPr>
          <a:lstStyle>
            <a:lvl1pPr>
              <a:defRPr lang="en-US" altLang="zh-CN" sz="1050" b="0" dirty="0">
                <a:ln>
                  <a:noFill/>
                </a:ln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228573" marR="0" lvl="0" indent="-228573" algn="r" defTabSz="91433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zh-CN" dirty="0"/>
              <a:t>Speaker name and title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C1A48BB-A1A1-4744-B0D3-FD4F42C33B9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75000" y="2737247"/>
            <a:ext cx="5842001" cy="1383506"/>
          </a:xfrm>
        </p:spPr>
        <p:txBody>
          <a:bodyPr vert="horz" lIns="91440" tIns="45720" rIns="91440" bIns="45720" rtlCol="0" anchor="b">
            <a:noAutofit/>
          </a:bodyPr>
          <a:lstStyle>
            <a:lvl1pPr algn="ctr">
              <a:defRPr lang="en-US" altLang="zh-CN" sz="8000" b="1" i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>
              <a:spcBef>
                <a:spcPct val="0"/>
              </a:spcBef>
              <a:buNone/>
            </a:pPr>
            <a:r>
              <a:rPr lang="en-US" altLang="zh-C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1694720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2EDE83-63CC-4B33-B715-3953EADE21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/>
              <a:t>Click to edit Master title style</a:t>
            </a: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514619F-25D0-4307-81CD-C24C74EF14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8B5987-9647-4253-899C-3B9819D6D8A0}" type="datetime1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802B25F-898B-4C1A-94A9-699B8B55DF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A842F0A-76EB-4E77-8AF6-5F91F22881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3246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61F18504-D86E-411A-B171-2A74DE296A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3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68A4509-A6D7-41B5-BE28-213FB58E8B7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60403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二级</a:t>
            </a:r>
          </a:p>
          <a:p>
            <a:pPr lvl="2"/>
            <a:r>
              <a:rPr lang="zh-CN" altLang="en-US" dirty="0"/>
              <a:t>三级</a:t>
            </a:r>
          </a:p>
          <a:p>
            <a:pPr lvl="3"/>
            <a:r>
              <a:rPr lang="zh-CN" altLang="en-US" dirty="0"/>
              <a:t>四级</a:t>
            </a:r>
          </a:p>
          <a:p>
            <a:pPr lvl="4"/>
            <a:r>
              <a:rPr lang="zh-CN" altLang="en-US" dirty="0"/>
              <a:t>五级</a:t>
            </a:r>
          </a:p>
        </p:txBody>
      </p:sp>
      <p:sp>
        <p:nvSpPr>
          <p:cNvPr id="10" name="日期占位符 9">
            <a:extLst>
              <a:ext uri="{FF2B5EF4-FFF2-40B4-BE49-F238E27FC236}">
                <a16:creationId xmlns:a16="http://schemas.microsoft.com/office/drawing/2014/main" id="{6DEDA773-1B71-4202-AD8A-0D33468FE90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01732" y="6235706"/>
            <a:ext cx="1388536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C0483E03-0186-4754-8285-0D57953FBD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0404" y="6235706"/>
            <a:ext cx="4140201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zh-CN" altLang="en-US"/>
              <a:t>请在插入菜单</a:t>
            </a:r>
            <a:r>
              <a:rPr lang="en-US" altLang="zh-CN"/>
              <a:t>—</a:t>
            </a:r>
            <a:r>
              <a:rPr lang="zh-CN" altLang="en-US"/>
              <a:t>页眉和页脚中修改此文本</a:t>
            </a:r>
            <a:endParaRPr lang="zh-CN" altLang="en-US" dirty="0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7E8030F2-F0B4-4140-B9B5-8B5B27074E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971305" y="6235706"/>
            <a:ext cx="2547595" cy="20638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5DD3DB80-B894-403A-B48E-6FDC1A72010E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4005926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4" r:id="rId3"/>
    <p:sldLayoutId id="2147483655" r:id="rId4"/>
    <p:sldLayoutId id="2147483660" r:id="rId5"/>
    <p:sldLayoutId id="2147483661" r:id="rId6"/>
  </p:sldLayoutIdLst>
  <p:txStyles>
    <p:titleStyle>
      <a:lvl1pPr algn="l" defTabSz="914332" rtl="0" eaLnBrk="1" latinLnBrk="0" hangingPunct="1">
        <a:lnSpc>
          <a:spcPct val="90000"/>
        </a:lnSpc>
        <a:spcBef>
          <a:spcPct val="0"/>
        </a:spcBef>
        <a:buNone/>
        <a:defRPr sz="2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84" indent="-228584" algn="l" defTabSz="914332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5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1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8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247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412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578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744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910" indent="-228584" algn="l" defTabSz="914332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6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32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98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66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83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994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160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327" algn="l" defTabSz="91433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16" userDrawn="1">
          <p15:clr>
            <a:srgbClr val="F26B43"/>
          </p15:clr>
        </p15:guide>
        <p15:guide id="2" pos="7256" userDrawn="1">
          <p15:clr>
            <a:srgbClr val="F26B43"/>
          </p15:clr>
        </p15:guide>
        <p15:guide id="3" orient="horz" pos="648" userDrawn="1">
          <p15:clr>
            <a:srgbClr val="F26B43"/>
          </p15:clr>
        </p15:guide>
        <p15:guide id="4" orient="horz" pos="712" userDrawn="1">
          <p15:clr>
            <a:srgbClr val="F26B43"/>
          </p15:clr>
        </p15:guide>
        <p15:guide id="5" orient="horz" pos="3928" userDrawn="1">
          <p15:clr>
            <a:srgbClr val="F26B43"/>
          </p15:clr>
        </p15:guide>
        <p15:guide id="6" orient="horz" pos="3864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tags" Target="../tags/tag2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4.xml"/><Relationship Id="rId2" Type="http://schemas.openxmlformats.org/officeDocument/2006/relationships/tags" Target="../tags/tag3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10.xml"/><Relationship Id="rId3" Type="http://schemas.openxmlformats.org/officeDocument/2006/relationships/tags" Target="../tags/tag5.xml"/><Relationship Id="rId7" Type="http://schemas.openxmlformats.org/officeDocument/2006/relationships/tags" Target="../tags/tag9.xml"/><Relationship Id="rId12" Type="http://schemas.openxmlformats.org/officeDocument/2006/relationships/slideLayout" Target="../slideLayouts/slideLayout3.xml"/><Relationship Id="rId2" Type="http://schemas.openxmlformats.org/officeDocument/2006/relationships/tags" Target="../tags/tag4.xml"/><Relationship Id="rId1" Type="http://schemas.openxmlformats.org/officeDocument/2006/relationships/themeOverride" Target="../theme/themeOverride4.xml"/><Relationship Id="rId6" Type="http://schemas.openxmlformats.org/officeDocument/2006/relationships/tags" Target="../tags/tag8.xml"/><Relationship Id="rId11" Type="http://schemas.openxmlformats.org/officeDocument/2006/relationships/tags" Target="../tags/tag13.xml"/><Relationship Id="rId5" Type="http://schemas.openxmlformats.org/officeDocument/2006/relationships/tags" Target="../tags/tag7.xml"/><Relationship Id="rId10" Type="http://schemas.openxmlformats.org/officeDocument/2006/relationships/tags" Target="../tags/tag12.xml"/><Relationship Id="rId4" Type="http://schemas.openxmlformats.org/officeDocument/2006/relationships/tags" Target="../tags/tag6.xml"/><Relationship Id="rId9" Type="http://schemas.openxmlformats.org/officeDocument/2006/relationships/tags" Target="../tags/tag1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tags" Target="../tags/tag1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6.xml"/><Relationship Id="rId4" Type="http://schemas.openxmlformats.org/officeDocument/2006/relationships/chart" Target="../charts/char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tags" Target="../tags/tag18.xml"/><Relationship Id="rId1" Type="http://schemas.openxmlformats.org/officeDocument/2006/relationships/themeOverride" Target="../theme/themeOverride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3.xml"/><Relationship Id="rId1" Type="http://schemas.openxmlformats.org/officeDocument/2006/relationships/tags" Target="../tags/tag19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tags" Target="../tags/tag32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5" Type="http://schemas.openxmlformats.org/officeDocument/2006/relationships/tags" Target="../tags/tag24.xml"/><Relationship Id="rId10" Type="http://schemas.openxmlformats.org/officeDocument/2006/relationships/tags" Target="../tags/tag29.xml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文本占位符 20">
            <a:extLst>
              <a:ext uri="{FF2B5EF4-FFF2-40B4-BE49-F238E27FC236}">
                <a16:creationId xmlns:a16="http://schemas.microsoft.com/office/drawing/2014/main" id="{0537A452-CB1F-4A35-8583-8D24767328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01674" y="3756025"/>
            <a:ext cx="8010178" cy="1306513"/>
          </a:xfrm>
        </p:spPr>
        <p:txBody>
          <a:bodyPr/>
          <a:lstStyle/>
          <a:p>
            <a:r>
              <a:rPr lang="en-US" altLang="zh-CN" dirty="0"/>
              <a:t>Argus team</a:t>
            </a:r>
          </a:p>
          <a:p>
            <a:r>
              <a:rPr lang="en-US" altLang="zh-CN" dirty="0"/>
              <a:t> </a:t>
            </a:r>
          </a:p>
          <a:p>
            <a:endParaRPr lang="zh-CN" altLang="en-US" dirty="0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30E511-2775-4897-92AE-0A532523EEA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7867649" y="6109861"/>
            <a:ext cx="3651251" cy="180659"/>
          </a:xfrm>
        </p:spPr>
        <p:txBody>
          <a:bodyPr/>
          <a:lstStyle/>
          <a:p>
            <a:r>
              <a:rPr lang="en-US" altLang="zh-CN" dirty="0"/>
              <a:t>Designed by Jamie Dou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3FB5A465-282C-4764-8F48-F0C288582B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7449" y="4789488"/>
            <a:ext cx="3179762" cy="520700"/>
          </a:xfrm>
        </p:spPr>
        <p:txBody>
          <a:bodyPr vert="horz" lIns="91440" tIns="45720" rIns="91440" bIns="45720" rtlCol="0" anchor="b">
            <a:noAutofit/>
          </a:bodyPr>
          <a:lstStyle/>
          <a:p>
            <a:pPr marL="0" indent="0">
              <a:buNone/>
            </a:pPr>
            <a:r>
              <a:rPr lang="zh-CN" altLang="en-US" sz="1600" dirty="0"/>
              <a:t>汇报人：温子墨</a:t>
            </a: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21A1339-D73A-490C-A6D7-6F87ABF0BC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4443" y="2946899"/>
            <a:ext cx="7613006" cy="964201"/>
          </a:xfrm>
          <a:noFill/>
          <a:ln>
            <a:noFill/>
          </a:ln>
        </p:spPr>
        <p:txBody>
          <a:bodyPr vert="horz" wrap="square" lIns="91440" tIns="45720" rIns="91440" bIns="45720" rtlCol="0" anchor="b">
            <a:noAutofit/>
          </a:bodyPr>
          <a:lstStyle/>
          <a:p>
            <a:r>
              <a:rPr lang="en-US" altLang="zh-CN" dirty="0">
                <a:solidFill>
                  <a:schemeClr val="accent3"/>
                </a:solidFill>
              </a:rPr>
              <a:t>ARGUS</a:t>
            </a:r>
            <a:r>
              <a:rPr lang="en-US" altLang="zh-CN" dirty="0"/>
              <a:t> </a:t>
            </a:r>
            <a:r>
              <a:rPr lang="zh-CN" altLang="en-US" dirty="0"/>
              <a:t>商业计划书</a:t>
            </a:r>
            <a:br>
              <a:rPr lang="en-US" altLang="zh-CN" dirty="0"/>
            </a:br>
            <a:r>
              <a:rPr lang="zh-CN" altLang="en-US" sz="2800" spc="300" dirty="0">
                <a:sym typeface="Arial" panose="020B0604020202020204" pitchFamily="34" charset="0"/>
              </a:rPr>
              <a:t>全天候 全领域</a:t>
            </a:r>
            <a:r>
              <a:rPr lang="en-US" altLang="zh-CN" sz="2800" spc="300" dirty="0">
                <a:sym typeface="Arial" panose="020B0604020202020204" pitchFamily="34" charset="0"/>
              </a:rPr>
              <a:t>AI</a:t>
            </a:r>
            <a:r>
              <a:rPr lang="zh-CN" altLang="en-US" sz="2800" spc="300" dirty="0">
                <a:sym typeface="Arial" panose="020B0604020202020204" pitchFamily="34" charset="0"/>
              </a:rPr>
              <a:t>研究引擎</a:t>
            </a:r>
            <a:endParaRPr lang="zh-CN" altLang="en-US" sz="2800" spc="30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25ABE73-6F77-4826-A5B4-11494AA26E90}"/>
              </a:ext>
            </a:extLst>
          </p:cNvPr>
          <p:cNvSpPr txBox="1"/>
          <p:nvPr/>
        </p:nvSpPr>
        <p:spPr>
          <a:xfrm>
            <a:off x="660400" y="567480"/>
            <a:ext cx="1574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LOGO H</a:t>
            </a:r>
            <a:r>
              <a:rPr lang="en-US" altLang="zh-CN" sz="133" b="1" dirty="0"/>
              <a:t> </a:t>
            </a:r>
            <a:r>
              <a:rPr lang="en-US" altLang="zh-CN" b="1" dirty="0"/>
              <a:t>ERE</a:t>
            </a:r>
            <a:endParaRPr lang="zh-CN" altLang="en-US" b="1" dirty="0"/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D9FFF7C-6684-4457-BC74-1912A22EDCEA}"/>
              </a:ext>
            </a:extLst>
          </p:cNvPr>
          <p:cNvCxnSpPr>
            <a:cxnSpLocks/>
          </p:cNvCxnSpPr>
          <p:nvPr/>
        </p:nvCxnSpPr>
        <p:spPr>
          <a:xfrm>
            <a:off x="8390000" y="4789488"/>
            <a:ext cx="51905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2"/>
    </p:custDataLst>
    <p:extLst>
      <p:ext uri="{BB962C8B-B14F-4D97-AF65-F5344CB8AC3E}">
        <p14:creationId xmlns:p14="http://schemas.microsoft.com/office/powerpoint/2010/main" val="15742478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文本框 10">
            <a:extLst>
              <a:ext uri="{FF2B5EF4-FFF2-40B4-BE49-F238E27FC236}">
                <a16:creationId xmlns:a16="http://schemas.microsoft.com/office/drawing/2014/main" id="{6C349ACE-08D1-4C5D-9610-8820BD289A53}"/>
              </a:ext>
            </a:extLst>
          </p:cNvPr>
          <p:cNvSpPr txBox="1"/>
          <p:nvPr/>
        </p:nvSpPr>
        <p:spPr>
          <a:xfrm>
            <a:off x="660400" y="874703"/>
            <a:ext cx="514796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altLang="zh-CN" sz="60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contents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2401D28B-28DC-4CD5-ABC0-E634602C1C5C}"/>
              </a:ext>
            </a:extLst>
          </p:cNvPr>
          <p:cNvGrpSpPr/>
          <p:nvPr/>
        </p:nvGrpSpPr>
        <p:grpSpPr>
          <a:xfrm>
            <a:off x="1791650" y="2838559"/>
            <a:ext cx="1952442" cy="2130351"/>
            <a:chOff x="8535626" y="2444077"/>
            <a:chExt cx="1952442" cy="2130351"/>
          </a:xfrm>
        </p:grpSpPr>
        <p:sp>
          <p:nvSpPr>
            <p:cNvPr id="15" name="文本框 14">
              <a:extLst>
                <a:ext uri="{FF2B5EF4-FFF2-40B4-BE49-F238E27FC236}">
                  <a16:creationId xmlns:a16="http://schemas.microsoft.com/office/drawing/2014/main" id="{4CA7F026-58C4-4617-90CE-C1F82A78DC6A}"/>
                </a:ext>
              </a:extLst>
            </p:cNvPr>
            <p:cNvSpPr txBox="1"/>
            <p:nvPr/>
          </p:nvSpPr>
          <p:spPr>
            <a:xfrm>
              <a:off x="8808110" y="2701167"/>
              <a:ext cx="1298405" cy="1107996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zh-CN"/>
              </a:defPPr>
              <a:lvl1pPr algn="ctr" defTabSz="914354">
                <a:defRPr sz="6600" b="0">
                  <a:solidFill>
                    <a:schemeClr val="tx1">
                      <a:lumMod val="50000"/>
                      <a:lumOff val="50000"/>
                      <a:alpha val="8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dirty="0"/>
                <a:t>01</a:t>
              </a:r>
              <a:endParaRPr lang="zh-CN" altLang="en-US" dirty="0"/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34748C8F-8D52-43B0-AAD0-87B5E556A6A4}"/>
                </a:ext>
              </a:extLst>
            </p:cNvPr>
            <p:cNvSpPr txBox="1"/>
            <p:nvPr/>
          </p:nvSpPr>
          <p:spPr>
            <a:xfrm>
              <a:off x="8535626" y="4205096"/>
              <a:ext cx="1952442" cy="369332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zh-CN"/>
              </a:defPPr>
              <a:lvl1pPr algn="ctr" defTabSz="914354">
                <a:defRPr sz="1400" b="1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sz="1800" b="0" dirty="0"/>
                <a:t>痛点与机会</a:t>
              </a:r>
              <a:endParaRPr lang="en-US" altLang="zh-CN" sz="1800" b="0" dirty="0"/>
            </a:p>
          </p:txBody>
        </p:sp>
        <p:sp>
          <p:nvSpPr>
            <p:cNvPr id="18" name="弧形 17">
              <a:extLst>
                <a:ext uri="{FF2B5EF4-FFF2-40B4-BE49-F238E27FC236}">
                  <a16:creationId xmlns:a16="http://schemas.microsoft.com/office/drawing/2014/main" id="{EC2979D3-FEAC-4B3E-8513-9372133EF828}"/>
                </a:ext>
              </a:extLst>
            </p:cNvPr>
            <p:cNvSpPr/>
            <p:nvPr/>
          </p:nvSpPr>
          <p:spPr>
            <a:xfrm rot="3231425">
              <a:off x="8613193" y="2628303"/>
              <a:ext cx="1688236" cy="1319784"/>
            </a:xfrm>
            <a:prstGeom prst="arc">
              <a:avLst>
                <a:gd name="adj1" fmla="val 16200000"/>
                <a:gd name="adj2" fmla="val 12111527"/>
              </a:avLst>
            </a:prstGeom>
            <a:ln w="76200" cap="rnd">
              <a:gradFill>
                <a:gsLst>
                  <a:gs pos="100000">
                    <a:schemeClr val="accent3">
                      <a:lumMod val="60000"/>
                      <a:lumOff val="40000"/>
                      <a:alpha val="0"/>
                    </a:schemeClr>
                  </a:gs>
                  <a:gs pos="20000">
                    <a:schemeClr val="accent3"/>
                  </a:gs>
                </a:gsLst>
                <a:lin ang="120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C82187E3-C6F7-4622-89A1-12C6045448A1}"/>
              </a:ext>
            </a:extLst>
          </p:cNvPr>
          <p:cNvGrpSpPr/>
          <p:nvPr/>
        </p:nvGrpSpPr>
        <p:grpSpPr>
          <a:xfrm>
            <a:off x="4062901" y="2838559"/>
            <a:ext cx="1952442" cy="2130351"/>
            <a:chOff x="8535626" y="2444077"/>
            <a:chExt cx="1952442" cy="2130351"/>
          </a:xfrm>
        </p:grpSpPr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id="{6A1B295B-09A3-4F3C-BA0B-E843015764DD}"/>
                </a:ext>
              </a:extLst>
            </p:cNvPr>
            <p:cNvSpPr txBox="1"/>
            <p:nvPr/>
          </p:nvSpPr>
          <p:spPr>
            <a:xfrm>
              <a:off x="8808110" y="2701167"/>
              <a:ext cx="1298405" cy="1107996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zh-CN"/>
              </a:defPPr>
              <a:lvl1pPr algn="ctr" defTabSz="914354">
                <a:defRPr sz="6600" b="0">
                  <a:solidFill>
                    <a:schemeClr val="tx1">
                      <a:lumMod val="50000"/>
                      <a:lumOff val="50000"/>
                      <a:alpha val="8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dirty="0"/>
                <a:t>02</a:t>
              </a:r>
              <a:endParaRPr lang="zh-CN" altLang="en-US" dirty="0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FF626424-8CEC-46C8-987D-6F1258042752}"/>
                </a:ext>
              </a:extLst>
            </p:cNvPr>
            <p:cNvSpPr txBox="1"/>
            <p:nvPr/>
          </p:nvSpPr>
          <p:spPr>
            <a:xfrm>
              <a:off x="8535626" y="4205096"/>
              <a:ext cx="1952442" cy="369332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zh-CN"/>
              </a:defPPr>
              <a:lvl1pPr algn="ctr" defTabSz="914354">
                <a:defRPr b="0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dirty="0"/>
                <a:t>产品与项目进展</a:t>
              </a:r>
              <a:endParaRPr lang="en-US" altLang="zh-CN" dirty="0"/>
            </a:p>
          </p:txBody>
        </p:sp>
        <p:sp>
          <p:nvSpPr>
            <p:cNvPr id="30" name="弧形 29">
              <a:extLst>
                <a:ext uri="{FF2B5EF4-FFF2-40B4-BE49-F238E27FC236}">
                  <a16:creationId xmlns:a16="http://schemas.microsoft.com/office/drawing/2014/main" id="{F1FA967B-CCBF-43B8-BEFD-4BC59C9596A5}"/>
                </a:ext>
              </a:extLst>
            </p:cNvPr>
            <p:cNvSpPr/>
            <p:nvPr/>
          </p:nvSpPr>
          <p:spPr>
            <a:xfrm rot="3231425">
              <a:off x="8613193" y="2628303"/>
              <a:ext cx="1688236" cy="1319784"/>
            </a:xfrm>
            <a:prstGeom prst="arc">
              <a:avLst>
                <a:gd name="adj1" fmla="val 16200000"/>
                <a:gd name="adj2" fmla="val 12111527"/>
              </a:avLst>
            </a:prstGeom>
            <a:ln w="76200" cap="rnd">
              <a:gradFill>
                <a:gsLst>
                  <a:gs pos="100000">
                    <a:schemeClr val="accent3">
                      <a:lumMod val="60000"/>
                      <a:lumOff val="40000"/>
                      <a:alpha val="0"/>
                    </a:schemeClr>
                  </a:gs>
                  <a:gs pos="20000">
                    <a:schemeClr val="accent3"/>
                  </a:gs>
                </a:gsLst>
                <a:lin ang="120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D92F4981-2618-413E-8DCF-4639D7155733}"/>
              </a:ext>
            </a:extLst>
          </p:cNvPr>
          <p:cNvGrpSpPr/>
          <p:nvPr/>
        </p:nvGrpSpPr>
        <p:grpSpPr>
          <a:xfrm>
            <a:off x="6363419" y="2838559"/>
            <a:ext cx="1952442" cy="2130351"/>
            <a:chOff x="8535626" y="2444077"/>
            <a:chExt cx="1952442" cy="2130351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3C8E38F1-4447-491B-A637-99644FA0C8A7}"/>
                </a:ext>
              </a:extLst>
            </p:cNvPr>
            <p:cNvSpPr txBox="1"/>
            <p:nvPr/>
          </p:nvSpPr>
          <p:spPr>
            <a:xfrm>
              <a:off x="8808110" y="2701167"/>
              <a:ext cx="1298405" cy="1107996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zh-CN"/>
              </a:defPPr>
              <a:lvl1pPr algn="ctr" defTabSz="914354">
                <a:defRPr sz="6600" b="0">
                  <a:solidFill>
                    <a:schemeClr val="tx1">
                      <a:lumMod val="50000"/>
                      <a:lumOff val="50000"/>
                      <a:alpha val="8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dirty="0"/>
                <a:t>03</a:t>
              </a:r>
              <a:endParaRPr lang="zh-CN" altLang="en-US" dirty="0"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4587A9FB-75EC-4FD1-95FB-1E454FD7B9F3}"/>
                </a:ext>
              </a:extLst>
            </p:cNvPr>
            <p:cNvSpPr txBox="1"/>
            <p:nvPr/>
          </p:nvSpPr>
          <p:spPr>
            <a:xfrm>
              <a:off x="8535626" y="4205096"/>
              <a:ext cx="1952442" cy="369332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zh-CN"/>
              </a:defPPr>
              <a:lvl1pPr algn="ctr" defTabSz="914354">
                <a:defRPr b="0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dirty="0"/>
                <a:t>团队</a:t>
              </a:r>
              <a:endParaRPr lang="en-US" altLang="zh-CN" dirty="0"/>
            </a:p>
          </p:txBody>
        </p:sp>
        <p:sp>
          <p:nvSpPr>
            <p:cNvPr id="38" name="弧形 37">
              <a:extLst>
                <a:ext uri="{FF2B5EF4-FFF2-40B4-BE49-F238E27FC236}">
                  <a16:creationId xmlns:a16="http://schemas.microsoft.com/office/drawing/2014/main" id="{393A20B4-16AD-41B4-9022-0D1354DA87FF}"/>
                </a:ext>
              </a:extLst>
            </p:cNvPr>
            <p:cNvSpPr/>
            <p:nvPr/>
          </p:nvSpPr>
          <p:spPr>
            <a:xfrm rot="3231425">
              <a:off x="8613193" y="2628303"/>
              <a:ext cx="1688236" cy="1319784"/>
            </a:xfrm>
            <a:prstGeom prst="arc">
              <a:avLst>
                <a:gd name="adj1" fmla="val 16200000"/>
                <a:gd name="adj2" fmla="val 12111527"/>
              </a:avLst>
            </a:prstGeom>
            <a:ln w="76200" cap="rnd">
              <a:gradFill>
                <a:gsLst>
                  <a:gs pos="100000">
                    <a:schemeClr val="accent3">
                      <a:lumMod val="60000"/>
                      <a:lumOff val="40000"/>
                      <a:alpha val="0"/>
                    </a:schemeClr>
                  </a:gs>
                  <a:gs pos="20000">
                    <a:schemeClr val="accent3"/>
                  </a:gs>
                </a:gsLst>
                <a:lin ang="120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id="{AA015690-C6D2-429B-ADD7-24213A1E2575}"/>
              </a:ext>
            </a:extLst>
          </p:cNvPr>
          <p:cNvGrpSpPr/>
          <p:nvPr/>
        </p:nvGrpSpPr>
        <p:grpSpPr>
          <a:xfrm>
            <a:off x="8634671" y="2838559"/>
            <a:ext cx="1952442" cy="2130351"/>
            <a:chOff x="8535626" y="2444077"/>
            <a:chExt cx="1952442" cy="2130351"/>
          </a:xfrm>
        </p:grpSpPr>
        <p:sp>
          <p:nvSpPr>
            <p:cNvPr id="40" name="文本框 39">
              <a:extLst>
                <a:ext uri="{FF2B5EF4-FFF2-40B4-BE49-F238E27FC236}">
                  <a16:creationId xmlns:a16="http://schemas.microsoft.com/office/drawing/2014/main" id="{7909BDE1-875F-413F-99E8-04105974A824}"/>
                </a:ext>
              </a:extLst>
            </p:cNvPr>
            <p:cNvSpPr txBox="1"/>
            <p:nvPr/>
          </p:nvSpPr>
          <p:spPr>
            <a:xfrm>
              <a:off x="8808110" y="2701167"/>
              <a:ext cx="1298405" cy="1107996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zh-CN"/>
              </a:defPPr>
              <a:lvl1pPr algn="ctr" defTabSz="914354">
                <a:defRPr sz="6600" b="0">
                  <a:solidFill>
                    <a:schemeClr val="tx1">
                      <a:lumMod val="50000"/>
                      <a:lumOff val="50000"/>
                      <a:alpha val="8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en-US" altLang="zh-CN" dirty="0"/>
                <a:t>04</a:t>
              </a:r>
              <a:endParaRPr lang="zh-CN" altLang="en-US" dirty="0"/>
            </a:p>
          </p:txBody>
        </p:sp>
        <p:sp>
          <p:nvSpPr>
            <p:cNvPr id="41" name="文本框 40">
              <a:extLst>
                <a:ext uri="{FF2B5EF4-FFF2-40B4-BE49-F238E27FC236}">
                  <a16:creationId xmlns:a16="http://schemas.microsoft.com/office/drawing/2014/main" id="{FCF3E549-A750-4106-8709-7A5F1D094E4C}"/>
                </a:ext>
              </a:extLst>
            </p:cNvPr>
            <p:cNvSpPr txBox="1"/>
            <p:nvPr/>
          </p:nvSpPr>
          <p:spPr>
            <a:xfrm>
              <a:off x="8535626" y="4205096"/>
              <a:ext cx="1952442" cy="369332"/>
            </a:xfrm>
            <a:prstGeom prst="rect">
              <a:avLst/>
            </a:prstGeom>
            <a:noFill/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spAutoFit/>
            </a:bodyPr>
            <a:lstStyle>
              <a:defPPr>
                <a:defRPr lang="zh-CN"/>
              </a:defPPr>
              <a:lvl1pPr algn="ctr" defTabSz="914354">
                <a:defRPr b="0">
                  <a:solidFill>
                    <a:schemeClr val="tx1">
                      <a:lumMod val="90000"/>
                      <a:lumOff val="10000"/>
                    </a:schemeClr>
                  </a:solidFill>
                </a:defRPr>
              </a:lvl1pPr>
              <a:lvl2pPr>
                <a:defRPr>
                  <a:solidFill>
                    <a:schemeClr val="lt1"/>
                  </a:solidFill>
                </a:defRPr>
              </a:lvl2pPr>
              <a:lvl3pPr>
                <a:defRPr>
                  <a:solidFill>
                    <a:schemeClr val="lt1"/>
                  </a:solidFill>
                </a:defRPr>
              </a:lvl3pPr>
              <a:lvl4pPr>
                <a:defRPr>
                  <a:solidFill>
                    <a:schemeClr val="lt1"/>
                  </a:solidFill>
                </a:defRPr>
              </a:lvl4pPr>
              <a:lvl5pPr>
                <a:defRPr>
                  <a:solidFill>
                    <a:schemeClr val="lt1"/>
                  </a:solidFill>
                </a:defRPr>
              </a:lvl5pPr>
              <a:lvl6pPr>
                <a:defRPr>
                  <a:solidFill>
                    <a:schemeClr val="lt1"/>
                  </a:solidFill>
                </a:defRPr>
              </a:lvl6pPr>
              <a:lvl7pPr>
                <a:defRPr>
                  <a:solidFill>
                    <a:schemeClr val="lt1"/>
                  </a:solidFill>
                </a:defRPr>
              </a:lvl7pPr>
              <a:lvl8pPr>
                <a:defRPr>
                  <a:solidFill>
                    <a:schemeClr val="lt1"/>
                  </a:solidFill>
                </a:defRPr>
              </a:lvl8pPr>
              <a:lvl9pPr>
                <a:defRPr>
                  <a:solidFill>
                    <a:schemeClr val="lt1"/>
                  </a:solidFill>
                </a:defRPr>
              </a:lvl9pPr>
            </a:lstStyle>
            <a:p>
              <a:r>
                <a:rPr lang="zh-CN" altLang="en-US" dirty="0"/>
                <a:t>财务计划与预测</a:t>
              </a:r>
              <a:endParaRPr lang="en-US" altLang="zh-CN" dirty="0"/>
            </a:p>
          </p:txBody>
        </p:sp>
        <p:sp>
          <p:nvSpPr>
            <p:cNvPr id="42" name="弧形 41">
              <a:extLst>
                <a:ext uri="{FF2B5EF4-FFF2-40B4-BE49-F238E27FC236}">
                  <a16:creationId xmlns:a16="http://schemas.microsoft.com/office/drawing/2014/main" id="{AFDDB4B0-F4E5-40BD-8F3B-093305D227ED}"/>
                </a:ext>
              </a:extLst>
            </p:cNvPr>
            <p:cNvSpPr/>
            <p:nvPr/>
          </p:nvSpPr>
          <p:spPr>
            <a:xfrm rot="3231425">
              <a:off x="8613193" y="2628303"/>
              <a:ext cx="1688236" cy="1319784"/>
            </a:xfrm>
            <a:prstGeom prst="arc">
              <a:avLst>
                <a:gd name="adj1" fmla="val 16200000"/>
                <a:gd name="adj2" fmla="val 12111527"/>
              </a:avLst>
            </a:prstGeom>
            <a:ln w="76200" cap="rnd">
              <a:gradFill>
                <a:gsLst>
                  <a:gs pos="100000">
                    <a:schemeClr val="accent3">
                      <a:lumMod val="60000"/>
                      <a:lumOff val="40000"/>
                      <a:alpha val="0"/>
                    </a:schemeClr>
                  </a:gs>
                  <a:gs pos="20000">
                    <a:schemeClr val="accent3"/>
                  </a:gs>
                </a:gsLst>
                <a:lin ang="12000000" scaled="0"/>
              </a:gradFill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</p:grpSp>
    </p:spTree>
    <p:custDataLst>
      <p:tags r:id="rId2"/>
    </p:custDataLst>
    <p:extLst>
      <p:ext uri="{BB962C8B-B14F-4D97-AF65-F5344CB8AC3E}">
        <p14:creationId xmlns:p14="http://schemas.microsoft.com/office/powerpoint/2010/main" val="28588253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C884DC-C58C-4D83-9157-478A0AECA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3439" y="3656191"/>
            <a:ext cx="4920211" cy="681576"/>
          </a:xfrm>
        </p:spPr>
        <p:txBody>
          <a:bodyPr>
            <a:normAutofit/>
          </a:bodyPr>
          <a:lstStyle/>
          <a:p>
            <a:pPr algn="l"/>
            <a:r>
              <a:rPr lang="zh-CN" altLang="en-US" sz="3600" b="0" dirty="0"/>
              <a:t>痛点与机会</a:t>
            </a:r>
            <a:endParaRPr lang="en-US" altLang="zh-CN" sz="3600" b="0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8DAE95-7127-4F51-9451-9FE7A2833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3439" y="4439367"/>
            <a:ext cx="4920211" cy="681576"/>
          </a:xfrm>
        </p:spPr>
        <p:txBody>
          <a:bodyPr>
            <a:normAutofit lnSpcReduction="10000"/>
          </a:bodyPr>
          <a:lstStyle/>
          <a:p>
            <a:pPr lvl="0" algn="l">
              <a:lnSpc>
                <a:spcPct val="150000"/>
              </a:lnSpc>
            </a:pPr>
            <a:r>
              <a:rPr lang="zh-CN" altLang="en-US" dirty="0"/>
              <a:t>企业已做好进一步拥抱</a:t>
            </a:r>
            <a:r>
              <a:rPr lang="en-US" altLang="zh-CN" dirty="0"/>
              <a:t>AI</a:t>
            </a:r>
            <a:r>
              <a:rPr lang="zh-CN" altLang="en-US" dirty="0"/>
              <a:t>的准备，厂商也竞相追逐开发更强大的模型，然而。。。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F346E48D-011A-44A6-860D-270D027745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3653" y="1781080"/>
            <a:ext cx="1798639" cy="1589979"/>
          </a:xfrm>
        </p:spPr>
        <p:txBody>
          <a:bodyPr/>
          <a:lstStyle/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5" name="弧形 4">
            <a:extLst>
              <a:ext uri="{FF2B5EF4-FFF2-40B4-BE49-F238E27FC236}">
                <a16:creationId xmlns:a16="http://schemas.microsoft.com/office/drawing/2014/main" id="{6C5E82E7-0E27-4FC8-935E-F3AA57F09706}"/>
              </a:ext>
            </a:extLst>
          </p:cNvPr>
          <p:cNvSpPr/>
          <p:nvPr/>
        </p:nvSpPr>
        <p:spPr>
          <a:xfrm rot="3231425">
            <a:off x="2040389" y="2840539"/>
            <a:ext cx="3206526" cy="2506712"/>
          </a:xfrm>
          <a:prstGeom prst="arc">
            <a:avLst>
              <a:gd name="adj1" fmla="val 16200000"/>
              <a:gd name="adj2" fmla="val 12111527"/>
            </a:avLst>
          </a:prstGeom>
          <a:ln w="76200" cap="rnd">
            <a:gradFill>
              <a:gsLst>
                <a:gs pos="100000">
                  <a:schemeClr val="accent3">
                    <a:lumMod val="60000"/>
                    <a:lumOff val="40000"/>
                    <a:alpha val="0"/>
                  </a:schemeClr>
                </a:gs>
                <a:gs pos="20000">
                  <a:schemeClr val="accent3"/>
                </a:gs>
              </a:gsLst>
              <a:lin ang="1200000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670383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2EB12A26-B2FE-AD7D-A732-7C4B954F75FF}"/>
              </a:ext>
            </a:extLst>
          </p:cNvPr>
          <p:cNvSpPr txBox="1"/>
          <p:nvPr/>
        </p:nvSpPr>
        <p:spPr>
          <a:xfrm>
            <a:off x="387528" y="458858"/>
            <a:ext cx="46541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i="0" dirty="0">
                <a:effectLst/>
                <a:latin typeface="+mn-ea"/>
              </a:rPr>
              <a:t>痛点一：产品不争气</a:t>
            </a:r>
            <a:endParaRPr lang="zh-CN" altLang="en-US" sz="3600" dirty="0">
              <a:latin typeface="+mn-ea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C94E8BFC-EB09-2DB7-67E3-5962200D137B}"/>
              </a:ext>
            </a:extLst>
          </p:cNvPr>
          <p:cNvSpPr txBox="1"/>
          <p:nvPr/>
        </p:nvSpPr>
        <p:spPr>
          <a:xfrm>
            <a:off x="7037541" y="458857"/>
            <a:ext cx="465419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i="0" dirty="0">
                <a:effectLst/>
                <a:latin typeface="+mn-ea"/>
              </a:rPr>
              <a:t>痛点二：厂商缺数据</a:t>
            </a:r>
            <a:endParaRPr lang="zh-CN" altLang="en-US" sz="3600" dirty="0">
              <a:latin typeface="+mn-ea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E6316ADD-F522-88BA-17FB-91BA8EC2833A}"/>
              </a:ext>
            </a:extLst>
          </p:cNvPr>
          <p:cNvSpPr/>
          <p:nvPr/>
        </p:nvSpPr>
        <p:spPr>
          <a:xfrm>
            <a:off x="-9137" y="1377188"/>
            <a:ext cx="5098091" cy="4009004"/>
          </a:xfrm>
          <a:prstGeom prst="roundRect">
            <a:avLst>
              <a:gd name="adj" fmla="val 4788"/>
            </a:avLst>
          </a:prstGeom>
          <a:ln w="76200" cap="rnd">
            <a:gradFill>
              <a:gsLst>
                <a:gs pos="100000">
                  <a:schemeClr val="accent3">
                    <a:lumMod val="60000"/>
                    <a:lumOff val="40000"/>
                    <a:alpha val="0"/>
                  </a:schemeClr>
                </a:gs>
                <a:gs pos="20000">
                  <a:schemeClr val="accent3"/>
                </a:gs>
              </a:gsLst>
              <a:lin ang="1200000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2CC748AB-3005-44DC-464D-BC8990ADA662}"/>
              </a:ext>
            </a:extLst>
          </p:cNvPr>
          <p:cNvSpPr/>
          <p:nvPr/>
        </p:nvSpPr>
        <p:spPr>
          <a:xfrm flipH="1">
            <a:off x="7037541" y="1377187"/>
            <a:ext cx="5098092" cy="4009004"/>
          </a:xfrm>
          <a:prstGeom prst="roundRect">
            <a:avLst>
              <a:gd name="adj" fmla="val 4788"/>
            </a:avLst>
          </a:prstGeom>
          <a:ln w="76200" cap="rnd">
            <a:gradFill>
              <a:gsLst>
                <a:gs pos="100000">
                  <a:schemeClr val="accent3">
                    <a:lumMod val="60000"/>
                    <a:lumOff val="40000"/>
                    <a:alpha val="0"/>
                  </a:schemeClr>
                </a:gs>
                <a:gs pos="20000">
                  <a:schemeClr val="accent3"/>
                </a:gs>
              </a:gsLst>
              <a:lin ang="1200000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2205295-2F00-D853-C100-2D6FEA3A1EE1}"/>
              </a:ext>
            </a:extLst>
          </p:cNvPr>
          <p:cNvSpPr txBox="1"/>
          <p:nvPr/>
        </p:nvSpPr>
        <p:spPr>
          <a:xfrm>
            <a:off x="278312" y="1546964"/>
            <a:ext cx="409953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需要创造性研究的企业</a:t>
            </a:r>
            <a:r>
              <a:rPr lang="zh-CN" altLang="en-US" b="1" dirty="0"/>
              <a:t>愿意</a:t>
            </a:r>
            <a:r>
              <a:rPr lang="zh-CN" altLang="en-US" dirty="0"/>
              <a:t>为物美价廉的</a:t>
            </a:r>
            <a:r>
              <a:rPr lang="en-US" altLang="zh-CN" dirty="0"/>
              <a:t>AI agent</a:t>
            </a:r>
            <a:r>
              <a:rPr lang="zh-CN" altLang="en-US" dirty="0"/>
              <a:t>付费，然而现有的产品：</a:t>
            </a: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2E6F57E5-EACC-13A1-CC58-A7FC9FA9AA9D}"/>
              </a:ext>
            </a:extLst>
          </p:cNvPr>
          <p:cNvGrpSpPr>
            <a:grpSpLocks noChangeAspect="1"/>
          </p:cNvGrpSpPr>
          <p:nvPr>
            <p:custDataLst>
              <p:tags r:id="rId3"/>
            </p:custDataLst>
          </p:nvPr>
        </p:nvGrpSpPr>
        <p:grpSpPr>
          <a:xfrm>
            <a:off x="387528" y="2252251"/>
            <a:ext cx="4099533" cy="2651688"/>
            <a:chOff x="660400" y="1130300"/>
            <a:chExt cx="7192688" cy="2651688"/>
          </a:xfrm>
        </p:grpSpPr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3626A478-AC9B-EB29-B2FD-E381119B7E15}"/>
                </a:ext>
              </a:extLst>
            </p:cNvPr>
            <p:cNvGrpSpPr/>
            <p:nvPr/>
          </p:nvGrpSpPr>
          <p:grpSpPr>
            <a:xfrm>
              <a:off x="660400" y="1130300"/>
              <a:ext cx="3526877" cy="2651688"/>
              <a:chOff x="660400" y="1130300"/>
              <a:chExt cx="3526877" cy="2651688"/>
            </a:xfrm>
          </p:grpSpPr>
          <p:sp>
            <p:nvSpPr>
              <p:cNvPr id="19" name="1">
                <a:extLst>
                  <a:ext uri="{FF2B5EF4-FFF2-40B4-BE49-F238E27FC236}">
                    <a16:creationId xmlns:a16="http://schemas.microsoft.com/office/drawing/2014/main" id="{5A27C495-6EDB-FAA0-90E2-D9E0328F435D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660400" y="1130300"/>
                <a:ext cx="3526877" cy="2651688"/>
              </a:xfrm>
              <a:prstGeom prst="roundRect">
                <a:avLst>
                  <a:gd name="adj" fmla="val 5900"/>
                </a:avLst>
              </a:prstGeom>
              <a:noFill/>
              <a:ln w="12700" cap="rnd">
                <a:solidFill>
                  <a:schemeClr val="accent4">
                    <a:lumMod val="75000"/>
                    <a:lumOff val="25000"/>
                  </a:schemeClr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endParaRPr lang="en-GB" sz="1600" b="1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20" name="Body-1">
                <a:extLst>
                  <a:ext uri="{FF2B5EF4-FFF2-40B4-BE49-F238E27FC236}">
                    <a16:creationId xmlns:a16="http://schemas.microsoft.com/office/drawing/2014/main" id="{C4DD8576-020E-7A38-A15E-FD9BD29569F4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866164" y="1632924"/>
                <a:ext cx="2995557" cy="202555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kumimoji="0" lang="zh-CN" altLang="en-US" sz="1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</a:rPr>
                  <a:t>目前</a:t>
                </a: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</a:rPr>
                  <a:t>,AI </a:t>
                </a:r>
                <a:r>
                  <a:rPr kumimoji="0" lang="zh-CN" altLang="en-US" sz="1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</a:rPr>
                  <a:t>在执行自主任务时常出现「钻空子」</a:t>
                </a: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</a:rPr>
                  <a:t>(Reward Hacking)</a:t>
                </a:r>
                <a:r>
                  <a:rPr kumimoji="0" lang="zh-CN" altLang="en-US" sz="1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</a:rPr>
                  <a:t>现象。</a:t>
                </a:r>
                <a:endParaRPr kumimoji="0" lang="en-US" altLang="zh-CN" sz="1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kumimoji="0" lang="zh-CN" altLang="en-US" sz="1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</a:rPr>
                  <a:t>导致企业在关键业务场景中难以对 </a:t>
                </a: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</a:rPr>
                  <a:t>AI </a:t>
                </a:r>
                <a:r>
                  <a:rPr kumimoji="0" lang="zh-CN" altLang="en-US" sz="1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</a:rPr>
                  <a:t>建立真正的信任。</a:t>
                </a:r>
              </a:p>
            </p:txBody>
          </p:sp>
          <p:sp>
            <p:nvSpPr>
              <p:cNvPr id="21" name="Title-1">
                <a:extLst>
                  <a:ext uri="{FF2B5EF4-FFF2-40B4-BE49-F238E27FC236}">
                    <a16:creationId xmlns:a16="http://schemas.microsoft.com/office/drawing/2014/main" id="{D1212787-4216-E0A1-32F6-C0E38A5EF20A}"/>
                  </a:ext>
                </a:extLst>
              </p:cNvPr>
              <p:cNvSpPr/>
              <p:nvPr>
                <p:custDataLst>
                  <p:tags r:id="rId11"/>
                </p:custDataLst>
              </p:nvPr>
            </p:nvSpPr>
            <p:spPr>
              <a:xfrm>
                <a:off x="1358347" y="1204045"/>
                <a:ext cx="1668917" cy="378932"/>
              </a:xfrm>
              <a:prstGeom prst="roundRect">
                <a:avLst/>
              </a:prstGeom>
              <a:noFill/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1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defTabSz="913765"/>
                <a:r>
                  <a:rPr lang="en-US" altLang="zh-CN" b="1" dirty="0">
                    <a:solidFill>
                      <a:schemeClr val="accent4">
                        <a:lumMod val="50000"/>
                        <a:lumOff val="50000"/>
                      </a:schemeClr>
                    </a:solidFill>
                    <a:latin typeface="+mn-ea"/>
                  </a:rPr>
                  <a:t>1.</a:t>
                </a:r>
                <a:r>
                  <a:rPr lang="zh-CN" altLang="en-US" b="1" dirty="0">
                    <a:solidFill>
                      <a:schemeClr val="accent4">
                        <a:lumMod val="50000"/>
                        <a:lumOff val="50000"/>
                      </a:schemeClr>
                    </a:solidFill>
                    <a:latin typeface="+mn-ea"/>
                  </a:rPr>
                  <a:t>不老实</a:t>
                </a: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BB75E5E9-6850-C36D-8E5A-FF55E8D32DE7}"/>
                </a:ext>
              </a:extLst>
            </p:cNvPr>
            <p:cNvGrpSpPr/>
            <p:nvPr/>
          </p:nvGrpSpPr>
          <p:grpSpPr>
            <a:xfrm>
              <a:off x="4326211" y="1130300"/>
              <a:ext cx="3526877" cy="2651688"/>
              <a:chOff x="4326211" y="1130300"/>
              <a:chExt cx="3526877" cy="2651688"/>
            </a:xfrm>
          </p:grpSpPr>
          <p:sp>
            <p:nvSpPr>
              <p:cNvPr id="16" name="2">
                <a:extLst>
                  <a:ext uri="{FF2B5EF4-FFF2-40B4-BE49-F238E27FC236}">
                    <a16:creationId xmlns:a16="http://schemas.microsoft.com/office/drawing/2014/main" id="{86812C48-BC28-FDDB-F553-A0E56CCE8B46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4326211" y="1130300"/>
                <a:ext cx="3526877" cy="2651688"/>
              </a:xfrm>
              <a:prstGeom prst="roundRect">
                <a:avLst>
                  <a:gd name="adj" fmla="val 5900"/>
                </a:avLst>
              </a:prstGeom>
              <a:noFill/>
              <a:ln w="12700" cap="rnd">
                <a:solidFill>
                  <a:schemeClr val="accent4">
                    <a:lumMod val="75000"/>
                    <a:lumOff val="25000"/>
                  </a:schemeClr>
                </a:solidFill>
                <a:prstDash val="solid"/>
                <a:round/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endParaRPr lang="en-GB" sz="1600" b="1" dirty="0">
                  <a:solidFill>
                    <a:schemeClr val="tx1"/>
                  </a:solidFill>
                  <a:latin typeface="+mn-ea"/>
                </a:endParaRPr>
              </a:p>
            </p:txBody>
          </p:sp>
          <p:sp>
            <p:nvSpPr>
              <p:cNvPr id="17" name="Body-2">
                <a:extLst>
                  <a:ext uri="{FF2B5EF4-FFF2-40B4-BE49-F238E27FC236}">
                    <a16:creationId xmlns:a16="http://schemas.microsoft.com/office/drawing/2014/main" id="{21915042-0699-A124-F8C9-079F0B512FC9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4665910" y="1632924"/>
                <a:ext cx="2995557" cy="17454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>
                  <a:lnSpc>
                    <a:spcPct val="130000"/>
                  </a:lnSpc>
                </a:pPr>
                <a:r>
                  <a:rPr kumimoji="0" lang="zh-CN" altLang="en-US" sz="1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</a:rPr>
                  <a:t>尽管 </a:t>
                </a: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</a:rPr>
                  <a:t>AI </a:t>
                </a:r>
                <a:r>
                  <a:rPr kumimoji="0" lang="zh-CN" altLang="en-US" sz="1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</a:rPr>
                  <a:t>在短时任务中表现卓越</a:t>
                </a: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</a:rPr>
                  <a:t>,</a:t>
                </a:r>
                <a:r>
                  <a:rPr kumimoji="0" lang="zh-CN" altLang="en-US" sz="1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</a:rPr>
                  <a:t>但随着任务拉长</a:t>
                </a:r>
                <a:r>
                  <a:rPr kumimoji="0" lang="en-US" altLang="zh-CN" sz="1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</a:rPr>
                  <a:t>,</a:t>
                </a:r>
                <a:r>
                  <a:rPr kumimoji="0" lang="zh-CN" altLang="en-US" sz="1400" i="0" u="none" strike="noStrike" kern="120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+mn-ea"/>
                  </a:rPr>
                  <a:t>其记忆与推理能力大减</a:t>
                </a:r>
                <a:endParaRPr kumimoji="0" lang="en-US" altLang="zh-CN" sz="1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</a:endParaRPr>
              </a:p>
              <a:p>
                <a:pPr algn="ctr">
                  <a:lnSpc>
                    <a:spcPct val="130000"/>
                  </a:lnSpc>
                </a:pPr>
                <a:r>
                  <a:rPr lang="zh-CN" altLang="en-US" sz="1400" dirty="0">
                    <a:latin typeface="+mn-ea"/>
                  </a:rPr>
                  <a:t>导致</a:t>
                </a:r>
                <a:r>
                  <a:rPr lang="en-US" altLang="zh-CN" sz="1400" dirty="0">
                    <a:latin typeface="+mn-ea"/>
                  </a:rPr>
                  <a:t>AI</a:t>
                </a:r>
                <a:r>
                  <a:rPr lang="zh-CN" altLang="en-US" sz="1400" dirty="0">
                    <a:latin typeface="+mn-ea"/>
                  </a:rPr>
                  <a:t>在研究任务中表现平平。</a:t>
                </a:r>
                <a:endParaRPr kumimoji="0" lang="zh-CN" altLang="en-US" sz="14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+mn-ea"/>
                </a:endParaRPr>
              </a:p>
            </p:txBody>
          </p:sp>
          <p:sp>
            <p:nvSpPr>
              <p:cNvPr id="18" name="Title-2">
                <a:extLst>
                  <a:ext uri="{FF2B5EF4-FFF2-40B4-BE49-F238E27FC236}">
                    <a16:creationId xmlns:a16="http://schemas.microsoft.com/office/drawing/2014/main" id="{6DF7532F-FC01-958C-20BC-0DBEFB8DA9FD}"/>
                  </a:ext>
                </a:extLst>
              </p:cNvPr>
              <p:cNvSpPr/>
              <p:nvPr>
                <p:custDataLst>
                  <p:tags r:id="rId8"/>
                </p:custDataLst>
              </p:nvPr>
            </p:nvSpPr>
            <p:spPr>
              <a:xfrm>
                <a:off x="5255186" y="1204045"/>
                <a:ext cx="1668917" cy="378932"/>
              </a:xfrm>
              <a:prstGeom prst="roundRect">
                <a:avLst/>
              </a:prstGeom>
              <a:noFill/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2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none" lIns="91440" tIns="45720" rIns="91440" bIns="45720" numCol="1" spcCol="0" rtlCol="0" fromWordArt="0" anchor="ctr" anchorCtr="0" forceAA="0" compatLnSpc="1">
                <a:noAutofit/>
              </a:bodyPr>
              <a:lstStyle/>
              <a:p>
                <a:pPr algn="ctr" defTabSz="913765"/>
                <a:r>
                  <a:rPr lang="en-US" altLang="zh-CN" b="1" dirty="0">
                    <a:solidFill>
                      <a:schemeClr val="accent4">
                        <a:lumMod val="50000"/>
                        <a:lumOff val="50000"/>
                      </a:schemeClr>
                    </a:solidFill>
                    <a:latin typeface="+mn-ea"/>
                  </a:rPr>
                  <a:t>2.</a:t>
                </a:r>
                <a:r>
                  <a:rPr lang="zh-CN" altLang="en-US" b="1" dirty="0">
                    <a:solidFill>
                      <a:schemeClr val="accent4">
                        <a:lumMod val="50000"/>
                        <a:lumOff val="50000"/>
                      </a:schemeClr>
                    </a:solidFill>
                    <a:latin typeface="+mn-ea"/>
                  </a:rPr>
                  <a:t>记性差</a:t>
                </a:r>
              </a:p>
            </p:txBody>
          </p:sp>
        </p:grpSp>
      </p:grpSp>
      <p:sp>
        <p:nvSpPr>
          <p:cNvPr id="23" name="文本框 22">
            <a:extLst>
              <a:ext uri="{FF2B5EF4-FFF2-40B4-BE49-F238E27FC236}">
                <a16:creationId xmlns:a16="http://schemas.microsoft.com/office/drawing/2014/main" id="{9DDD7044-1A13-14A8-6438-8EC781160A1C}"/>
              </a:ext>
            </a:extLst>
          </p:cNvPr>
          <p:cNvSpPr txBox="1"/>
          <p:nvPr/>
        </p:nvSpPr>
        <p:spPr>
          <a:xfrm>
            <a:off x="7365810" y="1592132"/>
            <a:ext cx="426460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AI厂商亟需</a:t>
            </a:r>
            <a:r>
              <a:rPr lang="zh-CN" altLang="en-US" b="1" dirty="0"/>
              <a:t>高质量数据</a:t>
            </a:r>
            <a:r>
              <a:rPr lang="zh-CN" altLang="en-US" dirty="0"/>
              <a:t>训练模型,</a:t>
            </a:r>
            <a:endParaRPr lang="en-US" altLang="zh-CN" dirty="0"/>
          </a:p>
          <a:p>
            <a:pPr algn="ctr"/>
            <a:r>
              <a:rPr lang="zh-CN" altLang="en-US" dirty="0"/>
              <a:t>而优质数据</a:t>
            </a:r>
            <a:r>
              <a:rPr lang="zh-CN" altLang="en-US" b="1" dirty="0"/>
              <a:t>逼近枯竭</a:t>
            </a:r>
            <a:endParaRPr lang="zh-CN" altLang="en-US" dirty="0"/>
          </a:p>
        </p:txBody>
      </p:sp>
      <p:sp>
        <p:nvSpPr>
          <p:cNvPr id="24" name="2">
            <a:extLst>
              <a:ext uri="{FF2B5EF4-FFF2-40B4-BE49-F238E27FC236}">
                <a16:creationId xmlns:a16="http://schemas.microsoft.com/office/drawing/2014/main" id="{F434374B-4B79-4435-C91C-6D0C47CD152A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8000467" y="2252252"/>
            <a:ext cx="2995292" cy="2714238"/>
          </a:xfrm>
          <a:prstGeom prst="roundRect">
            <a:avLst>
              <a:gd name="adj" fmla="val 5900"/>
            </a:avLst>
          </a:prstGeom>
          <a:noFill/>
          <a:ln w="12700" cap="rnd">
            <a:solidFill>
              <a:schemeClr val="accent4">
                <a:lumMod val="75000"/>
                <a:lumOff val="25000"/>
              </a:schemeClr>
            </a:solidFill>
            <a:prstDash val="solid"/>
            <a:round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endParaRPr lang="en-GB" sz="1600" b="1" dirty="0">
              <a:solidFill>
                <a:schemeClr val="tx1"/>
              </a:solidFill>
              <a:latin typeface="+mn-ea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DA2A2553-2381-FC64-6194-C64800EC730E}"/>
              </a:ext>
            </a:extLst>
          </p:cNvPr>
          <p:cNvSpPr txBox="1"/>
          <p:nvPr/>
        </p:nvSpPr>
        <p:spPr>
          <a:xfrm>
            <a:off x="8215499" y="2754875"/>
            <a:ext cx="2565226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1400" dirty="0">
                <a:latin typeface="+mn-ea"/>
              </a:rPr>
              <a:t>全网公开的高质量文本数据约有 300 万亿 Token,按当前消耗速度,预计</a:t>
            </a:r>
            <a:r>
              <a:rPr lang="zh-CN" altLang="en-US" sz="1400" b="1" dirty="0">
                <a:latin typeface="+mn-ea"/>
              </a:rPr>
              <a:t>将在六年以内触及上限</a:t>
            </a:r>
            <a:r>
              <a:rPr lang="zh-CN" altLang="en-US" sz="1400" dirty="0">
                <a:latin typeface="+mn-ea"/>
              </a:rPr>
              <a:t>。</a:t>
            </a:r>
            <a:endParaRPr lang="en-US" altLang="zh-CN" sz="1400" dirty="0">
              <a:latin typeface="+mn-ea"/>
            </a:endParaRPr>
          </a:p>
          <a:p>
            <a:endParaRPr lang="en-US" altLang="zh-CN" sz="1400" dirty="0">
              <a:latin typeface="+mn-ea"/>
            </a:endParaRPr>
          </a:p>
          <a:p>
            <a:pPr algn="ctr"/>
            <a:r>
              <a:rPr lang="zh-CN" altLang="en-US" sz="1400" dirty="0">
                <a:latin typeface="+mn-ea"/>
              </a:rPr>
              <a:t>企业不得不高薪</a:t>
            </a:r>
            <a:r>
              <a:rPr lang="en-US" altLang="zh-CN" sz="1400" dirty="0">
                <a:latin typeface="+mn-ea"/>
              </a:rPr>
              <a:t>(70–200 </a:t>
            </a:r>
            <a:r>
              <a:rPr lang="zh-CN" altLang="en-US" sz="1400" dirty="0">
                <a:latin typeface="+mn-ea"/>
              </a:rPr>
              <a:t>美元</a:t>
            </a:r>
            <a:r>
              <a:rPr lang="en-US" altLang="zh-CN" sz="1400" dirty="0">
                <a:latin typeface="+mn-ea"/>
              </a:rPr>
              <a:t>/</a:t>
            </a:r>
            <a:r>
              <a:rPr lang="zh-CN" altLang="en-US" sz="1400" dirty="0">
                <a:latin typeface="+mn-ea"/>
              </a:rPr>
              <a:t>小时</a:t>
            </a:r>
            <a:r>
              <a:rPr lang="en-US" altLang="zh-CN" sz="1400" dirty="0">
                <a:latin typeface="+mn-ea"/>
              </a:rPr>
              <a:t>)</a:t>
            </a:r>
            <a:r>
              <a:rPr lang="zh-CN" altLang="en-US" sz="1400" dirty="0">
                <a:latin typeface="+mn-ea"/>
              </a:rPr>
              <a:t>聘请行业专家进行人工干预和数据补充，</a:t>
            </a:r>
            <a:r>
              <a:rPr lang="zh-CN" altLang="en-US" sz="1400" b="1" dirty="0">
                <a:latin typeface="+mn-ea"/>
              </a:rPr>
              <a:t>效率极低。</a:t>
            </a:r>
          </a:p>
        </p:txBody>
      </p:sp>
      <p:sp>
        <p:nvSpPr>
          <p:cNvPr id="30" name="Title-2">
            <a:extLst>
              <a:ext uri="{FF2B5EF4-FFF2-40B4-BE49-F238E27FC236}">
                <a16:creationId xmlns:a16="http://schemas.microsoft.com/office/drawing/2014/main" id="{67C5EF3D-18EE-5C68-AC0A-68F6527ACFDD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9022506" y="2320997"/>
            <a:ext cx="951213" cy="378932"/>
          </a:xfrm>
          <a:prstGeom prst="roundRect">
            <a:avLst/>
          </a:prstGeom>
          <a:noFill/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2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none" lIns="91440" tIns="45720" rIns="91440" bIns="45720" numCol="1" spcCol="0" rtlCol="0" fromWordArt="0" anchor="ctr" anchorCtr="0" forceAA="0" compatLnSpc="1">
            <a:noAutofit/>
          </a:bodyPr>
          <a:lstStyle/>
          <a:p>
            <a:pPr algn="ctr" defTabSz="913765"/>
            <a:r>
              <a:rPr lang="en-US" altLang="zh-CN" b="1" dirty="0">
                <a:solidFill>
                  <a:schemeClr val="accent4">
                    <a:lumMod val="50000"/>
                    <a:lumOff val="50000"/>
                  </a:schemeClr>
                </a:solidFill>
                <a:latin typeface="+mn-ea"/>
              </a:rPr>
              <a:t>3.</a:t>
            </a:r>
            <a:r>
              <a:rPr lang="zh-CN" altLang="en-US" b="1" dirty="0">
                <a:solidFill>
                  <a:schemeClr val="accent4">
                    <a:lumMod val="50000"/>
                    <a:lumOff val="50000"/>
                  </a:schemeClr>
                </a:solidFill>
                <a:latin typeface="+mn-ea"/>
              </a:rPr>
              <a:t>缺数据</a:t>
            </a: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4011116F-AA40-0EAC-DECE-32F788B81547}"/>
              </a:ext>
            </a:extLst>
          </p:cNvPr>
          <p:cNvSpPr txBox="1"/>
          <p:nvPr/>
        </p:nvSpPr>
        <p:spPr>
          <a:xfrm>
            <a:off x="504805" y="5769473"/>
            <a:ext cx="115201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这三大问题,恰好对应 Argus </a:t>
            </a:r>
            <a:r>
              <a:rPr lang="zh-CN" altLang="en-US" b="1" dirty="0"/>
              <a:t>与生俱来的三项能力:</a:t>
            </a:r>
            <a:endParaRPr lang="en-US" altLang="zh-CN" b="1" dirty="0"/>
          </a:p>
          <a:p>
            <a:r>
              <a:rPr lang="zh-CN" altLang="en-US" dirty="0"/>
              <a:t>结果可被第三方独立复现、</a:t>
            </a:r>
            <a:r>
              <a:rPr lang="zh-CN" altLang="en-US" b="1" dirty="0"/>
              <a:t>杜绝作弊</a:t>
            </a:r>
            <a:r>
              <a:rPr lang="zh-CN" altLang="en-US" dirty="0"/>
              <a:t>; 长程任务</a:t>
            </a:r>
            <a:r>
              <a:rPr lang="zh-CN" altLang="en-US" b="1" dirty="0"/>
              <a:t>连续运行而不退化</a:t>
            </a:r>
            <a:r>
              <a:rPr lang="zh-CN" altLang="en-US" dirty="0"/>
              <a:t>; 研究的</a:t>
            </a:r>
            <a:r>
              <a:rPr lang="zh-CN" altLang="en-US" b="1" dirty="0"/>
              <a:t>全过程</a:t>
            </a:r>
            <a:r>
              <a:rPr lang="zh-CN" altLang="en-US" dirty="0"/>
              <a:t>可完整沉淀下来，</a:t>
            </a:r>
            <a:r>
              <a:rPr lang="zh-CN" altLang="en-US" b="1" dirty="0"/>
              <a:t>形成优质数据</a:t>
            </a:r>
            <a:r>
              <a:rPr lang="zh-CN" altLang="en-US" dirty="0"/>
              <a:t>。</a:t>
            </a:r>
            <a:endParaRPr lang="en-US" altLang="zh-CN" dirty="0"/>
          </a:p>
          <a:p>
            <a:pPr algn="ctr"/>
            <a:r>
              <a:rPr lang="en-US" altLang="zh-CN" dirty="0"/>
              <a:t>Argus</a:t>
            </a:r>
            <a:r>
              <a:rPr lang="zh-CN" altLang="en-US" dirty="0"/>
              <a:t>的出现，给看似不相关的二者提供了</a:t>
            </a:r>
            <a:r>
              <a:rPr lang="zh-CN" altLang="en-US" b="1" dirty="0"/>
              <a:t>一箭双雕</a:t>
            </a:r>
            <a:r>
              <a:rPr lang="zh-CN" altLang="en-US" dirty="0"/>
              <a:t>的解决方案。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255084250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矩形: 圆角 45">
            <a:extLst>
              <a:ext uri="{FF2B5EF4-FFF2-40B4-BE49-F238E27FC236}">
                <a16:creationId xmlns:a16="http://schemas.microsoft.com/office/drawing/2014/main" id="{1A63AB37-5DBA-4A96-BD39-0939FBB12290}"/>
              </a:ext>
            </a:extLst>
          </p:cNvPr>
          <p:cNvSpPr/>
          <p:nvPr/>
        </p:nvSpPr>
        <p:spPr>
          <a:xfrm>
            <a:off x="4367704" y="2163620"/>
            <a:ext cx="2748635" cy="3753591"/>
          </a:xfrm>
          <a:prstGeom prst="roundRect">
            <a:avLst>
              <a:gd name="adj" fmla="val 4788"/>
            </a:avLst>
          </a:prstGeom>
          <a:ln w="76200" cap="rnd">
            <a:gradFill>
              <a:gsLst>
                <a:gs pos="100000">
                  <a:schemeClr val="accent3">
                    <a:lumMod val="60000"/>
                    <a:lumOff val="40000"/>
                    <a:alpha val="0"/>
                  </a:schemeClr>
                </a:gs>
                <a:gs pos="20000">
                  <a:schemeClr val="accent3"/>
                </a:gs>
              </a:gsLst>
              <a:lin ang="1200000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7" name="矩形: 圆角 46">
            <a:extLst>
              <a:ext uri="{FF2B5EF4-FFF2-40B4-BE49-F238E27FC236}">
                <a16:creationId xmlns:a16="http://schemas.microsoft.com/office/drawing/2014/main" id="{45366DB5-6615-4C1D-9BF4-B4EA1E80869E}"/>
              </a:ext>
            </a:extLst>
          </p:cNvPr>
          <p:cNvSpPr/>
          <p:nvPr/>
        </p:nvSpPr>
        <p:spPr>
          <a:xfrm>
            <a:off x="692514" y="2163620"/>
            <a:ext cx="2748635" cy="3753591"/>
          </a:xfrm>
          <a:prstGeom prst="roundRect">
            <a:avLst>
              <a:gd name="adj" fmla="val 4788"/>
            </a:avLst>
          </a:prstGeom>
          <a:ln w="76200" cap="rnd">
            <a:gradFill>
              <a:gsLst>
                <a:gs pos="100000">
                  <a:schemeClr val="accent3">
                    <a:lumMod val="60000"/>
                    <a:lumOff val="40000"/>
                    <a:alpha val="0"/>
                  </a:schemeClr>
                </a:gs>
                <a:gs pos="20000">
                  <a:schemeClr val="accent3"/>
                </a:gs>
              </a:gsLst>
              <a:lin ang="1200000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48" name="组合 47">
            <a:extLst>
              <a:ext uri="{FF2B5EF4-FFF2-40B4-BE49-F238E27FC236}">
                <a16:creationId xmlns:a16="http://schemas.microsoft.com/office/drawing/2014/main" id="{00CC7759-5CDF-4A06-A3BA-8B6DB1811754}"/>
              </a:ext>
            </a:extLst>
          </p:cNvPr>
          <p:cNvGrpSpPr/>
          <p:nvPr/>
        </p:nvGrpSpPr>
        <p:grpSpPr>
          <a:xfrm>
            <a:off x="487414" y="2461969"/>
            <a:ext cx="410200" cy="410198"/>
            <a:chOff x="5417189" y="2235779"/>
            <a:chExt cx="410200" cy="410198"/>
          </a:xfrm>
        </p:grpSpPr>
        <p:sp>
          <p:nvSpPr>
            <p:cNvPr id="56" name="椭圆 55">
              <a:extLst>
                <a:ext uri="{FF2B5EF4-FFF2-40B4-BE49-F238E27FC236}">
                  <a16:creationId xmlns:a16="http://schemas.microsoft.com/office/drawing/2014/main" id="{F7BE48AE-4730-47B9-BC4E-F82475336ADA}"/>
                </a:ext>
              </a:extLst>
            </p:cNvPr>
            <p:cNvSpPr/>
            <p:nvPr/>
          </p:nvSpPr>
          <p:spPr>
            <a:xfrm>
              <a:off x="5417189" y="2235779"/>
              <a:ext cx="410200" cy="410198"/>
            </a:xfrm>
            <a:prstGeom prst="ellipse">
              <a:avLst/>
            </a:prstGeom>
            <a:gradFill>
              <a:gsLst>
                <a:gs pos="0">
                  <a:schemeClr val="accent3">
                    <a:lumMod val="60000"/>
                    <a:lumOff val="40000"/>
                  </a:schemeClr>
                </a:gs>
                <a:gs pos="60000">
                  <a:schemeClr val="accent3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57" name="任意多边形: 形状 56">
              <a:extLst>
                <a:ext uri="{FF2B5EF4-FFF2-40B4-BE49-F238E27FC236}">
                  <a16:creationId xmlns:a16="http://schemas.microsoft.com/office/drawing/2014/main" id="{495C5807-6B72-4B90-A2C6-1F7A2EB6B7AB}"/>
                </a:ext>
              </a:extLst>
            </p:cNvPr>
            <p:cNvSpPr/>
            <p:nvPr/>
          </p:nvSpPr>
          <p:spPr>
            <a:xfrm>
              <a:off x="5533289" y="2369958"/>
              <a:ext cx="178001" cy="148188"/>
            </a:xfrm>
            <a:custGeom>
              <a:avLst/>
              <a:gdLst>
                <a:gd name="connsiteX0" fmla="*/ 483573 w 526297"/>
                <a:gd name="connsiteY0" fmla="*/ 133971 h 438150"/>
                <a:gd name="connsiteX1" fmla="*/ 527674 w 526297"/>
                <a:gd name="connsiteY1" fmla="*/ 178072 h 438150"/>
                <a:gd name="connsiteX2" fmla="*/ 527579 w 526297"/>
                <a:gd name="connsiteY2" fmla="*/ 181501 h 438150"/>
                <a:gd name="connsiteX3" fmla="*/ 514244 w 526297"/>
                <a:gd name="connsiteY3" fmla="*/ 355237 h 438150"/>
                <a:gd name="connsiteX4" fmla="*/ 485764 w 526297"/>
                <a:gd name="connsiteY4" fmla="*/ 381621 h 438150"/>
                <a:gd name="connsiteX5" fmla="*/ 454998 w 526297"/>
                <a:gd name="connsiteY5" fmla="*/ 381621 h 438150"/>
                <a:gd name="connsiteX6" fmla="*/ 454998 w 526297"/>
                <a:gd name="connsiteY6" fmla="*/ 438771 h 438150"/>
                <a:gd name="connsiteX7" fmla="*/ 435948 w 526297"/>
                <a:gd name="connsiteY7" fmla="*/ 438771 h 438150"/>
                <a:gd name="connsiteX8" fmla="*/ 435948 w 526297"/>
                <a:gd name="connsiteY8" fmla="*/ 381621 h 438150"/>
                <a:gd name="connsiteX9" fmla="*/ 93048 w 526297"/>
                <a:gd name="connsiteY9" fmla="*/ 381621 h 438150"/>
                <a:gd name="connsiteX10" fmla="*/ 93048 w 526297"/>
                <a:gd name="connsiteY10" fmla="*/ 438771 h 438150"/>
                <a:gd name="connsiteX11" fmla="*/ 73998 w 526297"/>
                <a:gd name="connsiteY11" fmla="*/ 438771 h 438150"/>
                <a:gd name="connsiteX12" fmla="*/ 73998 w 526297"/>
                <a:gd name="connsiteY12" fmla="*/ 381621 h 438150"/>
                <a:gd name="connsiteX13" fmla="*/ 43328 w 526297"/>
                <a:gd name="connsiteY13" fmla="*/ 381621 h 438150"/>
                <a:gd name="connsiteX14" fmla="*/ 14848 w 526297"/>
                <a:gd name="connsiteY14" fmla="*/ 355237 h 438150"/>
                <a:gd name="connsiteX15" fmla="*/ 1513 w 526297"/>
                <a:gd name="connsiteY15" fmla="*/ 181501 h 438150"/>
                <a:gd name="connsiteX16" fmla="*/ 42089 w 526297"/>
                <a:gd name="connsiteY16" fmla="*/ 134162 h 438150"/>
                <a:gd name="connsiteX17" fmla="*/ 45518 w 526297"/>
                <a:gd name="connsiteY17" fmla="*/ 134066 h 438150"/>
                <a:gd name="connsiteX18" fmla="*/ 101906 w 526297"/>
                <a:gd name="connsiteY18" fmla="*/ 180834 h 438150"/>
                <a:gd name="connsiteX19" fmla="*/ 121623 w 526297"/>
                <a:gd name="connsiteY19" fmla="*/ 286371 h 438150"/>
                <a:gd name="connsiteX20" fmla="*/ 407373 w 526297"/>
                <a:gd name="connsiteY20" fmla="*/ 286371 h 438150"/>
                <a:gd name="connsiteX21" fmla="*/ 427185 w 526297"/>
                <a:gd name="connsiteY21" fmla="*/ 180739 h 438150"/>
                <a:gd name="connsiteX22" fmla="*/ 483573 w 526297"/>
                <a:gd name="connsiteY22" fmla="*/ 133971 h 438150"/>
                <a:gd name="connsiteX23" fmla="*/ 416898 w 526297"/>
                <a:gd name="connsiteY23" fmla="*/ 621 h 438150"/>
                <a:gd name="connsiteX24" fmla="*/ 483573 w 526297"/>
                <a:gd name="connsiteY24" fmla="*/ 67296 h 438150"/>
                <a:gd name="connsiteX25" fmla="*/ 483573 w 526297"/>
                <a:gd name="connsiteY25" fmla="*/ 115397 h 438150"/>
                <a:gd name="connsiteX26" fmla="*/ 476429 w 526297"/>
                <a:gd name="connsiteY26" fmla="*/ 114921 h 438150"/>
                <a:gd name="connsiteX27" fmla="*/ 412040 w 526297"/>
                <a:gd name="connsiteY27" fmla="*/ 166451 h 438150"/>
                <a:gd name="connsiteX28" fmla="*/ 411564 w 526297"/>
                <a:gd name="connsiteY28" fmla="*/ 168737 h 438150"/>
                <a:gd name="connsiteX29" fmla="*/ 393086 w 526297"/>
                <a:gd name="connsiteY29" fmla="*/ 267321 h 438150"/>
                <a:gd name="connsiteX30" fmla="*/ 135911 w 526297"/>
                <a:gd name="connsiteY30" fmla="*/ 267321 h 438150"/>
                <a:gd name="connsiteX31" fmla="*/ 117432 w 526297"/>
                <a:gd name="connsiteY31" fmla="*/ 168737 h 438150"/>
                <a:gd name="connsiteX32" fmla="*/ 52567 w 526297"/>
                <a:gd name="connsiteY32" fmla="*/ 114921 h 438150"/>
                <a:gd name="connsiteX33" fmla="*/ 54948 w 526297"/>
                <a:gd name="connsiteY33" fmla="*/ 67296 h 438150"/>
                <a:gd name="connsiteX34" fmla="*/ 121623 w 526297"/>
                <a:gd name="connsiteY34" fmla="*/ 621 h 438150"/>
                <a:gd name="connsiteX35" fmla="*/ 416898 w 526297"/>
                <a:gd name="connsiteY35" fmla="*/ 621 h 4381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526297" h="438150">
                  <a:moveTo>
                    <a:pt x="483573" y="133971"/>
                  </a:moveTo>
                  <a:cubicBezTo>
                    <a:pt x="507957" y="133971"/>
                    <a:pt x="527674" y="153688"/>
                    <a:pt x="527674" y="178072"/>
                  </a:cubicBezTo>
                  <a:cubicBezTo>
                    <a:pt x="527674" y="179215"/>
                    <a:pt x="527674" y="180358"/>
                    <a:pt x="527579" y="181501"/>
                  </a:cubicBezTo>
                  <a:lnTo>
                    <a:pt x="514244" y="355237"/>
                  </a:lnTo>
                  <a:cubicBezTo>
                    <a:pt x="513101" y="370096"/>
                    <a:pt x="500718" y="381621"/>
                    <a:pt x="485764" y="381621"/>
                  </a:cubicBezTo>
                  <a:lnTo>
                    <a:pt x="454998" y="381621"/>
                  </a:lnTo>
                  <a:lnTo>
                    <a:pt x="454998" y="438771"/>
                  </a:lnTo>
                  <a:lnTo>
                    <a:pt x="435948" y="438771"/>
                  </a:lnTo>
                  <a:lnTo>
                    <a:pt x="435948" y="381621"/>
                  </a:lnTo>
                  <a:lnTo>
                    <a:pt x="93048" y="381621"/>
                  </a:lnTo>
                  <a:lnTo>
                    <a:pt x="93048" y="438771"/>
                  </a:lnTo>
                  <a:lnTo>
                    <a:pt x="73998" y="438771"/>
                  </a:lnTo>
                  <a:lnTo>
                    <a:pt x="73998" y="381621"/>
                  </a:lnTo>
                  <a:lnTo>
                    <a:pt x="43328" y="381621"/>
                  </a:lnTo>
                  <a:cubicBezTo>
                    <a:pt x="28373" y="381621"/>
                    <a:pt x="15991" y="370096"/>
                    <a:pt x="14848" y="355237"/>
                  </a:cubicBezTo>
                  <a:lnTo>
                    <a:pt x="1513" y="181501"/>
                  </a:lnTo>
                  <a:cubicBezTo>
                    <a:pt x="-392" y="157212"/>
                    <a:pt x="17801" y="135971"/>
                    <a:pt x="42089" y="134162"/>
                  </a:cubicBezTo>
                  <a:cubicBezTo>
                    <a:pt x="43232" y="134066"/>
                    <a:pt x="44375" y="134066"/>
                    <a:pt x="45518" y="134066"/>
                  </a:cubicBezTo>
                  <a:cubicBezTo>
                    <a:pt x="73141" y="134066"/>
                    <a:pt x="96858" y="153688"/>
                    <a:pt x="101906" y="180834"/>
                  </a:cubicBezTo>
                  <a:lnTo>
                    <a:pt x="121623" y="286371"/>
                  </a:lnTo>
                  <a:lnTo>
                    <a:pt x="407373" y="286371"/>
                  </a:lnTo>
                  <a:lnTo>
                    <a:pt x="427185" y="180739"/>
                  </a:lnTo>
                  <a:cubicBezTo>
                    <a:pt x="432233" y="153592"/>
                    <a:pt x="455951" y="133971"/>
                    <a:pt x="483573" y="133971"/>
                  </a:cubicBezTo>
                  <a:close/>
                  <a:moveTo>
                    <a:pt x="416898" y="621"/>
                  </a:moveTo>
                  <a:cubicBezTo>
                    <a:pt x="453760" y="621"/>
                    <a:pt x="483573" y="30434"/>
                    <a:pt x="483573" y="67296"/>
                  </a:cubicBezTo>
                  <a:lnTo>
                    <a:pt x="483573" y="115397"/>
                  </a:lnTo>
                  <a:cubicBezTo>
                    <a:pt x="481192" y="115112"/>
                    <a:pt x="478811" y="114921"/>
                    <a:pt x="476429" y="114921"/>
                  </a:cubicBezTo>
                  <a:cubicBezTo>
                    <a:pt x="445473" y="114921"/>
                    <a:pt x="418803" y="136448"/>
                    <a:pt x="412040" y="166451"/>
                  </a:cubicBezTo>
                  <a:lnTo>
                    <a:pt x="411564" y="168737"/>
                  </a:lnTo>
                  <a:lnTo>
                    <a:pt x="393086" y="267321"/>
                  </a:lnTo>
                  <a:lnTo>
                    <a:pt x="135911" y="267321"/>
                  </a:lnTo>
                  <a:lnTo>
                    <a:pt x="117432" y="168737"/>
                  </a:lnTo>
                  <a:cubicBezTo>
                    <a:pt x="111622" y="137495"/>
                    <a:pt x="84285" y="114921"/>
                    <a:pt x="52567" y="114921"/>
                  </a:cubicBezTo>
                  <a:lnTo>
                    <a:pt x="54948" y="67296"/>
                  </a:lnTo>
                  <a:cubicBezTo>
                    <a:pt x="54948" y="30434"/>
                    <a:pt x="84761" y="621"/>
                    <a:pt x="121623" y="621"/>
                  </a:cubicBezTo>
                  <a:lnTo>
                    <a:pt x="416898" y="621"/>
                  </a:ln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354"/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9" name="组合 48">
            <a:extLst>
              <a:ext uri="{FF2B5EF4-FFF2-40B4-BE49-F238E27FC236}">
                <a16:creationId xmlns:a16="http://schemas.microsoft.com/office/drawing/2014/main" id="{A1495C3B-FBBC-43ED-811D-8C368D6A4262}"/>
              </a:ext>
            </a:extLst>
          </p:cNvPr>
          <p:cNvGrpSpPr/>
          <p:nvPr/>
        </p:nvGrpSpPr>
        <p:grpSpPr>
          <a:xfrm>
            <a:off x="4210538" y="2461969"/>
            <a:ext cx="410200" cy="410198"/>
            <a:chOff x="6362386" y="2235779"/>
            <a:chExt cx="410200" cy="410198"/>
          </a:xfrm>
        </p:grpSpPr>
        <p:sp>
          <p:nvSpPr>
            <p:cNvPr id="54" name="椭圆 53">
              <a:extLst>
                <a:ext uri="{FF2B5EF4-FFF2-40B4-BE49-F238E27FC236}">
                  <a16:creationId xmlns:a16="http://schemas.microsoft.com/office/drawing/2014/main" id="{8F2CAAEB-D0BE-48E2-9D9F-9D8AECB55F8E}"/>
                </a:ext>
              </a:extLst>
            </p:cNvPr>
            <p:cNvSpPr/>
            <p:nvPr/>
          </p:nvSpPr>
          <p:spPr>
            <a:xfrm>
              <a:off x="6362386" y="2235779"/>
              <a:ext cx="410200" cy="410198"/>
            </a:xfrm>
            <a:prstGeom prst="ellipse">
              <a:avLst/>
            </a:prstGeom>
            <a:gradFill>
              <a:gsLst>
                <a:gs pos="0">
                  <a:schemeClr val="accent3">
                    <a:lumMod val="60000"/>
                    <a:lumOff val="40000"/>
                  </a:schemeClr>
                </a:gs>
                <a:gs pos="60000">
                  <a:schemeClr val="accent3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 fontScale="775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3765"/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  <p:sp>
          <p:nvSpPr>
            <p:cNvPr id="55" name="任意多边形: 形状 54">
              <a:extLst>
                <a:ext uri="{FF2B5EF4-FFF2-40B4-BE49-F238E27FC236}">
                  <a16:creationId xmlns:a16="http://schemas.microsoft.com/office/drawing/2014/main" id="{733C75AE-9315-48F4-839F-E051C5D7AB75}"/>
                </a:ext>
              </a:extLst>
            </p:cNvPr>
            <p:cNvSpPr/>
            <p:nvPr/>
          </p:nvSpPr>
          <p:spPr>
            <a:xfrm>
              <a:off x="6478486" y="2376357"/>
              <a:ext cx="178001" cy="141741"/>
            </a:xfrm>
            <a:custGeom>
              <a:avLst/>
              <a:gdLst>
                <a:gd name="connsiteX0" fmla="*/ 486767 w 514350"/>
                <a:gd name="connsiteY0" fmla="*/ 621 h 409575"/>
                <a:gd name="connsiteX1" fmla="*/ 515342 w 514350"/>
                <a:gd name="connsiteY1" fmla="*/ 29196 h 409575"/>
                <a:gd name="connsiteX2" fmla="*/ 515342 w 514350"/>
                <a:gd name="connsiteY2" fmla="*/ 324471 h 409575"/>
                <a:gd name="connsiteX3" fmla="*/ 486767 w 514350"/>
                <a:gd name="connsiteY3" fmla="*/ 353046 h 409575"/>
                <a:gd name="connsiteX4" fmla="*/ 192159 w 514350"/>
                <a:gd name="connsiteY4" fmla="*/ 353046 h 409575"/>
                <a:gd name="connsiteX5" fmla="*/ 115387 w 514350"/>
                <a:gd name="connsiteY5" fmla="*/ 410196 h 409575"/>
                <a:gd name="connsiteX6" fmla="*/ 115387 w 514350"/>
                <a:gd name="connsiteY6" fmla="*/ 353046 h 409575"/>
                <a:gd name="connsiteX7" fmla="*/ 29567 w 514350"/>
                <a:gd name="connsiteY7" fmla="*/ 353046 h 409575"/>
                <a:gd name="connsiteX8" fmla="*/ 992 w 514350"/>
                <a:gd name="connsiteY8" fmla="*/ 324471 h 409575"/>
                <a:gd name="connsiteX9" fmla="*/ 992 w 514350"/>
                <a:gd name="connsiteY9" fmla="*/ 29196 h 409575"/>
                <a:gd name="connsiteX10" fmla="*/ 29567 w 514350"/>
                <a:gd name="connsiteY10" fmla="*/ 621 h 409575"/>
                <a:gd name="connsiteX11" fmla="*/ 486767 w 514350"/>
                <a:gd name="connsiteY11" fmla="*/ 621 h 409575"/>
                <a:gd name="connsiteX12" fmla="*/ 124817 w 514350"/>
                <a:gd name="connsiteY12" fmla="*/ 143496 h 409575"/>
                <a:gd name="connsiteX13" fmla="*/ 91480 w 514350"/>
                <a:gd name="connsiteY13" fmla="*/ 176834 h 409575"/>
                <a:gd name="connsiteX14" fmla="*/ 124817 w 514350"/>
                <a:gd name="connsiteY14" fmla="*/ 210171 h 409575"/>
                <a:gd name="connsiteX15" fmla="*/ 158155 w 514350"/>
                <a:gd name="connsiteY15" fmla="*/ 176834 h 409575"/>
                <a:gd name="connsiteX16" fmla="*/ 124817 w 514350"/>
                <a:gd name="connsiteY16" fmla="*/ 143496 h 409575"/>
                <a:gd name="connsiteX17" fmla="*/ 258167 w 514350"/>
                <a:gd name="connsiteY17" fmla="*/ 143496 h 409575"/>
                <a:gd name="connsiteX18" fmla="*/ 224830 w 514350"/>
                <a:gd name="connsiteY18" fmla="*/ 176834 h 409575"/>
                <a:gd name="connsiteX19" fmla="*/ 258167 w 514350"/>
                <a:gd name="connsiteY19" fmla="*/ 210171 h 409575"/>
                <a:gd name="connsiteX20" fmla="*/ 291505 w 514350"/>
                <a:gd name="connsiteY20" fmla="*/ 176834 h 409575"/>
                <a:gd name="connsiteX21" fmla="*/ 258167 w 514350"/>
                <a:gd name="connsiteY21" fmla="*/ 143496 h 409575"/>
                <a:gd name="connsiteX22" fmla="*/ 391517 w 514350"/>
                <a:gd name="connsiteY22" fmla="*/ 143496 h 409575"/>
                <a:gd name="connsiteX23" fmla="*/ 358180 w 514350"/>
                <a:gd name="connsiteY23" fmla="*/ 176834 h 409575"/>
                <a:gd name="connsiteX24" fmla="*/ 391517 w 514350"/>
                <a:gd name="connsiteY24" fmla="*/ 210171 h 409575"/>
                <a:gd name="connsiteX25" fmla="*/ 424855 w 514350"/>
                <a:gd name="connsiteY25" fmla="*/ 176834 h 409575"/>
                <a:gd name="connsiteX26" fmla="*/ 391517 w 514350"/>
                <a:gd name="connsiteY26" fmla="*/ 143496 h 409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514350" h="409575">
                  <a:moveTo>
                    <a:pt x="486767" y="621"/>
                  </a:moveTo>
                  <a:cubicBezTo>
                    <a:pt x="502579" y="621"/>
                    <a:pt x="515342" y="13385"/>
                    <a:pt x="515342" y="29196"/>
                  </a:cubicBezTo>
                  <a:lnTo>
                    <a:pt x="515342" y="324471"/>
                  </a:lnTo>
                  <a:cubicBezTo>
                    <a:pt x="515342" y="340282"/>
                    <a:pt x="502579" y="353046"/>
                    <a:pt x="486767" y="353046"/>
                  </a:cubicBezTo>
                  <a:lnTo>
                    <a:pt x="192159" y="353046"/>
                  </a:lnTo>
                  <a:lnTo>
                    <a:pt x="115387" y="410196"/>
                  </a:lnTo>
                  <a:lnTo>
                    <a:pt x="115387" y="353046"/>
                  </a:lnTo>
                  <a:lnTo>
                    <a:pt x="29567" y="353046"/>
                  </a:lnTo>
                  <a:cubicBezTo>
                    <a:pt x="13755" y="353046"/>
                    <a:pt x="992" y="340282"/>
                    <a:pt x="992" y="324471"/>
                  </a:cubicBezTo>
                  <a:lnTo>
                    <a:pt x="992" y="29196"/>
                  </a:lnTo>
                  <a:cubicBezTo>
                    <a:pt x="992" y="13385"/>
                    <a:pt x="13755" y="621"/>
                    <a:pt x="29567" y="621"/>
                  </a:cubicBezTo>
                  <a:lnTo>
                    <a:pt x="486767" y="621"/>
                  </a:lnTo>
                  <a:close/>
                  <a:moveTo>
                    <a:pt x="124817" y="143496"/>
                  </a:moveTo>
                  <a:cubicBezTo>
                    <a:pt x="106434" y="143496"/>
                    <a:pt x="91480" y="158450"/>
                    <a:pt x="91480" y="176834"/>
                  </a:cubicBezTo>
                  <a:cubicBezTo>
                    <a:pt x="91480" y="195217"/>
                    <a:pt x="106434" y="210171"/>
                    <a:pt x="124817" y="210171"/>
                  </a:cubicBezTo>
                  <a:cubicBezTo>
                    <a:pt x="143200" y="210171"/>
                    <a:pt x="158155" y="195217"/>
                    <a:pt x="158155" y="176834"/>
                  </a:cubicBezTo>
                  <a:cubicBezTo>
                    <a:pt x="158155" y="158450"/>
                    <a:pt x="143200" y="143496"/>
                    <a:pt x="124817" y="143496"/>
                  </a:cubicBezTo>
                  <a:close/>
                  <a:moveTo>
                    <a:pt x="258167" y="143496"/>
                  </a:moveTo>
                  <a:cubicBezTo>
                    <a:pt x="239784" y="143496"/>
                    <a:pt x="224830" y="158450"/>
                    <a:pt x="224830" y="176834"/>
                  </a:cubicBezTo>
                  <a:cubicBezTo>
                    <a:pt x="224830" y="195217"/>
                    <a:pt x="239784" y="210171"/>
                    <a:pt x="258167" y="210171"/>
                  </a:cubicBezTo>
                  <a:cubicBezTo>
                    <a:pt x="276550" y="210171"/>
                    <a:pt x="291505" y="195217"/>
                    <a:pt x="291505" y="176834"/>
                  </a:cubicBezTo>
                  <a:cubicBezTo>
                    <a:pt x="291505" y="158450"/>
                    <a:pt x="276550" y="143496"/>
                    <a:pt x="258167" y="143496"/>
                  </a:cubicBezTo>
                  <a:close/>
                  <a:moveTo>
                    <a:pt x="391517" y="143496"/>
                  </a:moveTo>
                  <a:cubicBezTo>
                    <a:pt x="373134" y="143496"/>
                    <a:pt x="358180" y="158450"/>
                    <a:pt x="358180" y="176834"/>
                  </a:cubicBezTo>
                  <a:cubicBezTo>
                    <a:pt x="358180" y="195217"/>
                    <a:pt x="373134" y="210171"/>
                    <a:pt x="391517" y="210171"/>
                  </a:cubicBezTo>
                  <a:cubicBezTo>
                    <a:pt x="409900" y="210171"/>
                    <a:pt x="424855" y="195217"/>
                    <a:pt x="424855" y="176834"/>
                  </a:cubicBezTo>
                  <a:cubicBezTo>
                    <a:pt x="424855" y="158450"/>
                    <a:pt x="409900" y="143496"/>
                    <a:pt x="391517" y="143496"/>
                  </a:cubicBezTo>
                  <a:close/>
                </a:path>
              </a:pathLst>
            </a:custGeom>
            <a:solidFill>
              <a:srgbClr val="FFFFFF"/>
            </a:solidFill>
            <a:ln w="12700" cap="rnd">
              <a:noFill/>
              <a:prstDash val="solid"/>
              <a:round/>
              <a:headEnd/>
              <a:tailEnd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rmAutofit fontScale="25000" lnSpcReduction="20000"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</a:defRPr>
              </a:lvl9pPr>
            </a:lstStyle>
            <a:p>
              <a:pPr algn="ctr" defTabSz="914354"/>
              <a:endParaRPr lang="zh-CN" altLang="en-US" sz="2000" b="1" dirty="0">
                <a:solidFill>
                  <a:schemeClr val="tx1"/>
                </a:solidFill>
              </a:endParaRPr>
            </a:p>
          </p:txBody>
        </p:sp>
      </p:grpSp>
      <p:sp>
        <p:nvSpPr>
          <p:cNvPr id="50" name="文本框 49">
            <a:extLst>
              <a:ext uri="{FF2B5EF4-FFF2-40B4-BE49-F238E27FC236}">
                <a16:creationId xmlns:a16="http://schemas.microsoft.com/office/drawing/2014/main" id="{FEEFF8F3-D432-426F-A92D-29BDF6F65DAD}"/>
              </a:ext>
            </a:extLst>
          </p:cNvPr>
          <p:cNvSpPr txBox="1"/>
          <p:nvPr/>
        </p:nvSpPr>
        <p:spPr>
          <a:xfrm>
            <a:off x="959555" y="3264731"/>
            <a:ext cx="2219711" cy="188340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zh-CN" sz="1400" dirty="0">
                <a:solidFill>
                  <a:srgbClr val="F9FAFB"/>
                </a:solidFill>
                <a:latin typeface="quote-cjk-patch"/>
              </a:rPr>
              <a:t>AI</a:t>
            </a:r>
            <a:r>
              <a:rPr lang="zh-CN" altLang="en-US" sz="1400" b="0" i="0" dirty="0">
                <a:solidFill>
                  <a:srgbClr val="F9FAFB"/>
                </a:solidFill>
                <a:effectLst/>
                <a:latin typeface="quote-cjk-patch"/>
              </a:rPr>
              <a:t>广泛落地于医疗诊断、金融风控、制造维护等核心业务场景。</a:t>
            </a:r>
            <a:endParaRPr lang="en-US" altLang="zh-CN" sz="1400" b="0" i="0" dirty="0">
              <a:solidFill>
                <a:srgbClr val="F9FAFB"/>
              </a:solidFill>
              <a:effectLst/>
              <a:latin typeface="quote-cjk-patch"/>
            </a:endParaRPr>
          </a:p>
          <a:p>
            <a:pPr algn="ctr">
              <a:lnSpc>
                <a:spcPct val="120000"/>
              </a:lnSpc>
            </a:pPr>
            <a:r>
              <a:rPr lang="zh-CN" altLang="en-US" sz="1400" b="0" i="0" dirty="0">
                <a:solidFill>
                  <a:srgbClr val="F9FAFB"/>
                </a:solidFill>
                <a:effectLst/>
                <a:latin typeface="quote-cjk-patch"/>
              </a:rPr>
              <a:t>这种大规模、深层次的行业渗透，标志着企业和机构已全面从“探讨</a:t>
            </a:r>
            <a:r>
              <a:rPr lang="en-US" altLang="zh-CN" sz="1400" b="0" i="0" dirty="0">
                <a:solidFill>
                  <a:srgbClr val="F9FAFB"/>
                </a:solidFill>
                <a:effectLst/>
                <a:latin typeface="quote-cjk-patch"/>
              </a:rPr>
              <a:t>AI”</a:t>
            </a:r>
            <a:r>
              <a:rPr lang="zh-CN" altLang="en-US" sz="1400" b="0" i="0" dirty="0">
                <a:solidFill>
                  <a:srgbClr val="F9FAFB"/>
                </a:solidFill>
                <a:effectLst/>
                <a:latin typeface="quote-cjk-patch"/>
              </a:rPr>
              <a:t>转向“应用</a:t>
            </a:r>
            <a:r>
              <a:rPr lang="en-US" altLang="zh-CN" sz="1400" b="0" i="0" dirty="0">
                <a:solidFill>
                  <a:srgbClr val="F9FAFB"/>
                </a:solidFill>
                <a:effectLst/>
                <a:latin typeface="quote-cjk-patch"/>
              </a:rPr>
              <a:t>AI”</a:t>
            </a:r>
            <a:endParaRPr lang="en-US" altLang="zh-CN" sz="1400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5D8098B9-CE05-4EB7-9C6A-8D6EBC90BD12}"/>
              </a:ext>
            </a:extLst>
          </p:cNvPr>
          <p:cNvSpPr txBox="1"/>
          <p:nvPr/>
        </p:nvSpPr>
        <p:spPr>
          <a:xfrm>
            <a:off x="603514" y="454921"/>
            <a:ext cx="850028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为什么是现在</a:t>
            </a:r>
            <a:r>
              <a:rPr lang="zh-CN" altLang="en-US" sz="3200" b="1" dirty="0"/>
              <a:t>？</a:t>
            </a:r>
            <a:endParaRPr lang="en-US" altLang="zh-CN" sz="3200" b="1" dirty="0"/>
          </a:p>
          <a:p>
            <a:pPr marL="0" marR="0" lvl="0" indent="0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           ———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时机成熟、兵家必争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21DB4C4-5AD9-412D-AE6C-F2602C1FB9DE}"/>
              </a:ext>
            </a:extLst>
          </p:cNvPr>
          <p:cNvSpPr txBox="1"/>
          <p:nvPr/>
        </p:nvSpPr>
        <p:spPr>
          <a:xfrm>
            <a:off x="839136" y="2421788"/>
            <a:ext cx="264687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zh-CN" altLang="en-US" sz="1600" b="1" dirty="0"/>
              <a:t>企业和机构已接纳和拥抱</a:t>
            </a:r>
            <a:r>
              <a:rPr lang="en-US" altLang="zh-CN" sz="1600" b="1" dirty="0"/>
              <a:t>AI</a:t>
            </a:r>
          </a:p>
          <a:p>
            <a:pPr algn="ctr"/>
            <a:r>
              <a:rPr kumimoji="0" lang="zh-CN" altLang="en-US" sz="16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各项应用已陆续推行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1E5B1CB-5B92-55AF-E739-6B38FDAE3D6A}"/>
              </a:ext>
            </a:extLst>
          </p:cNvPr>
          <p:cNvSpPr txBox="1"/>
          <p:nvPr/>
        </p:nvSpPr>
        <p:spPr>
          <a:xfrm>
            <a:off x="4545705" y="2401698"/>
            <a:ext cx="254674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/>
              <a:t>基座模型能力已达临界点</a:t>
            </a:r>
            <a:endParaRPr lang="en-US" altLang="zh-CN" sz="1600" b="1" dirty="0"/>
          </a:p>
          <a:p>
            <a:pPr algn="ctr"/>
            <a:r>
              <a:rPr lang="zh-CN" altLang="en-US" sz="1600" b="1" dirty="0"/>
              <a:t>「自主研究」可实际落地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2F66584B-D3CD-7E4A-4514-18ACFFF91DCB}"/>
              </a:ext>
            </a:extLst>
          </p:cNvPr>
          <p:cNvSpPr txBox="1"/>
          <p:nvPr/>
        </p:nvSpPr>
        <p:spPr>
          <a:xfrm>
            <a:off x="4719572" y="3268380"/>
            <a:ext cx="2044897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rgbClr val="F9FAFB"/>
                </a:solidFill>
                <a:latin typeface="quote-cjk-patch"/>
              </a:rPr>
              <a:t>底层基座模型已跨过独立执行复杂任务的能力阈值。「自进化」智能体（如</a:t>
            </a:r>
            <a:r>
              <a:rPr lang="en-US" altLang="zh-CN" sz="1400" dirty="0" err="1">
                <a:solidFill>
                  <a:srgbClr val="F9FAFB"/>
                </a:solidFill>
                <a:latin typeface="quote-cjk-patch"/>
              </a:rPr>
              <a:t>AlphaEvolve</a:t>
            </a:r>
            <a:r>
              <a:rPr lang="zh-CN" altLang="en-US" sz="1400" dirty="0">
                <a:solidFill>
                  <a:srgbClr val="F9FAFB"/>
                </a:solidFill>
                <a:latin typeface="quote-cjk-patch"/>
              </a:rPr>
              <a:t>）</a:t>
            </a:r>
            <a:endParaRPr lang="en-US" altLang="zh-CN" sz="1400" dirty="0">
              <a:solidFill>
                <a:srgbClr val="F9FAFB"/>
              </a:solidFill>
              <a:latin typeface="quote-cjk-patch"/>
            </a:endParaRPr>
          </a:p>
          <a:p>
            <a:pPr algn="ctr"/>
            <a:r>
              <a:rPr lang="zh-CN" altLang="en-US" sz="1400" dirty="0">
                <a:solidFill>
                  <a:srgbClr val="F9FAFB"/>
                </a:solidFill>
                <a:latin typeface="quote-cjk-patch"/>
              </a:rPr>
              <a:t>正加速涌现</a:t>
            </a:r>
            <a:endParaRPr lang="en-US" altLang="zh-CN" sz="1400" dirty="0">
              <a:solidFill>
                <a:srgbClr val="F9FAFB"/>
              </a:solidFill>
              <a:latin typeface="quote-cjk-patch"/>
            </a:endParaRPr>
          </a:p>
          <a:p>
            <a:pPr algn="ctr"/>
            <a:r>
              <a:rPr lang="zh-CN" altLang="en-US" sz="1400" dirty="0">
                <a:solidFill>
                  <a:srgbClr val="F9FAFB"/>
                </a:solidFill>
                <a:latin typeface="quote-cjk-patch"/>
              </a:rPr>
              <a:t>让</a:t>
            </a:r>
            <a:r>
              <a:rPr lang="en-US" altLang="zh-CN" sz="1400" dirty="0">
                <a:solidFill>
                  <a:srgbClr val="F9FAFB"/>
                </a:solidFill>
                <a:latin typeface="quote-cjk-patch"/>
              </a:rPr>
              <a:t>AI</a:t>
            </a:r>
            <a:r>
              <a:rPr lang="zh-CN" altLang="en-US" sz="1400" dirty="0">
                <a:solidFill>
                  <a:srgbClr val="F9FAFB"/>
                </a:solidFill>
                <a:latin typeface="quote-cjk-patch"/>
              </a:rPr>
              <a:t>独立完成长周期任务已不再是理论设想</a:t>
            </a:r>
            <a:r>
              <a:rPr lang="en-US" altLang="zh-CN" sz="1400" dirty="0">
                <a:solidFill>
                  <a:srgbClr val="F9FAFB"/>
                </a:solidFill>
                <a:latin typeface="quote-cjk-patch"/>
              </a:rPr>
              <a:t>,</a:t>
            </a:r>
          </a:p>
          <a:p>
            <a:pPr algn="ctr"/>
            <a:r>
              <a:rPr lang="zh-CN" altLang="en-US" sz="1400" dirty="0">
                <a:solidFill>
                  <a:srgbClr val="F9FAFB"/>
                </a:solidFill>
                <a:latin typeface="quote-cjk-patch"/>
              </a:rPr>
              <a:t>而是</a:t>
            </a:r>
            <a:r>
              <a:rPr lang="zh-CN" altLang="en-US" sz="1400" b="1" dirty="0">
                <a:solidFill>
                  <a:srgbClr val="F9FAFB"/>
                </a:solidFill>
                <a:latin typeface="quote-cjk-patch"/>
              </a:rPr>
              <a:t>切实可行的</a:t>
            </a:r>
            <a:r>
              <a:rPr lang="zh-CN" altLang="en-US" sz="1400" dirty="0">
                <a:solidFill>
                  <a:srgbClr val="F9FAFB"/>
                </a:solidFill>
                <a:latin typeface="quote-cjk-patch"/>
              </a:rPr>
              <a:t>工程转化问题。</a:t>
            </a:r>
            <a:endParaRPr lang="zh-CN" altLang="en-US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BF7CDFD3-2250-1A27-07AF-1492A48ADC2A}"/>
              </a:ext>
            </a:extLst>
          </p:cNvPr>
          <p:cNvSpPr/>
          <p:nvPr/>
        </p:nvSpPr>
        <p:spPr>
          <a:xfrm>
            <a:off x="7998026" y="2178739"/>
            <a:ext cx="2748635" cy="3753591"/>
          </a:xfrm>
          <a:prstGeom prst="roundRect">
            <a:avLst>
              <a:gd name="adj" fmla="val 4788"/>
            </a:avLst>
          </a:prstGeom>
          <a:ln w="76200" cap="rnd">
            <a:gradFill>
              <a:gsLst>
                <a:gs pos="100000">
                  <a:schemeClr val="accent3">
                    <a:lumMod val="60000"/>
                    <a:lumOff val="40000"/>
                    <a:alpha val="0"/>
                  </a:schemeClr>
                </a:gs>
                <a:gs pos="20000">
                  <a:schemeClr val="accent3"/>
                </a:gs>
              </a:gsLst>
              <a:lin ang="1200000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" name="椭圆 8">
            <a:extLst>
              <a:ext uri="{FF2B5EF4-FFF2-40B4-BE49-F238E27FC236}">
                <a16:creationId xmlns:a16="http://schemas.microsoft.com/office/drawing/2014/main" id="{1DA2692D-E9BC-C5B6-9500-1943456707CF}"/>
              </a:ext>
            </a:extLst>
          </p:cNvPr>
          <p:cNvSpPr/>
          <p:nvPr/>
        </p:nvSpPr>
        <p:spPr>
          <a:xfrm>
            <a:off x="7792928" y="2461969"/>
            <a:ext cx="410200" cy="410198"/>
          </a:xfrm>
          <a:prstGeom prst="ellipse">
            <a:avLst/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60000">
                <a:schemeClr val="accent3"/>
              </a:gs>
            </a:gsLst>
            <a:lin ang="2700000" scaled="0"/>
          </a:gradFill>
          <a:ln w="57150" cap="rnd">
            <a:noFill/>
            <a:prstDash val="solid"/>
            <a:round/>
          </a:ln>
          <a:effectLst>
            <a:outerShdw blurRad="76200" dist="50800" dir="5400000" algn="ctr" rotWithShape="0">
              <a:schemeClr val="accent3">
                <a:alpha val="2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normAutofit fontScale="77500" lnSpcReduction="20000"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</a:defRPr>
            </a:lvl9pPr>
          </a:lstStyle>
          <a:p>
            <a:pPr algn="ctr" defTabSz="913765"/>
            <a:endParaRPr lang="zh-CN" altLang="en-US" sz="2000" b="1" dirty="0">
              <a:solidFill>
                <a:schemeClr val="tx1"/>
              </a:solidFill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FA4C0A33-ABD8-6AB4-99EE-28C34EF5EB9F}"/>
              </a:ext>
            </a:extLst>
          </p:cNvPr>
          <p:cNvSpPr txBox="1"/>
          <p:nvPr/>
        </p:nvSpPr>
        <p:spPr>
          <a:xfrm>
            <a:off x="8349896" y="2365866"/>
            <a:ext cx="22409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b="1" dirty="0"/>
              <a:t>千亿级资本涌入基础设施，「数据资产」成为核心胜负手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FBE3AAD-6B4C-5CAE-0003-24778E5CC00A}"/>
              </a:ext>
            </a:extLst>
          </p:cNvPr>
          <p:cNvSpPr txBox="1"/>
          <p:nvPr/>
        </p:nvSpPr>
        <p:spPr>
          <a:xfrm>
            <a:off x="8349896" y="3268380"/>
            <a:ext cx="2044897" cy="24622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400" dirty="0">
                <a:solidFill>
                  <a:srgbClr val="F9FAFB"/>
                </a:solidFill>
                <a:latin typeface="quote-cjk-patch"/>
              </a:rPr>
              <a:t>全球 </a:t>
            </a:r>
            <a:r>
              <a:rPr lang="en-US" altLang="zh-CN" sz="1400" dirty="0">
                <a:solidFill>
                  <a:srgbClr val="F9FAFB"/>
                </a:solidFill>
                <a:latin typeface="quote-cjk-patch"/>
              </a:rPr>
              <a:t>AI </a:t>
            </a:r>
            <a:r>
              <a:rPr lang="zh-CN" altLang="en-US" sz="1400" dirty="0">
                <a:solidFill>
                  <a:srgbClr val="F9FAFB"/>
                </a:solidFill>
                <a:latin typeface="quote-cjk-patch"/>
              </a:rPr>
              <a:t>产业已进入规模空前的基建竞赛</a:t>
            </a:r>
            <a:r>
              <a:rPr lang="en-US" altLang="zh-CN" sz="1400" dirty="0">
                <a:solidFill>
                  <a:srgbClr val="F9FAFB"/>
                </a:solidFill>
                <a:latin typeface="quote-cjk-patch"/>
              </a:rPr>
              <a:t>:</a:t>
            </a:r>
            <a:r>
              <a:rPr lang="zh-CN" altLang="en-US" sz="1400" dirty="0">
                <a:solidFill>
                  <a:srgbClr val="F9FAFB"/>
                </a:solidFill>
                <a:latin typeface="quote-cjk-patch"/>
              </a:rPr>
              <a:t>仅 </a:t>
            </a:r>
            <a:r>
              <a:rPr lang="en-US" altLang="zh-CN" sz="1400" dirty="0">
                <a:solidFill>
                  <a:srgbClr val="F9FAFB"/>
                </a:solidFill>
                <a:latin typeface="quote-cjk-patch"/>
              </a:rPr>
              <a:t>2024 </a:t>
            </a:r>
            <a:r>
              <a:rPr lang="zh-CN" altLang="en-US" sz="1400" dirty="0">
                <a:solidFill>
                  <a:srgbClr val="F9FAFB"/>
                </a:solidFill>
                <a:latin typeface="quote-cjk-patch"/>
              </a:rPr>
              <a:t>年</a:t>
            </a:r>
            <a:r>
              <a:rPr lang="en-US" altLang="zh-CN" sz="1400" dirty="0">
                <a:solidFill>
                  <a:srgbClr val="F9FAFB"/>
                </a:solidFill>
                <a:latin typeface="quote-cjk-patch"/>
              </a:rPr>
              <a:t>,</a:t>
            </a:r>
            <a:r>
              <a:rPr lang="zh-CN" altLang="en-US" sz="1400" dirty="0">
                <a:solidFill>
                  <a:srgbClr val="F9FAFB"/>
                </a:solidFill>
                <a:latin typeface="quote-cjk-patch"/>
              </a:rPr>
              <a:t>美国私人 </a:t>
            </a:r>
            <a:r>
              <a:rPr lang="en-US" altLang="zh-CN" sz="1400" dirty="0">
                <a:solidFill>
                  <a:srgbClr val="F9FAFB"/>
                </a:solidFill>
                <a:latin typeface="quote-cjk-patch"/>
              </a:rPr>
              <a:t>AI </a:t>
            </a:r>
            <a:r>
              <a:rPr lang="zh-CN" altLang="en-US" sz="1400" dirty="0">
                <a:solidFill>
                  <a:srgbClr val="F9FAFB"/>
                </a:solidFill>
                <a:latin typeface="quote-cjk-patch"/>
              </a:rPr>
              <a:t>领域投资即高达 </a:t>
            </a:r>
            <a:r>
              <a:rPr lang="en-US" altLang="zh-CN" sz="1400" b="1" dirty="0">
                <a:solidFill>
                  <a:srgbClr val="F9FAFB"/>
                </a:solidFill>
                <a:latin typeface="quote-cjk-patch"/>
              </a:rPr>
              <a:t>1,091 </a:t>
            </a:r>
            <a:r>
              <a:rPr lang="zh-CN" altLang="en-US" sz="1400" b="1" dirty="0">
                <a:solidFill>
                  <a:srgbClr val="F9FAFB"/>
                </a:solidFill>
                <a:latin typeface="quote-cjk-patch"/>
              </a:rPr>
              <a:t>亿</a:t>
            </a:r>
            <a:r>
              <a:rPr lang="zh-CN" altLang="en-US" sz="1400" dirty="0">
                <a:solidFill>
                  <a:srgbClr val="F9FAFB"/>
                </a:solidFill>
                <a:latin typeface="quote-cjk-patch"/>
              </a:rPr>
              <a:t>美元</a:t>
            </a:r>
            <a:r>
              <a:rPr lang="en-US" altLang="zh-CN" sz="1400" dirty="0">
                <a:solidFill>
                  <a:srgbClr val="F9FAFB"/>
                </a:solidFill>
                <a:latin typeface="quote-cjk-patch"/>
              </a:rPr>
              <a:t>;</a:t>
            </a:r>
          </a:p>
          <a:p>
            <a:pPr algn="ctr"/>
            <a:r>
              <a:rPr lang="zh-CN" altLang="en-US" sz="1400" dirty="0">
                <a:solidFill>
                  <a:srgbClr val="F9FAFB"/>
                </a:solidFill>
                <a:latin typeface="quote-cjk-patch"/>
              </a:rPr>
              <a:t>在算力与模型极度内卷的背景下</a:t>
            </a:r>
            <a:r>
              <a:rPr lang="en-US" altLang="zh-CN" sz="1400" dirty="0">
                <a:solidFill>
                  <a:srgbClr val="F9FAFB"/>
                </a:solidFill>
                <a:latin typeface="quote-cjk-patch"/>
              </a:rPr>
              <a:t>,</a:t>
            </a:r>
            <a:r>
              <a:rPr lang="zh-CN" altLang="en-US" sz="1400" dirty="0">
                <a:solidFill>
                  <a:srgbClr val="F9FAFB"/>
                </a:solidFill>
                <a:latin typeface="quote-cjk-patch"/>
              </a:rPr>
              <a:t>真正具备时间复利、且无法通过砸钱直接获取的资产</a:t>
            </a:r>
            <a:r>
              <a:rPr lang="en-US" altLang="zh-CN" sz="1400" dirty="0">
                <a:solidFill>
                  <a:srgbClr val="F9FAFB"/>
                </a:solidFill>
                <a:latin typeface="quote-cjk-patch"/>
              </a:rPr>
              <a:t>,</a:t>
            </a:r>
          </a:p>
          <a:p>
            <a:pPr algn="ctr"/>
            <a:r>
              <a:rPr lang="zh-CN" altLang="en-US" sz="1400" dirty="0">
                <a:solidFill>
                  <a:srgbClr val="F9FAFB"/>
                </a:solidFill>
                <a:latin typeface="quote-cjk-patch"/>
              </a:rPr>
              <a:t>是 </a:t>
            </a:r>
            <a:r>
              <a:rPr lang="en-US" altLang="zh-CN" sz="1400" dirty="0">
                <a:solidFill>
                  <a:srgbClr val="F9FAFB"/>
                </a:solidFill>
                <a:latin typeface="quote-cjk-patch"/>
              </a:rPr>
              <a:t>AI </a:t>
            </a:r>
            <a:r>
              <a:rPr lang="zh-CN" altLang="en-US" sz="1400" dirty="0">
                <a:solidFill>
                  <a:srgbClr val="F9FAFB"/>
                </a:solidFill>
                <a:latin typeface="quote-cjk-patch"/>
              </a:rPr>
              <a:t>试错与推导的「过程数据」</a:t>
            </a:r>
          </a:p>
        </p:txBody>
      </p:sp>
      <p:sp>
        <p:nvSpPr>
          <p:cNvPr id="13" name="Shape_1">
            <a:extLst>
              <a:ext uri="{FF2B5EF4-FFF2-40B4-BE49-F238E27FC236}">
                <a16:creationId xmlns:a16="http://schemas.microsoft.com/office/drawing/2014/main" id="{B3785CC7-3988-E723-AC01-6992237BFC0A}"/>
              </a:ext>
            </a:extLst>
          </p:cNvPr>
          <p:cNvSpPr/>
          <p:nvPr/>
        </p:nvSpPr>
        <p:spPr>
          <a:xfrm>
            <a:off x="7923606" y="2548757"/>
            <a:ext cx="155860" cy="253709"/>
          </a:xfrm>
          <a:custGeom>
            <a:avLst/>
            <a:gdLst>
              <a:gd name="csX0" fmla="*/ 1416462 w 1616413"/>
              <a:gd name="csY0" fmla="*/ 2601315 h 2813195"/>
              <a:gd name="csX1" fmla="*/ 1416509 w 1616413"/>
              <a:gd name="csY1" fmla="*/ 2601362 h 2813195"/>
              <a:gd name="csX2" fmla="*/ 1416415 w 1616413"/>
              <a:gd name="csY2" fmla="*/ 2601362 h 2813195"/>
              <a:gd name="csX3" fmla="*/ 1179707 w 1616413"/>
              <a:gd name="csY3" fmla="*/ 2420041 h 2813195"/>
              <a:gd name="csX4" fmla="*/ 1217786 w 1616413"/>
              <a:gd name="csY4" fmla="*/ 2430520 h 2813195"/>
              <a:gd name="csX5" fmla="*/ 1398732 w 1616413"/>
              <a:gd name="csY5" fmla="*/ 2606788 h 2813195"/>
              <a:gd name="csX6" fmla="*/ 1212640 w 1616413"/>
              <a:gd name="csY6" fmla="*/ 2803265 h 2813195"/>
              <a:gd name="csX7" fmla="*/ 1178584 w 1616413"/>
              <a:gd name="csY7" fmla="*/ 2812809 h 2813195"/>
              <a:gd name="csX8" fmla="*/ 440951 w 1616413"/>
              <a:gd name="csY8" fmla="*/ 2812809 h 2813195"/>
              <a:gd name="csX9" fmla="*/ 406427 w 1616413"/>
              <a:gd name="csY9" fmla="*/ 2804575 h 2813195"/>
              <a:gd name="csX10" fmla="*/ 203962 w 1616413"/>
              <a:gd name="csY10" fmla="*/ 2612776 h 2813195"/>
              <a:gd name="csX11" fmla="*/ 204149 w 1616413"/>
              <a:gd name="csY11" fmla="*/ 2612776 h 2813195"/>
              <a:gd name="csX12" fmla="*/ 399130 w 1616413"/>
              <a:gd name="csY12" fmla="*/ 2430520 h 2813195"/>
              <a:gd name="csX13" fmla="*/ 442074 w 1616413"/>
              <a:gd name="csY13" fmla="*/ 2420509 h 2813195"/>
              <a:gd name="csX14" fmla="*/ 1179707 w 1616413"/>
              <a:gd name="csY14" fmla="*/ 2420041 h 2813195"/>
              <a:gd name="csX15" fmla="*/ 1415106 w 1616413"/>
              <a:gd name="csY15" fmla="*/ 1411176 h 2813195"/>
              <a:gd name="csX16" fmla="*/ 1604659 w 1616413"/>
              <a:gd name="csY16" fmla="*/ 1601572 h 2813195"/>
              <a:gd name="csX17" fmla="*/ 1615887 w 1616413"/>
              <a:gd name="csY17" fmla="*/ 1639371 h 2813195"/>
              <a:gd name="csX18" fmla="*/ 1615887 w 1616413"/>
              <a:gd name="csY18" fmla="*/ 2372325 h 2813195"/>
              <a:gd name="csX19" fmla="*/ 1605408 w 1616413"/>
              <a:gd name="csY19" fmla="*/ 2410591 h 2813195"/>
              <a:gd name="csX20" fmla="*/ 1416462 w 1616413"/>
              <a:gd name="csY20" fmla="*/ 2601315 h 2813195"/>
              <a:gd name="csX21" fmla="*/ 1325615 w 1616413"/>
              <a:gd name="csY21" fmla="*/ 2509789 h 2813195"/>
              <a:gd name="csX22" fmla="*/ 1240615 w 1616413"/>
              <a:gd name="csY22" fmla="*/ 2421725 h 2813195"/>
              <a:gd name="csX23" fmla="*/ 1220125 w 1616413"/>
              <a:gd name="csY23" fmla="*/ 2369331 h 2813195"/>
              <a:gd name="csX24" fmla="*/ 1220686 w 1616413"/>
              <a:gd name="csY24" fmla="*/ 1636377 h 2813195"/>
              <a:gd name="csX25" fmla="*/ 1234440 w 1616413"/>
              <a:gd name="csY25" fmla="*/ 1595210 h 2813195"/>
              <a:gd name="csX26" fmla="*/ 1415106 w 1616413"/>
              <a:gd name="csY26" fmla="*/ 1411176 h 2813195"/>
              <a:gd name="csX27" fmla="*/ 183098 w 1616413"/>
              <a:gd name="csY27" fmla="*/ 1408089 h 2813195"/>
              <a:gd name="csX28" fmla="*/ 384535 w 1616413"/>
              <a:gd name="csY28" fmla="*/ 1602134 h 2813195"/>
              <a:gd name="csX29" fmla="*/ 394265 w 1616413"/>
              <a:gd name="csY29" fmla="*/ 1641055 h 2813195"/>
              <a:gd name="csX30" fmla="*/ 394358 w 1616413"/>
              <a:gd name="csY30" fmla="*/ 2373448 h 2813195"/>
              <a:gd name="csX31" fmla="*/ 378734 w 1616413"/>
              <a:gd name="csY31" fmla="*/ 2418919 h 2813195"/>
              <a:gd name="csX32" fmla="*/ 203120 w 1616413"/>
              <a:gd name="csY32" fmla="*/ 2599491 h 2813195"/>
              <a:gd name="csX33" fmla="*/ 0 w 1616413"/>
              <a:gd name="csY33" fmla="*/ 2411341 h 2813195"/>
              <a:gd name="csX34" fmla="*/ 0 w 1616413"/>
              <a:gd name="csY34" fmla="*/ 1607560 h 2813195"/>
              <a:gd name="csX35" fmla="*/ 183098 w 1616413"/>
              <a:gd name="csY35" fmla="*/ 1408089 h 2813195"/>
              <a:gd name="csX36" fmla="*/ 202933 w 1616413"/>
              <a:gd name="csY36" fmla="*/ 215189 h 2813195"/>
              <a:gd name="csX37" fmla="*/ 386125 w 1616413"/>
              <a:gd name="csY37" fmla="*/ 402498 h 2813195"/>
              <a:gd name="csX38" fmla="*/ 394265 w 1616413"/>
              <a:gd name="csY38" fmla="*/ 436647 h 2813195"/>
              <a:gd name="csX39" fmla="*/ 393984 w 1616413"/>
              <a:gd name="csY39" fmla="*/ 1169134 h 2813195"/>
              <a:gd name="csX40" fmla="*/ 368536 w 1616413"/>
              <a:gd name="csY40" fmla="*/ 1229294 h 2813195"/>
              <a:gd name="csX41" fmla="*/ 184970 w 1616413"/>
              <a:gd name="csY41" fmla="*/ 1408837 h 2813195"/>
              <a:gd name="csX42" fmla="*/ 0 w 1616413"/>
              <a:gd name="csY42" fmla="*/ 1205623 h 2813195"/>
              <a:gd name="csX43" fmla="*/ 0 w 1616413"/>
              <a:gd name="csY43" fmla="*/ 401843 h 2813195"/>
              <a:gd name="csX44" fmla="*/ 202933 w 1616413"/>
              <a:gd name="csY44" fmla="*/ 215189 h 2813195"/>
              <a:gd name="csX45" fmla="*/ 1421700 w 1616413"/>
              <a:gd name="csY45" fmla="*/ 206163 h 2813195"/>
              <a:gd name="csX46" fmla="*/ 1601478 w 1616413"/>
              <a:gd name="csY46" fmla="*/ 398381 h 2813195"/>
              <a:gd name="csX47" fmla="*/ 1615793 w 1616413"/>
              <a:gd name="csY47" fmla="*/ 439829 h 2813195"/>
              <a:gd name="csX48" fmla="*/ 1615980 w 1616413"/>
              <a:gd name="csY48" fmla="*/ 1173438 h 2813195"/>
              <a:gd name="csX49" fmla="*/ 1604846 w 1616413"/>
              <a:gd name="csY49" fmla="*/ 1211330 h 2813195"/>
              <a:gd name="csX50" fmla="*/ 1410614 w 1616413"/>
              <a:gd name="csY50" fmla="*/ 1399387 h 2813195"/>
              <a:gd name="csX51" fmla="*/ 1237620 w 1616413"/>
              <a:gd name="csY51" fmla="*/ 1221622 h 2813195"/>
              <a:gd name="csX52" fmla="*/ 1220125 w 1616413"/>
              <a:gd name="csY52" fmla="*/ 1171380 h 2813195"/>
              <a:gd name="csX53" fmla="*/ 1221060 w 1616413"/>
              <a:gd name="csY53" fmla="*/ 442448 h 2813195"/>
              <a:gd name="csX54" fmla="*/ 1242486 w 1616413"/>
              <a:gd name="csY54" fmla="*/ 389774 h 2813195"/>
              <a:gd name="csX55" fmla="*/ 1327836 w 1616413"/>
              <a:gd name="csY55" fmla="*/ 301031 h 2813195"/>
              <a:gd name="csX56" fmla="*/ 1421654 w 1616413"/>
              <a:gd name="csY56" fmla="*/ 206114 h 2813195"/>
              <a:gd name="csX57" fmla="*/ 1421748 w 1616413"/>
              <a:gd name="csY57" fmla="*/ 206114 h 2813195"/>
              <a:gd name="csX58" fmla="*/ 1421700 w 1616413"/>
              <a:gd name="csY58" fmla="*/ 206163 h 2813195"/>
              <a:gd name="csX59" fmla="*/ 411106 w 1616413"/>
              <a:gd name="csY59" fmla="*/ 0 h 2813195"/>
              <a:gd name="csX60" fmla="*/ 1205343 w 1616413"/>
              <a:gd name="csY60" fmla="*/ 0 h 2813195"/>
              <a:gd name="csX61" fmla="*/ 1398171 w 1616413"/>
              <a:gd name="csY61" fmla="*/ 201436 h 2813195"/>
              <a:gd name="csX62" fmla="*/ 1210676 w 1616413"/>
              <a:gd name="csY62" fmla="*/ 389306 h 2813195"/>
              <a:gd name="csX63" fmla="*/ 1175310 w 1616413"/>
              <a:gd name="csY63" fmla="*/ 394358 h 2813195"/>
              <a:gd name="csX64" fmla="*/ 438519 w 1616413"/>
              <a:gd name="csY64" fmla="*/ 393797 h 2813195"/>
              <a:gd name="csX65" fmla="*/ 397352 w 1616413"/>
              <a:gd name="csY65" fmla="*/ 381353 h 2813195"/>
              <a:gd name="csX66" fmla="*/ 214254 w 1616413"/>
              <a:gd name="csY66" fmla="*/ 203120 h 2813195"/>
              <a:gd name="csX67" fmla="*/ 411106 w 1616413"/>
              <a:gd name="csY67" fmla="*/ 0 h 281319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</a:cxnLst>
            <a:rect l="l" t="t" r="r" b="b"/>
            <a:pathLst>
              <a:path w="1616413" h="2813195">
                <a:moveTo>
                  <a:pt x="1416462" y="2601315"/>
                </a:moveTo>
                <a:lnTo>
                  <a:pt x="1416509" y="2601362"/>
                </a:lnTo>
                <a:lnTo>
                  <a:pt x="1416415" y="2601362"/>
                </a:lnTo>
                <a:close/>
                <a:moveTo>
                  <a:pt x="1179707" y="2420041"/>
                </a:moveTo>
                <a:cubicBezTo>
                  <a:pt x="1192618" y="2420041"/>
                  <a:pt x="1209272" y="2422380"/>
                  <a:pt x="1217786" y="2430520"/>
                </a:cubicBezTo>
                <a:cubicBezTo>
                  <a:pt x="1280846" y="2490118"/>
                  <a:pt x="1342315" y="2551400"/>
                  <a:pt x="1398732" y="2606788"/>
                </a:cubicBezTo>
                <a:cubicBezTo>
                  <a:pt x="1334175" y="2675368"/>
                  <a:pt x="1274203" y="2740018"/>
                  <a:pt x="1212640" y="2803265"/>
                </a:cubicBezTo>
                <a:cubicBezTo>
                  <a:pt x="1205436" y="2810657"/>
                  <a:pt x="1190185" y="2812809"/>
                  <a:pt x="1178584" y="2812809"/>
                </a:cubicBezTo>
                <a:cubicBezTo>
                  <a:pt x="932706" y="2813370"/>
                  <a:pt x="686829" y="2813277"/>
                  <a:pt x="440951" y="2812809"/>
                </a:cubicBezTo>
                <a:cubicBezTo>
                  <a:pt x="429256" y="2812809"/>
                  <a:pt x="414099" y="2811686"/>
                  <a:pt x="406427" y="2804575"/>
                </a:cubicBezTo>
                <a:cubicBezTo>
                  <a:pt x="341496" y="2744696"/>
                  <a:pt x="277969" y="2683321"/>
                  <a:pt x="203962" y="2612776"/>
                </a:cubicBezTo>
                <a:lnTo>
                  <a:pt x="204149" y="2612776"/>
                </a:lnTo>
                <a:cubicBezTo>
                  <a:pt x="274507" y="2546441"/>
                  <a:pt x="335883" y="2487404"/>
                  <a:pt x="399130" y="2430520"/>
                </a:cubicBezTo>
                <a:cubicBezTo>
                  <a:pt x="408766" y="2421819"/>
                  <a:pt x="427572" y="2420602"/>
                  <a:pt x="442074" y="2420509"/>
                </a:cubicBezTo>
                <a:cubicBezTo>
                  <a:pt x="687952" y="2419760"/>
                  <a:pt x="933829" y="2419667"/>
                  <a:pt x="1179707" y="2420041"/>
                </a:cubicBezTo>
                <a:close/>
                <a:moveTo>
                  <a:pt x="1415106" y="1411176"/>
                </a:moveTo>
                <a:cubicBezTo>
                  <a:pt x="1480130" y="1476014"/>
                  <a:pt x="1543190" y="1537951"/>
                  <a:pt x="1604659" y="1601572"/>
                </a:cubicBezTo>
                <a:cubicBezTo>
                  <a:pt x="1612799" y="1609993"/>
                  <a:pt x="1615887" y="1626553"/>
                  <a:pt x="1615887" y="1639371"/>
                </a:cubicBezTo>
                <a:cubicBezTo>
                  <a:pt x="1616542" y="1883658"/>
                  <a:pt x="1616542" y="2128038"/>
                  <a:pt x="1615887" y="2372325"/>
                </a:cubicBezTo>
                <a:cubicBezTo>
                  <a:pt x="1615887" y="2385330"/>
                  <a:pt x="1613548" y="2402171"/>
                  <a:pt x="1605408" y="2410591"/>
                </a:cubicBezTo>
                <a:lnTo>
                  <a:pt x="1416462" y="2601315"/>
                </a:lnTo>
                <a:lnTo>
                  <a:pt x="1325615" y="2509789"/>
                </a:lnTo>
                <a:cubicBezTo>
                  <a:pt x="1296401" y="2480248"/>
                  <a:pt x="1268169" y="2451291"/>
                  <a:pt x="1240615" y="2421725"/>
                </a:cubicBezTo>
                <a:cubicBezTo>
                  <a:pt x="1228639" y="2408814"/>
                  <a:pt x="1220219" y="2387108"/>
                  <a:pt x="1220125" y="2369331"/>
                </a:cubicBezTo>
                <a:cubicBezTo>
                  <a:pt x="1219096" y="2125044"/>
                  <a:pt x="1219657" y="1880757"/>
                  <a:pt x="1220686" y="1636377"/>
                </a:cubicBezTo>
                <a:cubicBezTo>
                  <a:pt x="1220686" y="1622436"/>
                  <a:pt x="1225271" y="1604753"/>
                  <a:pt x="1234440" y="1595210"/>
                </a:cubicBezTo>
                <a:cubicBezTo>
                  <a:pt x="1293009" y="1533553"/>
                  <a:pt x="1353449" y="1473581"/>
                  <a:pt x="1415106" y="1411176"/>
                </a:cubicBezTo>
                <a:close/>
                <a:moveTo>
                  <a:pt x="183098" y="1408089"/>
                </a:moveTo>
                <a:cubicBezTo>
                  <a:pt x="258415" y="1480224"/>
                  <a:pt x="322410" y="1540290"/>
                  <a:pt x="384535" y="1602134"/>
                </a:cubicBezTo>
                <a:cubicBezTo>
                  <a:pt x="392674" y="1610274"/>
                  <a:pt x="394171" y="1627863"/>
                  <a:pt x="394265" y="1641055"/>
                </a:cubicBezTo>
                <a:cubicBezTo>
                  <a:pt x="394920" y="1885155"/>
                  <a:pt x="395200" y="2129349"/>
                  <a:pt x="394358" y="2373448"/>
                </a:cubicBezTo>
                <a:cubicBezTo>
                  <a:pt x="394358" y="2388792"/>
                  <a:pt x="388838" y="2408066"/>
                  <a:pt x="378734" y="2418919"/>
                </a:cubicBezTo>
                <a:cubicBezTo>
                  <a:pt x="321475" y="2480108"/>
                  <a:pt x="262064" y="2539332"/>
                  <a:pt x="203120" y="2599491"/>
                </a:cubicBezTo>
                <a:cubicBezTo>
                  <a:pt x="133230" y="2534747"/>
                  <a:pt x="66615" y="2473090"/>
                  <a:pt x="0" y="2411341"/>
                </a:cubicBezTo>
                <a:cubicBezTo>
                  <a:pt x="0" y="2143383"/>
                  <a:pt x="0" y="1875518"/>
                  <a:pt x="0" y="1607560"/>
                </a:cubicBezTo>
                <a:cubicBezTo>
                  <a:pt x="61844" y="1540197"/>
                  <a:pt x="123687" y="1472739"/>
                  <a:pt x="183098" y="1408089"/>
                </a:cubicBezTo>
                <a:close/>
                <a:moveTo>
                  <a:pt x="202933" y="215189"/>
                </a:moveTo>
                <a:cubicBezTo>
                  <a:pt x="263280" y="276565"/>
                  <a:pt x="325404" y="338783"/>
                  <a:pt x="386125" y="402498"/>
                </a:cubicBezTo>
                <a:cubicBezTo>
                  <a:pt x="393142" y="409889"/>
                  <a:pt x="394171" y="425046"/>
                  <a:pt x="394265" y="436647"/>
                </a:cubicBezTo>
                <a:cubicBezTo>
                  <a:pt x="394826" y="680841"/>
                  <a:pt x="395481" y="924941"/>
                  <a:pt x="393984" y="1169134"/>
                </a:cubicBezTo>
                <a:cubicBezTo>
                  <a:pt x="393891" y="1189530"/>
                  <a:pt x="382757" y="1214417"/>
                  <a:pt x="368536" y="1229294"/>
                </a:cubicBezTo>
                <a:cubicBezTo>
                  <a:pt x="313803" y="1286459"/>
                  <a:pt x="255701" y="1340350"/>
                  <a:pt x="184970" y="1408837"/>
                </a:cubicBezTo>
                <a:cubicBezTo>
                  <a:pt x="125091" y="1343063"/>
                  <a:pt x="62499" y="1274390"/>
                  <a:pt x="0" y="1205623"/>
                </a:cubicBezTo>
                <a:cubicBezTo>
                  <a:pt x="0" y="937665"/>
                  <a:pt x="0" y="669800"/>
                  <a:pt x="0" y="401843"/>
                </a:cubicBezTo>
                <a:cubicBezTo>
                  <a:pt x="65867" y="341215"/>
                  <a:pt x="131733" y="280681"/>
                  <a:pt x="202933" y="215189"/>
                </a:cubicBezTo>
                <a:close/>
                <a:moveTo>
                  <a:pt x="1421700" y="206163"/>
                </a:moveTo>
                <a:lnTo>
                  <a:pt x="1601478" y="398381"/>
                </a:lnTo>
                <a:cubicBezTo>
                  <a:pt x="1610553" y="408486"/>
                  <a:pt x="1615699" y="425795"/>
                  <a:pt x="1615793" y="439829"/>
                </a:cubicBezTo>
                <a:cubicBezTo>
                  <a:pt x="1616635" y="684396"/>
                  <a:pt x="1616541" y="928964"/>
                  <a:pt x="1615980" y="1173438"/>
                </a:cubicBezTo>
                <a:cubicBezTo>
                  <a:pt x="1615980" y="1186256"/>
                  <a:pt x="1613080" y="1203097"/>
                  <a:pt x="1604846" y="1211330"/>
                </a:cubicBezTo>
                <a:cubicBezTo>
                  <a:pt x="1542161" y="1273829"/>
                  <a:pt x="1477791" y="1334737"/>
                  <a:pt x="1410614" y="1399387"/>
                </a:cubicBezTo>
                <a:cubicBezTo>
                  <a:pt x="1354384" y="1342035"/>
                  <a:pt x="1294692" y="1282998"/>
                  <a:pt x="1237620" y="1221622"/>
                </a:cubicBezTo>
                <a:cubicBezTo>
                  <a:pt x="1226393" y="1209553"/>
                  <a:pt x="1220125" y="1188314"/>
                  <a:pt x="1220125" y="1171380"/>
                </a:cubicBezTo>
                <a:cubicBezTo>
                  <a:pt x="1219283" y="928403"/>
                  <a:pt x="1219470" y="685426"/>
                  <a:pt x="1221060" y="442448"/>
                </a:cubicBezTo>
                <a:cubicBezTo>
                  <a:pt x="1221154" y="424578"/>
                  <a:pt x="1230323" y="402966"/>
                  <a:pt x="1242486" y="389774"/>
                </a:cubicBezTo>
                <a:cubicBezTo>
                  <a:pt x="1270040" y="360115"/>
                  <a:pt x="1298225" y="331088"/>
                  <a:pt x="1327836" y="301031"/>
                </a:cubicBezTo>
                <a:close/>
                <a:moveTo>
                  <a:pt x="1421654" y="206114"/>
                </a:moveTo>
                <a:lnTo>
                  <a:pt x="1421748" y="206114"/>
                </a:lnTo>
                <a:lnTo>
                  <a:pt x="1421700" y="206163"/>
                </a:lnTo>
                <a:close/>
                <a:moveTo>
                  <a:pt x="411106" y="0"/>
                </a:moveTo>
                <a:cubicBezTo>
                  <a:pt x="675883" y="0"/>
                  <a:pt x="940566" y="0"/>
                  <a:pt x="1205343" y="0"/>
                </a:cubicBezTo>
                <a:cubicBezTo>
                  <a:pt x="1268496" y="65960"/>
                  <a:pt x="1331556" y="131827"/>
                  <a:pt x="1398171" y="201436"/>
                </a:cubicBezTo>
                <a:cubicBezTo>
                  <a:pt x="1339322" y="260847"/>
                  <a:pt x="1275794" y="325966"/>
                  <a:pt x="1210676" y="389306"/>
                </a:cubicBezTo>
                <a:cubicBezTo>
                  <a:pt x="1203752" y="396042"/>
                  <a:pt x="1187285" y="394358"/>
                  <a:pt x="1175310" y="394358"/>
                </a:cubicBezTo>
                <a:cubicBezTo>
                  <a:pt x="929713" y="394546"/>
                  <a:pt x="684116" y="394546"/>
                  <a:pt x="438519" y="393797"/>
                </a:cubicBezTo>
                <a:cubicBezTo>
                  <a:pt x="424578" y="393797"/>
                  <a:pt x="406802" y="390242"/>
                  <a:pt x="397352" y="381353"/>
                </a:cubicBezTo>
                <a:cubicBezTo>
                  <a:pt x="336257" y="323907"/>
                  <a:pt x="276940" y="264590"/>
                  <a:pt x="214254" y="203120"/>
                </a:cubicBezTo>
                <a:cubicBezTo>
                  <a:pt x="282366" y="132856"/>
                  <a:pt x="346736" y="66428"/>
                  <a:pt x="411106" y="0"/>
                </a:cubicBezTo>
                <a:close/>
              </a:path>
            </a:pathLst>
          </a:custGeom>
          <a:solidFill>
            <a:schemeClr val="tx1"/>
          </a:solidFill>
          <a:ln w="0" cap="flat">
            <a:noFill/>
            <a:prstDash val="solid"/>
            <a:miter/>
          </a:ln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75705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C884DC-C58C-4D83-9157-478A0AECA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3439" y="3656191"/>
            <a:ext cx="4920211" cy="68157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zh-CN" altLang="en-US" sz="3600" b="0" dirty="0"/>
              <a:t>产品与项目进展</a:t>
            </a:r>
            <a:endParaRPr lang="en-US" altLang="zh-CN" sz="3600" b="0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8DAE95-7127-4F51-9451-9FE7A2833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3439" y="4439367"/>
            <a:ext cx="4920211" cy="681576"/>
          </a:xfrm>
        </p:spPr>
        <p:txBody>
          <a:bodyPr>
            <a:normAutofit lnSpcReduction="10000"/>
          </a:bodyPr>
          <a:lstStyle/>
          <a:p>
            <a:pPr lvl="0" algn="l">
              <a:lnSpc>
                <a:spcPct val="150000"/>
              </a:lnSpc>
            </a:pPr>
            <a:r>
              <a:rPr lang="en-US" altLang="zh-CN" dirty="0"/>
              <a:t>Argus</a:t>
            </a:r>
            <a:r>
              <a:rPr lang="zh-CN" altLang="en-US" dirty="0"/>
              <a:t>已沉淀 </a:t>
            </a:r>
            <a:r>
              <a:rPr lang="en-US" altLang="zh-CN" dirty="0"/>
              <a:t>24,000+ </a:t>
            </a:r>
            <a:r>
              <a:rPr lang="zh-CN" altLang="en-US" dirty="0"/>
              <a:t>条完整研究记录</a:t>
            </a:r>
            <a:r>
              <a:rPr lang="en-US" altLang="zh-CN" dirty="0"/>
              <a:t>,</a:t>
            </a:r>
            <a:r>
              <a:rPr lang="zh-CN" altLang="en-US" dirty="0"/>
              <a:t>产出</a:t>
            </a:r>
            <a:r>
              <a:rPr lang="zh-CN" altLang="en-US" b="1" dirty="0"/>
              <a:t>多篇超出人类基准线的 </a:t>
            </a:r>
            <a:r>
              <a:rPr lang="en-US" altLang="zh-CN" b="1" dirty="0"/>
              <a:t>AI </a:t>
            </a:r>
            <a:r>
              <a:rPr lang="zh-CN" altLang="en-US" b="1" dirty="0"/>
              <a:t>论文</a:t>
            </a:r>
            <a:r>
              <a:rPr lang="en-US" altLang="zh-CN" dirty="0"/>
              <a:t>,</a:t>
            </a:r>
            <a:r>
              <a:rPr lang="zh-CN" altLang="en-US" dirty="0"/>
              <a:t>并在多个自进化 </a:t>
            </a:r>
            <a:r>
              <a:rPr lang="en-US" altLang="zh-CN" dirty="0"/>
              <a:t>Benchmark </a:t>
            </a:r>
            <a:r>
              <a:rPr lang="zh-CN" altLang="en-US" dirty="0"/>
              <a:t>上达到行业顶尖。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F346E48D-011A-44A6-860D-270D027745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3653" y="1781080"/>
            <a:ext cx="1798639" cy="1589979"/>
          </a:xfrm>
        </p:spPr>
        <p:txBody>
          <a:bodyPr/>
          <a:lstStyle/>
          <a:p>
            <a:r>
              <a:rPr lang="en-US" altLang="zh-CN" dirty="0"/>
              <a:t>02</a:t>
            </a:r>
            <a:endParaRPr lang="zh-CN" altLang="en-US" dirty="0"/>
          </a:p>
        </p:txBody>
      </p:sp>
      <p:sp>
        <p:nvSpPr>
          <p:cNvPr id="5" name="弧形 4">
            <a:extLst>
              <a:ext uri="{FF2B5EF4-FFF2-40B4-BE49-F238E27FC236}">
                <a16:creationId xmlns:a16="http://schemas.microsoft.com/office/drawing/2014/main" id="{6C5E82E7-0E27-4FC8-935E-F3AA57F09706}"/>
              </a:ext>
            </a:extLst>
          </p:cNvPr>
          <p:cNvSpPr/>
          <p:nvPr/>
        </p:nvSpPr>
        <p:spPr>
          <a:xfrm rot="3231425">
            <a:off x="2040390" y="2846800"/>
            <a:ext cx="3206526" cy="2506712"/>
          </a:xfrm>
          <a:prstGeom prst="arc">
            <a:avLst>
              <a:gd name="adj1" fmla="val 16200000"/>
              <a:gd name="adj2" fmla="val 12111527"/>
            </a:avLst>
          </a:prstGeom>
          <a:ln w="76200" cap="rnd">
            <a:gradFill>
              <a:gsLst>
                <a:gs pos="100000">
                  <a:schemeClr val="accent3">
                    <a:lumMod val="60000"/>
                    <a:lumOff val="40000"/>
                    <a:alpha val="0"/>
                  </a:schemeClr>
                </a:gs>
                <a:gs pos="20000">
                  <a:schemeClr val="accent3"/>
                </a:gs>
              </a:gsLst>
              <a:lin ang="1200000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91792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" name="组合 21"/>
          <p:cNvGrpSpPr/>
          <p:nvPr/>
        </p:nvGrpSpPr>
        <p:grpSpPr>
          <a:xfrm>
            <a:off x="1591513" y="1799991"/>
            <a:ext cx="9008974" cy="3097686"/>
            <a:chOff x="1585163" y="2363662"/>
            <a:chExt cx="9008974" cy="3097686"/>
          </a:xfrm>
        </p:grpSpPr>
        <p:grpSp>
          <p:nvGrpSpPr>
            <p:cNvPr id="24" name="组合 23"/>
            <p:cNvGrpSpPr/>
            <p:nvPr/>
          </p:nvGrpSpPr>
          <p:grpSpPr>
            <a:xfrm>
              <a:off x="1585163" y="2363662"/>
              <a:ext cx="1787157" cy="3097686"/>
              <a:chOff x="1585163" y="2363662"/>
              <a:chExt cx="1787157" cy="3097686"/>
            </a:xfrm>
          </p:grpSpPr>
          <p:sp>
            <p:nvSpPr>
              <p:cNvPr id="40" name="矩形: 圆角 39"/>
              <p:cNvSpPr/>
              <p:nvPr/>
            </p:nvSpPr>
            <p:spPr>
              <a:xfrm>
                <a:off x="1585163" y="2602898"/>
                <a:ext cx="1718008" cy="2858450"/>
              </a:xfrm>
              <a:prstGeom prst="roundRect">
                <a:avLst>
                  <a:gd name="adj" fmla="val 50000"/>
                </a:avLst>
              </a:prstGeom>
              <a:ln w="76200" cap="rnd">
                <a:gradFill>
                  <a:gsLst>
                    <a:gs pos="100000">
                      <a:schemeClr val="accent3">
                        <a:lumMod val="60000"/>
                        <a:lumOff val="40000"/>
                        <a:alpha val="0"/>
                      </a:schemeClr>
                    </a:gs>
                    <a:gs pos="20000">
                      <a:schemeClr val="accent3"/>
                    </a:gs>
                  </a:gsLst>
                  <a:lin ang="12000000" scaled="0"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椭圆 40"/>
              <p:cNvSpPr/>
              <p:nvPr/>
            </p:nvSpPr>
            <p:spPr>
              <a:xfrm>
                <a:off x="2204932" y="2363662"/>
                <a:ext cx="478471" cy="478471"/>
              </a:xfrm>
              <a:prstGeom prst="ellipse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r>
                  <a:rPr lang="en-US" altLang="zh-CN" sz="1600" b="1" dirty="0">
                    <a:solidFill>
                      <a:schemeClr val="tx1"/>
                    </a:solidFill>
                  </a:rPr>
                  <a:t>1</a:t>
                </a:r>
                <a:endParaRPr lang="zh-CN" altLang="en-US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文本框 41"/>
              <p:cNvSpPr txBox="1"/>
              <p:nvPr/>
            </p:nvSpPr>
            <p:spPr>
              <a:xfrm>
                <a:off x="1883074" y="2878207"/>
                <a:ext cx="1224335" cy="3371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spAutoFit/>
              </a:bodyPr>
              <a:lstStyle/>
              <a:p>
                <a:pPr algn="ctr">
                  <a:buSzPct val="25000"/>
                </a:pPr>
                <a:r>
                  <a:rPr lang="zh-CN" altLang="en-US" sz="1600" b="1" dirty="0"/>
                  <a:t>系统加速</a:t>
                </a:r>
              </a:p>
            </p:txBody>
          </p:sp>
          <p:sp>
            <p:nvSpPr>
              <p:cNvPr id="43" name="文本框 42"/>
              <p:cNvSpPr txBox="1"/>
              <p:nvPr/>
            </p:nvSpPr>
            <p:spPr>
              <a:xfrm>
                <a:off x="1749895" y="3465574"/>
                <a:ext cx="1622425" cy="19322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no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lang="zh-CN" altLang="en-US" sz="1600" dirty="0"/>
                  <a:t>在</a:t>
                </a:r>
                <a:r>
                  <a:rPr lang="en-US" altLang="zh-CN" sz="1600" dirty="0" err="1"/>
                  <a:t>nanochat</a:t>
                </a:r>
                <a:r>
                  <a:rPr lang="zh-CN" altLang="en-US" sz="1600" dirty="0"/>
                  <a:t>任务中用同等条件超越了作者本人的已知最佳成绩。</a:t>
                </a:r>
                <a:endParaRPr kumimoji="0" lang="zh-CN" altLang="en-US" sz="1600" i="0" u="none" strike="noStrike" kern="1200" cap="none" spc="0" normalizeH="0" baseline="0" noProof="0" dirty="0">
                  <a:ln>
                    <a:noFill/>
                  </a:ln>
                  <a:effectLst/>
                  <a:uLnTx/>
                  <a:uFillTx/>
                </a:endParaRPr>
              </a:p>
            </p:txBody>
          </p:sp>
        </p:grpSp>
        <p:grpSp>
          <p:nvGrpSpPr>
            <p:cNvPr id="25" name="组合 24"/>
            <p:cNvGrpSpPr/>
            <p:nvPr/>
          </p:nvGrpSpPr>
          <p:grpSpPr>
            <a:xfrm>
              <a:off x="4015485" y="2363662"/>
              <a:ext cx="1720608" cy="3097686"/>
              <a:chOff x="4015485" y="2363662"/>
              <a:chExt cx="1720608" cy="3097686"/>
            </a:xfrm>
          </p:grpSpPr>
          <p:sp>
            <p:nvSpPr>
              <p:cNvPr id="36" name="矩形: 圆角 35"/>
              <p:cNvSpPr/>
              <p:nvPr/>
            </p:nvSpPr>
            <p:spPr>
              <a:xfrm>
                <a:off x="4015485" y="2602898"/>
                <a:ext cx="1718008" cy="2858450"/>
              </a:xfrm>
              <a:prstGeom prst="roundRect">
                <a:avLst>
                  <a:gd name="adj" fmla="val 50000"/>
                </a:avLst>
              </a:prstGeom>
              <a:ln w="76200" cap="rnd">
                <a:gradFill>
                  <a:gsLst>
                    <a:gs pos="100000">
                      <a:schemeClr val="accent3">
                        <a:lumMod val="60000"/>
                        <a:lumOff val="40000"/>
                        <a:alpha val="0"/>
                      </a:schemeClr>
                    </a:gs>
                    <a:gs pos="20000">
                      <a:schemeClr val="accent3"/>
                    </a:gs>
                  </a:gsLst>
                  <a:lin ang="12000000" scaled="0"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椭圆 36"/>
              <p:cNvSpPr/>
              <p:nvPr/>
            </p:nvSpPr>
            <p:spPr>
              <a:xfrm>
                <a:off x="4635254" y="2363662"/>
                <a:ext cx="478471" cy="478471"/>
              </a:xfrm>
              <a:prstGeom prst="ellipse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r>
                  <a:rPr lang="en-US" altLang="zh-CN" sz="1600" b="1" dirty="0">
                    <a:solidFill>
                      <a:schemeClr val="tx1"/>
                    </a:solidFill>
                  </a:rPr>
                  <a:t>2</a:t>
                </a:r>
                <a:endParaRPr lang="zh-CN" altLang="en-US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文本框 37"/>
              <p:cNvSpPr txBox="1"/>
              <p:nvPr/>
            </p:nvSpPr>
            <p:spPr>
              <a:xfrm>
                <a:off x="4018085" y="2898285"/>
                <a:ext cx="1718008" cy="3371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spAutoFit/>
              </a:bodyPr>
              <a:lstStyle/>
              <a:p>
                <a:pPr algn="ctr">
                  <a:buSzPct val="25000"/>
                </a:pPr>
                <a:r>
                  <a:rPr lang="zh-CN" altLang="en-US" sz="1600" b="1" dirty="0"/>
                  <a:t>数据合成</a:t>
                </a:r>
              </a:p>
            </p:txBody>
          </p:sp>
        </p:grpSp>
        <p:grpSp>
          <p:nvGrpSpPr>
            <p:cNvPr id="26" name="组合 25"/>
            <p:cNvGrpSpPr/>
            <p:nvPr/>
          </p:nvGrpSpPr>
          <p:grpSpPr>
            <a:xfrm>
              <a:off x="6445807" y="2363662"/>
              <a:ext cx="1718008" cy="3097684"/>
              <a:chOff x="6445807" y="2363662"/>
              <a:chExt cx="1718008" cy="3097684"/>
            </a:xfrm>
          </p:grpSpPr>
          <p:sp>
            <p:nvSpPr>
              <p:cNvPr id="32" name="矩形: 圆角 31"/>
              <p:cNvSpPr/>
              <p:nvPr/>
            </p:nvSpPr>
            <p:spPr>
              <a:xfrm>
                <a:off x="6445807" y="2602897"/>
                <a:ext cx="1718008" cy="2858449"/>
              </a:xfrm>
              <a:prstGeom prst="roundRect">
                <a:avLst>
                  <a:gd name="adj" fmla="val 50000"/>
                </a:avLst>
              </a:prstGeom>
              <a:ln w="76200" cap="rnd">
                <a:gradFill>
                  <a:gsLst>
                    <a:gs pos="100000">
                      <a:schemeClr val="accent3">
                        <a:lumMod val="60000"/>
                        <a:lumOff val="40000"/>
                        <a:alpha val="0"/>
                      </a:schemeClr>
                    </a:gs>
                    <a:gs pos="20000">
                      <a:schemeClr val="accent3"/>
                    </a:gs>
                  </a:gsLst>
                  <a:lin ang="12000000" scaled="0"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3" name="椭圆 32"/>
              <p:cNvSpPr/>
              <p:nvPr/>
            </p:nvSpPr>
            <p:spPr>
              <a:xfrm>
                <a:off x="7065576" y="2363662"/>
                <a:ext cx="478471" cy="478471"/>
              </a:xfrm>
              <a:prstGeom prst="ellipse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r>
                  <a:rPr lang="en-US" altLang="zh-CN" sz="1600" b="1" dirty="0">
                    <a:solidFill>
                      <a:schemeClr val="tx1"/>
                    </a:solidFill>
                  </a:rPr>
                  <a:t>3</a:t>
                </a:r>
                <a:endParaRPr lang="zh-CN" altLang="en-US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文本框 33"/>
              <p:cNvSpPr txBox="1"/>
              <p:nvPr/>
            </p:nvSpPr>
            <p:spPr>
              <a:xfrm>
                <a:off x="6587898" y="2876838"/>
                <a:ext cx="1433825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spAutoFit/>
              </a:bodyPr>
              <a:lstStyle/>
              <a:p>
                <a:pPr algn="ctr">
                  <a:buSzPct val="25000"/>
                </a:pPr>
                <a:r>
                  <a:rPr lang="zh-CN" altLang="en-US" sz="1600" b="1" dirty="0"/>
                  <a:t>自主科研优化</a:t>
                </a:r>
              </a:p>
            </p:txBody>
          </p:sp>
          <p:sp>
            <p:nvSpPr>
              <p:cNvPr id="35" name="文本框 34"/>
              <p:cNvSpPr txBox="1"/>
              <p:nvPr/>
            </p:nvSpPr>
            <p:spPr>
              <a:xfrm>
                <a:off x="6627318" y="3269040"/>
                <a:ext cx="1433826" cy="154420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 marL="0" marR="0" lvl="0" indent="0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lang="zh-CN" altLang="en-US" sz="1600" dirty="0"/>
                  <a:t>在</a:t>
                </a:r>
                <a:r>
                  <a:rPr lang="en-US" altLang="zh-CN" sz="1600" dirty="0"/>
                  <a:t>AARRI-Bench*</a:t>
                </a:r>
                <a:r>
                  <a:rPr lang="zh-CN" altLang="en-US" sz="1600" dirty="0"/>
                  <a:t>上达到最优</a:t>
                </a:r>
                <a:r>
                  <a:rPr lang="en-US" altLang="zh-CN" sz="1600" dirty="0"/>
                  <a:t>，</a:t>
                </a:r>
                <a:r>
                  <a:rPr lang="zh-CN" altLang="en-US" sz="1600" dirty="0"/>
                  <a:t>超出其余</a:t>
                </a:r>
                <a:r>
                  <a:rPr lang="en-US" altLang="zh-CN" sz="1600" dirty="0"/>
                  <a:t>agent</a:t>
                </a:r>
                <a:r>
                  <a:rPr lang="zh-CN" altLang="en-US" sz="1600" dirty="0"/>
                  <a:t>框架</a:t>
                </a:r>
                <a:r>
                  <a:rPr lang="en-US" altLang="zh-CN" sz="1600" dirty="0"/>
                  <a:t>10%</a:t>
                </a:r>
                <a:r>
                  <a:rPr lang="zh-CN" altLang="en-US" sz="1600" dirty="0"/>
                  <a:t>以上</a:t>
                </a:r>
                <a:r>
                  <a:rPr lang="en-US" altLang="zh-CN" sz="1600" dirty="0"/>
                  <a:t>。</a:t>
                </a:r>
              </a:p>
            </p:txBody>
          </p:sp>
        </p:grpSp>
        <p:grpSp>
          <p:nvGrpSpPr>
            <p:cNvPr id="27" name="组合 26"/>
            <p:cNvGrpSpPr/>
            <p:nvPr/>
          </p:nvGrpSpPr>
          <p:grpSpPr>
            <a:xfrm>
              <a:off x="8876129" y="2363662"/>
              <a:ext cx="1718008" cy="3097684"/>
              <a:chOff x="8876129" y="2363662"/>
              <a:chExt cx="1718008" cy="3097684"/>
            </a:xfrm>
          </p:grpSpPr>
          <p:sp>
            <p:nvSpPr>
              <p:cNvPr id="28" name="矩形: 圆角 27"/>
              <p:cNvSpPr/>
              <p:nvPr/>
            </p:nvSpPr>
            <p:spPr>
              <a:xfrm>
                <a:off x="8876129" y="2602898"/>
                <a:ext cx="1718008" cy="2858448"/>
              </a:xfrm>
              <a:prstGeom prst="roundRect">
                <a:avLst>
                  <a:gd name="adj" fmla="val 50000"/>
                </a:avLst>
              </a:prstGeom>
              <a:ln w="76200" cap="rnd">
                <a:gradFill>
                  <a:gsLst>
                    <a:gs pos="100000">
                      <a:schemeClr val="accent3">
                        <a:lumMod val="60000"/>
                        <a:lumOff val="40000"/>
                        <a:alpha val="0"/>
                      </a:schemeClr>
                    </a:gs>
                    <a:gs pos="20000">
                      <a:schemeClr val="accent3"/>
                    </a:gs>
                  </a:gsLst>
                  <a:lin ang="12000000" scaled="0"/>
                </a:gradFill>
                <a:round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29" name="椭圆 28"/>
              <p:cNvSpPr/>
              <p:nvPr/>
            </p:nvSpPr>
            <p:spPr>
              <a:xfrm>
                <a:off x="9495898" y="2363662"/>
                <a:ext cx="478471" cy="478471"/>
              </a:xfrm>
              <a:prstGeom prst="ellipse">
                <a:avLst/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60000">
                    <a:schemeClr val="accent3"/>
                  </a:gs>
                </a:gsLst>
                <a:lin ang="2700000" scaled="0"/>
              </a:gradFill>
              <a:ln w="57150" cap="rnd">
                <a:noFill/>
                <a:prstDash val="solid"/>
                <a:round/>
              </a:ln>
              <a:effectLst>
                <a:outerShdw blurRad="76200" dist="50800" dir="5400000" algn="ctr" rotWithShape="0">
                  <a:schemeClr val="accent3">
                    <a:alpha val="2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91440" tIns="45720" rIns="91440" bIns="45720" numCol="1" spcCol="0" rtlCol="0" fromWordArt="0" anchor="ctr" anchorCtr="0" forceAA="0" compatLnSpc="1">
                <a:normAutofit/>
              </a:bodyPr>
              <a:lstStyle/>
              <a:p>
                <a:pPr algn="ctr" defTabSz="913765"/>
                <a:r>
                  <a:rPr lang="en-US" altLang="zh-CN" sz="1600" b="1" dirty="0">
                    <a:solidFill>
                      <a:schemeClr val="tx1"/>
                    </a:solidFill>
                  </a:rPr>
                  <a:t>4</a:t>
                </a:r>
                <a:endParaRPr lang="zh-CN" altLang="en-US" sz="1600" b="1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30" name="文本框 29"/>
              <p:cNvSpPr txBox="1"/>
              <p:nvPr/>
            </p:nvSpPr>
            <p:spPr>
              <a:xfrm>
                <a:off x="9072273" y="2984070"/>
                <a:ext cx="1352390" cy="33855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ctr" anchorCtr="0">
                <a:spAutoFit/>
              </a:bodyPr>
              <a:lstStyle/>
              <a:p>
                <a:pPr algn="ctr">
                  <a:buSzPct val="25000"/>
                </a:pPr>
                <a:r>
                  <a:rPr lang="zh-CN" altLang="en-US" sz="1600" b="1" dirty="0"/>
                  <a:t>自动写论文</a:t>
                </a:r>
                <a:endParaRPr lang="en-US" altLang="zh-CN" sz="1600" b="1" dirty="0"/>
              </a:p>
            </p:txBody>
          </p:sp>
          <p:sp>
            <p:nvSpPr>
              <p:cNvPr id="31" name="文本框 30"/>
              <p:cNvSpPr txBox="1"/>
              <p:nvPr/>
            </p:nvSpPr>
            <p:spPr>
              <a:xfrm>
                <a:off x="8982809" y="3322512"/>
                <a:ext cx="1541780" cy="18396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lIns="91440" tIns="45720" rIns="91440" bIns="45720" anchor="t" anchorCtr="0">
                <a:spAutoFit/>
              </a:bodyPr>
              <a:lstStyle/>
              <a:p>
                <a:pPr marL="0" marR="0" lvl="0" indent="0" algn="ctr" defTabSz="913765" rtl="0" eaLnBrk="1" fontAlgn="auto" latinLnBrk="0" hangingPunct="1">
                  <a:lnSpc>
                    <a:spcPct val="12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Pct val="25000"/>
                  <a:buFontTx/>
                  <a:buNone/>
                  <a:defRPr/>
                </a:pPr>
                <a:r>
                  <a:rPr lang="zh-CN" altLang="en-US" sz="1600" dirty="0"/>
                  <a:t>端到端产出不同方向论文数十篇</a:t>
                </a:r>
                <a:r>
                  <a:rPr lang="en-US" altLang="zh-CN" sz="1600" dirty="0"/>
                  <a:t>，</a:t>
                </a:r>
                <a:r>
                  <a:rPr lang="zh-CN" altLang="en-US" sz="1600" dirty="0"/>
                  <a:t>在</a:t>
                </a:r>
                <a:r>
                  <a:rPr lang="en-US" altLang="zh-CN" sz="1600" dirty="0"/>
                  <a:t>ai</a:t>
                </a:r>
                <a:r>
                  <a:rPr lang="zh-CN" altLang="en-US" sz="1600" dirty="0"/>
                  <a:t>评审和人工评审下达到顶会门槛标准</a:t>
                </a:r>
              </a:p>
            </p:txBody>
          </p:sp>
        </p:grpSp>
      </p:grpSp>
      <p:sp>
        <p:nvSpPr>
          <p:cNvPr id="44" name="文本框 43"/>
          <p:cNvSpPr txBox="1"/>
          <p:nvPr/>
        </p:nvSpPr>
        <p:spPr>
          <a:xfrm>
            <a:off x="1648819" y="597238"/>
            <a:ext cx="894531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en-US" altLang="zh-CN" sz="3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Argus</a:t>
            </a:r>
            <a:r>
              <a:rPr kumimoji="0" lang="zh-CN" altLang="en-US" sz="32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已验证的研究战绩</a:t>
            </a:r>
            <a:endParaRPr kumimoji="0" lang="en-US" altLang="zh-CN" sz="320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4228059" y="2758841"/>
            <a:ext cx="1305560" cy="1717040"/>
          </a:xfrm>
          <a:prstGeom prst="rect">
            <a:avLst/>
          </a:prstGeom>
          <a:noFill/>
          <a:ln>
            <a:noFill/>
          </a:ln>
        </p:spPr>
        <p:txBody>
          <a:bodyPr wrap="square" lIns="91440" tIns="45720" rIns="91440" bIns="45720" anchor="t" anchorCtr="0">
            <a:no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在数学推理数据合成</a:t>
            </a:r>
            <a:r>
              <a:rPr lang="zh-CN" altLang="en-US" sz="1600" dirty="0"/>
              <a:t>任务</a:t>
            </a:r>
            <a:r>
              <a:rPr kumimoji="0" lang="zh-CN" altLang="en-US" sz="16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上达到</a:t>
            </a:r>
            <a:r>
              <a:rPr lang="zh-CN" altLang="en-US" sz="1600" b="1" dirty="0"/>
              <a:t>业界最优</a:t>
            </a:r>
            <a:r>
              <a:rPr lang="zh-CN" altLang="en-US" sz="1600" dirty="0"/>
              <a:t>，</a:t>
            </a:r>
            <a:endParaRPr lang="en-US" altLang="zh-CN" sz="1600" dirty="0"/>
          </a:p>
          <a:p>
            <a:pPr marL="0" marR="0" lvl="0" indent="0" algn="ctr" defTabSz="913765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lang="zh-CN" altLang="en-US" sz="1600" dirty="0"/>
              <a:t>高出</a:t>
            </a:r>
            <a:r>
              <a:rPr lang="en-US" altLang="zh-CN" sz="1600" dirty="0"/>
              <a:t>Claude Code</a:t>
            </a:r>
            <a:r>
              <a:rPr lang="zh-CN" altLang="en-US" sz="1600" b="1" dirty="0"/>
              <a:t>三倍</a:t>
            </a:r>
            <a:endParaRPr kumimoji="0" lang="en-US" altLang="zh-CN" sz="16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63612" y="5261041"/>
            <a:ext cx="91540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/>
              <a:t>以上每个分数均由冻结验证器在真机上重新测量、</a:t>
            </a:r>
            <a:r>
              <a:rPr lang="zh-CN" altLang="en-US" b="1" dirty="0"/>
              <a:t>绝不自报。</a:t>
            </a:r>
            <a:endParaRPr lang="en-US" altLang="zh-CN" b="1" dirty="0"/>
          </a:p>
          <a:p>
            <a:pPr algn="ctr"/>
            <a:r>
              <a:rPr lang="zh-CN" altLang="en-US" dirty="0"/>
              <a:t>完整报告与实时看板公开于argusbot.cn — 这是「结果可信、防作弊」最直接的证明,</a:t>
            </a:r>
            <a:endParaRPr lang="en-US" altLang="zh-CN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84E4259-2A1A-D4C7-A198-0E89BC07A1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54512" y="6342483"/>
            <a:ext cx="11299463" cy="318318"/>
          </a:xfrm>
        </p:spPr>
        <p:txBody>
          <a:bodyPr/>
          <a:lstStyle/>
          <a:p>
            <a:r>
              <a:rPr lang="zh-CN" altLang="en-US" sz="1050" dirty="0">
                <a:solidFill>
                  <a:schemeClr val="tx1">
                    <a:lumMod val="75000"/>
                  </a:schemeClr>
                </a:solidFill>
              </a:rPr>
              <a:t>注：</a:t>
            </a:r>
            <a:r>
              <a:rPr lang="en-US" altLang="zh-CN" sz="1050" dirty="0">
                <a:solidFill>
                  <a:schemeClr val="tx1">
                    <a:lumMod val="75000"/>
                  </a:schemeClr>
                </a:solidFill>
              </a:rPr>
              <a:t> </a:t>
            </a:r>
            <a:r>
              <a:rPr lang="zh-CN" altLang="en-US" sz="1050" dirty="0">
                <a:solidFill>
                  <a:schemeClr val="tx1">
                    <a:lumMod val="75000"/>
                  </a:schemeClr>
                </a:solidFill>
              </a:rPr>
              <a:t>“</a:t>
            </a:r>
            <a:r>
              <a:rPr lang="en-US" altLang="zh-CN" sz="1050" dirty="0">
                <a:solidFill>
                  <a:schemeClr val="tx1">
                    <a:lumMod val="75000"/>
                  </a:schemeClr>
                </a:solidFill>
              </a:rPr>
              <a:t>AARRI-Bench</a:t>
            </a:r>
            <a:r>
              <a:rPr lang="zh-CN" altLang="en-US" sz="1050" dirty="0">
                <a:solidFill>
                  <a:schemeClr val="tx1">
                    <a:lumMod val="75000"/>
                  </a:schemeClr>
                </a:solidFill>
              </a:rPr>
              <a:t>”是</a:t>
            </a:r>
            <a:r>
              <a:rPr lang="zh-CN" altLang="en-US" sz="1050" b="0" i="0" dirty="0">
                <a:solidFill>
                  <a:schemeClr val="tx1">
                    <a:lumMod val="75000"/>
                  </a:schemeClr>
                </a:solidFill>
                <a:effectLst/>
                <a:latin typeface="quote-cjk-patch"/>
              </a:rPr>
              <a:t>一个专门用来评估</a:t>
            </a:r>
            <a:r>
              <a:rPr lang="en-US" altLang="zh-CN" sz="1050" b="0" i="0" dirty="0">
                <a:solidFill>
                  <a:schemeClr val="tx1">
                    <a:lumMod val="75000"/>
                  </a:schemeClr>
                </a:solidFill>
                <a:effectLst/>
                <a:latin typeface="quote-cjk-patch"/>
              </a:rPr>
              <a:t>AI Agent</a:t>
            </a:r>
            <a:r>
              <a:rPr lang="zh-CN" altLang="en-US" sz="1050" b="0" i="0" dirty="0">
                <a:solidFill>
                  <a:schemeClr val="tx1">
                    <a:lumMod val="75000"/>
                  </a:schemeClr>
                </a:solidFill>
                <a:effectLst/>
                <a:latin typeface="quote-cjk-patch"/>
              </a:rPr>
              <a:t>能否像</a:t>
            </a:r>
            <a:r>
              <a:rPr lang="zh-CN" altLang="en-US" sz="1050" b="1" i="0" dirty="0">
                <a:solidFill>
                  <a:schemeClr val="tx1">
                    <a:lumMod val="75000"/>
                  </a:schemeClr>
                </a:solidFill>
                <a:effectLst/>
                <a:latin typeface="quote-cjk-patch"/>
              </a:rPr>
              <a:t>真正的人类研究实习生</a:t>
            </a:r>
            <a:r>
              <a:rPr lang="en-US" altLang="zh-CN" sz="1050" b="1" i="0" dirty="0">
                <a:solidFill>
                  <a:schemeClr val="tx1">
                    <a:lumMod val="75000"/>
                  </a:schemeClr>
                </a:solidFill>
                <a:effectLst/>
                <a:latin typeface="quote-cjk-patch"/>
              </a:rPr>
              <a:t>(Act As a Real Research Intern)</a:t>
            </a:r>
            <a:r>
              <a:rPr lang="en-US" altLang="zh-CN" sz="1050" b="0" i="0" dirty="0">
                <a:solidFill>
                  <a:schemeClr val="tx1">
                    <a:lumMod val="75000"/>
                  </a:schemeClr>
                </a:solidFill>
                <a:effectLst/>
                <a:latin typeface="quote-cjk-patch"/>
              </a:rPr>
              <a:t> </a:t>
            </a:r>
            <a:r>
              <a:rPr lang="zh-CN" altLang="en-US" sz="1050" b="0" i="0" dirty="0">
                <a:solidFill>
                  <a:schemeClr val="tx1">
                    <a:lumMod val="75000"/>
                  </a:schemeClr>
                </a:solidFill>
                <a:effectLst/>
                <a:latin typeface="quote-cjk-patch"/>
              </a:rPr>
              <a:t>一样工作的基准测试。它考验的是</a:t>
            </a:r>
            <a:r>
              <a:rPr lang="en-US" altLang="zh-CN" sz="1050" b="0" i="0" dirty="0">
                <a:solidFill>
                  <a:schemeClr val="tx1">
                    <a:lumMod val="75000"/>
                  </a:schemeClr>
                </a:solidFill>
                <a:effectLst/>
                <a:latin typeface="quote-cjk-patch"/>
              </a:rPr>
              <a:t>Agent</a:t>
            </a:r>
            <a:r>
              <a:rPr lang="zh-CN" altLang="en-US" sz="1050" b="0" i="0" dirty="0">
                <a:solidFill>
                  <a:schemeClr val="tx1">
                    <a:lumMod val="75000"/>
                  </a:schemeClr>
                </a:solidFill>
                <a:effectLst/>
                <a:latin typeface="quote-cjk-patch"/>
              </a:rPr>
              <a:t>的</a:t>
            </a:r>
            <a:r>
              <a:rPr lang="zh-CN" altLang="en-US" sz="1050" b="1" i="0" dirty="0">
                <a:solidFill>
                  <a:schemeClr val="tx1">
                    <a:lumMod val="75000"/>
                  </a:schemeClr>
                </a:solidFill>
                <a:effectLst/>
                <a:latin typeface="quote-cjk-patch"/>
              </a:rPr>
              <a:t>专业性、细致度和推理能力</a:t>
            </a:r>
            <a:endParaRPr lang="zh-CN" altLang="en-US" sz="1050" dirty="0">
              <a:solidFill>
                <a:schemeClr val="tx1">
                  <a:lumMod val="75000"/>
                </a:schemeClr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文本框 61">
            <a:extLst>
              <a:ext uri="{FF2B5EF4-FFF2-40B4-BE49-F238E27FC236}">
                <a16:creationId xmlns:a16="http://schemas.microsoft.com/office/drawing/2014/main" id="{5D8098B9-CE05-4EB7-9C6A-8D6EBC90BD12}"/>
              </a:ext>
            </a:extLst>
          </p:cNvPr>
          <p:cNvSpPr txBox="1"/>
          <p:nvPr/>
        </p:nvSpPr>
        <p:spPr>
          <a:xfrm>
            <a:off x="330177" y="388523"/>
            <a:ext cx="850028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独特优势：低成本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+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高附加价值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graphicFrame>
        <p:nvGraphicFramePr>
          <p:cNvPr id="14" name="图表 13">
            <a:extLst>
              <a:ext uri="{FF2B5EF4-FFF2-40B4-BE49-F238E27FC236}">
                <a16:creationId xmlns:a16="http://schemas.microsoft.com/office/drawing/2014/main" id="{2BDC6FEE-269E-B8B1-92EA-4F10047D2A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7709654"/>
              </p:ext>
            </p:extLst>
          </p:nvPr>
        </p:nvGraphicFramePr>
        <p:xfrm>
          <a:off x="-398752" y="1124690"/>
          <a:ext cx="6167322" cy="43963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606C117B-F644-3531-4B30-8B6259901A53}"/>
              </a:ext>
            </a:extLst>
          </p:cNvPr>
          <p:cNvSpPr txBox="1"/>
          <p:nvPr/>
        </p:nvSpPr>
        <p:spPr>
          <a:xfrm>
            <a:off x="330177" y="1209468"/>
            <a:ext cx="56992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Argus</a:t>
            </a:r>
            <a:r>
              <a:rPr lang="zh-CN" altLang="en-US" dirty="0"/>
              <a:t>单次研究成本为</a:t>
            </a:r>
            <a:r>
              <a:rPr lang="en-US" altLang="zh-CN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73-105$</a:t>
            </a:r>
            <a:r>
              <a:rPr lang="zh-CN" altLang="en-US" dirty="0"/>
              <a:t>（取决于选题难度）</a:t>
            </a:r>
            <a:br>
              <a:rPr lang="en-US" altLang="zh-CN" dirty="0"/>
            </a:br>
            <a:r>
              <a:rPr lang="zh-CN" altLang="en-US" dirty="0"/>
              <a:t>主要为研究过程中的</a:t>
            </a:r>
            <a:r>
              <a:rPr lang="en-US" altLang="zh-CN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token</a:t>
            </a:r>
            <a:r>
              <a:rPr lang="zh-CN" altLang="en-US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消耗</a:t>
            </a:r>
          </a:p>
        </p:txBody>
      </p:sp>
      <p:graphicFrame>
        <p:nvGraphicFramePr>
          <p:cNvPr id="17" name="图表 16">
            <a:extLst>
              <a:ext uri="{FF2B5EF4-FFF2-40B4-BE49-F238E27FC236}">
                <a16:creationId xmlns:a16="http://schemas.microsoft.com/office/drawing/2014/main" id="{58728305-A7A8-FBCB-9DED-34F189B25A0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24133279"/>
              </p:ext>
            </p:extLst>
          </p:nvPr>
        </p:nvGraphicFramePr>
        <p:xfrm>
          <a:off x="4810186" y="1124690"/>
          <a:ext cx="6465395" cy="468265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8" name="文本框 17">
            <a:extLst>
              <a:ext uri="{FF2B5EF4-FFF2-40B4-BE49-F238E27FC236}">
                <a16:creationId xmlns:a16="http://schemas.microsoft.com/office/drawing/2014/main" id="{E8B10203-FC7A-4850-A5AA-3CEB1ECE19E2}"/>
              </a:ext>
            </a:extLst>
          </p:cNvPr>
          <p:cNvSpPr txBox="1"/>
          <p:nvPr/>
        </p:nvSpPr>
        <p:spPr>
          <a:xfrm>
            <a:off x="6246043" y="1209468"/>
            <a:ext cx="4731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单次研究中会产生各种过程数据，它们具有不同的商业价值</a:t>
            </a:r>
            <a:endParaRPr lang="zh-CN" altLang="en-US" dirty="0">
              <a:solidFill>
                <a:schemeClr val="accent4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73821713-5843-47EE-21C8-6ED36491A7A7}"/>
              </a:ext>
            </a:extLst>
          </p:cNvPr>
          <p:cNvSpPr txBox="1"/>
          <p:nvPr/>
        </p:nvSpPr>
        <p:spPr>
          <a:xfrm>
            <a:off x="1076131" y="5823146"/>
            <a:ext cx="93848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0" i="0" dirty="0">
                <a:solidFill>
                  <a:srgbClr val="F9FAFB"/>
                </a:solidFill>
                <a:effectLst/>
                <a:latin typeface="quote-cjk-patch"/>
              </a:rPr>
              <a:t>过程数据是一个</a:t>
            </a:r>
            <a:r>
              <a:rPr lang="zh-CN" altLang="en-US" b="1" i="0" dirty="0">
                <a:solidFill>
                  <a:srgbClr val="F9FAFB"/>
                </a:solidFill>
                <a:effectLst/>
                <a:latin typeface="quote-cjk-patch"/>
              </a:rPr>
              <a:t>新兴的市场</a:t>
            </a:r>
            <a:r>
              <a:rPr lang="zh-CN" altLang="en-US" b="0" i="0" dirty="0">
                <a:solidFill>
                  <a:srgbClr val="F9FAFB"/>
                </a:solidFill>
                <a:effectLst/>
                <a:latin typeface="quote-cjk-patch"/>
              </a:rPr>
              <a:t>，没有标准定价，但以</a:t>
            </a:r>
            <a:r>
              <a:rPr lang="zh-CN" altLang="en-US" dirty="0">
                <a:solidFill>
                  <a:srgbClr val="F9FAFB"/>
                </a:solidFill>
                <a:latin typeface="quote-cjk-patch"/>
              </a:rPr>
              <a:t>中电信今年</a:t>
            </a:r>
            <a:r>
              <a:rPr lang="en-US" altLang="zh-CN" dirty="0">
                <a:solidFill>
                  <a:srgbClr val="F9FAFB"/>
                </a:solidFill>
                <a:latin typeface="quote-cjk-patch"/>
              </a:rPr>
              <a:t>6</a:t>
            </a:r>
            <a:r>
              <a:rPr lang="zh-CN" altLang="en-US" dirty="0">
                <a:solidFill>
                  <a:srgbClr val="F9FAFB"/>
                </a:solidFill>
                <a:latin typeface="quote-cjk-patch"/>
              </a:rPr>
              <a:t>月采购报价为锚点，图中“</a:t>
            </a:r>
            <a:r>
              <a:rPr lang="en-US" altLang="zh-CN" dirty="0">
                <a:solidFill>
                  <a:srgbClr val="F9FAFB"/>
                </a:solidFill>
                <a:latin typeface="quote-cjk-patch"/>
              </a:rPr>
              <a:t>Agent</a:t>
            </a:r>
            <a:r>
              <a:rPr lang="zh-CN" altLang="en-US" dirty="0">
                <a:solidFill>
                  <a:srgbClr val="F9FAFB"/>
                </a:solidFill>
                <a:latin typeface="quote-cjk-patch"/>
              </a:rPr>
              <a:t>决策轨迹”类数据共</a:t>
            </a:r>
            <a:r>
              <a:rPr lang="en-US" altLang="zh-CN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3</a:t>
            </a:r>
            <a:r>
              <a:rPr lang="zh-CN" altLang="en-US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万条</a:t>
            </a:r>
            <a:r>
              <a:rPr lang="zh-CN" altLang="en-US" dirty="0">
                <a:solidFill>
                  <a:srgbClr val="F9FAFB"/>
                </a:solidFill>
                <a:latin typeface="quote-cjk-patch"/>
              </a:rPr>
              <a:t>，在经过筛选、处理后可卖到</a:t>
            </a:r>
            <a:r>
              <a:rPr lang="en-US" altLang="zh-CN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150</a:t>
            </a:r>
            <a:r>
              <a:rPr lang="zh-CN" altLang="en-US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元</a:t>
            </a:r>
            <a:r>
              <a:rPr lang="en-US" altLang="zh-CN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/</a:t>
            </a:r>
            <a:r>
              <a:rPr lang="zh-CN" altLang="en-US" dirty="0">
                <a:solidFill>
                  <a:schemeClr val="accent4">
                    <a:lumMod val="50000"/>
                    <a:lumOff val="50000"/>
                  </a:schemeClr>
                </a:solidFill>
              </a:rPr>
              <a:t>条</a:t>
            </a:r>
            <a:r>
              <a:rPr lang="zh-CN" altLang="en-US" dirty="0">
                <a:solidFill>
                  <a:srgbClr val="F9FAFB"/>
                </a:solidFill>
                <a:latin typeface="quote-cjk-patch"/>
              </a:rPr>
              <a:t>。</a:t>
            </a:r>
            <a:endParaRPr lang="zh-CN" alt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41320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C884DC-C58C-4D83-9157-478A0AECA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3439" y="3656191"/>
            <a:ext cx="4920211" cy="681576"/>
          </a:xfrm>
        </p:spPr>
        <p:txBody>
          <a:bodyPr/>
          <a:lstStyle/>
          <a:p>
            <a:pPr algn="l"/>
            <a:r>
              <a:rPr lang="zh-CN" altLang="en-US" b="0" dirty="0"/>
              <a:t>团队</a:t>
            </a:r>
            <a:endParaRPr lang="en-US" altLang="zh-CN" b="0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8DAE95-7127-4F51-9451-9FE7A2833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3439" y="4439367"/>
            <a:ext cx="4920211" cy="681576"/>
          </a:xfrm>
        </p:spPr>
        <p:txBody>
          <a:bodyPr>
            <a:normAutofit/>
          </a:bodyPr>
          <a:lstStyle/>
          <a:p>
            <a:pPr lvl="0" algn="l">
              <a:lnSpc>
                <a:spcPct val="150000"/>
              </a:lnSpc>
            </a:pPr>
            <a:r>
              <a:rPr lang="zh-CN" altLang="en-US" dirty="0"/>
              <a:t>一支年轻而战绩扎实的技术团队，背靠行业龙头的支持。 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F346E48D-011A-44A6-860D-270D027745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3653" y="1781080"/>
            <a:ext cx="1798639" cy="1589979"/>
          </a:xfrm>
        </p:spPr>
        <p:txBody>
          <a:bodyPr/>
          <a:lstStyle/>
          <a:p>
            <a:r>
              <a:rPr lang="en-US" altLang="zh-CN" dirty="0"/>
              <a:t>03</a:t>
            </a:r>
            <a:endParaRPr lang="zh-CN" altLang="en-US" dirty="0"/>
          </a:p>
        </p:txBody>
      </p:sp>
      <p:sp>
        <p:nvSpPr>
          <p:cNvPr id="5" name="弧形 4">
            <a:extLst>
              <a:ext uri="{FF2B5EF4-FFF2-40B4-BE49-F238E27FC236}">
                <a16:creationId xmlns:a16="http://schemas.microsoft.com/office/drawing/2014/main" id="{6C5E82E7-0E27-4FC8-935E-F3AA57F09706}"/>
              </a:ext>
            </a:extLst>
          </p:cNvPr>
          <p:cNvSpPr/>
          <p:nvPr/>
        </p:nvSpPr>
        <p:spPr>
          <a:xfrm rot="3231425">
            <a:off x="2040390" y="2846800"/>
            <a:ext cx="3206526" cy="2506712"/>
          </a:xfrm>
          <a:prstGeom prst="arc">
            <a:avLst>
              <a:gd name="adj1" fmla="val 16200000"/>
              <a:gd name="adj2" fmla="val 12111527"/>
            </a:avLst>
          </a:prstGeom>
          <a:ln w="76200" cap="rnd">
            <a:gradFill>
              <a:gsLst>
                <a:gs pos="100000">
                  <a:schemeClr val="accent3">
                    <a:lumMod val="60000"/>
                    <a:lumOff val="40000"/>
                    <a:alpha val="0"/>
                  </a:schemeClr>
                </a:gs>
                <a:gs pos="20000">
                  <a:schemeClr val="accent3"/>
                </a:gs>
              </a:gsLst>
              <a:lin ang="1200000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34164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/>
        </p:nvGrpSpPr>
        <p:grpSpPr>
          <a:xfrm>
            <a:off x="1106942" y="1762720"/>
            <a:ext cx="2465513" cy="2520719"/>
            <a:chOff x="3622153" y="2328978"/>
            <a:chExt cx="2465513" cy="2520719"/>
          </a:xfrm>
        </p:grpSpPr>
        <p:sp>
          <p:nvSpPr>
            <p:cNvPr id="26" name="任意多边形: 形状 25"/>
            <p:cNvSpPr/>
            <p:nvPr/>
          </p:nvSpPr>
          <p:spPr bwMode="auto">
            <a:xfrm>
              <a:off x="3795507" y="2328978"/>
              <a:ext cx="2292159" cy="2292200"/>
            </a:xfrm>
            <a:custGeom>
              <a:avLst/>
              <a:gdLst>
                <a:gd name="T0" fmla="*/ 2292277 w 20521"/>
                <a:gd name="T1" fmla="*/ 2292413 h 21047"/>
                <a:gd name="T2" fmla="*/ 2292277 w 20521"/>
                <a:gd name="T3" fmla="*/ 2292413 h 21047"/>
                <a:gd name="T4" fmla="*/ 2292277 w 20521"/>
                <a:gd name="T5" fmla="*/ 2292413 h 21047"/>
                <a:gd name="T6" fmla="*/ 2292277 w 20521"/>
                <a:gd name="T7" fmla="*/ 2292413 h 21047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>
                  <a:moveTo>
                    <a:pt x="15533" y="0"/>
                  </a:moveTo>
                  <a:cubicBezTo>
                    <a:pt x="14119" y="0"/>
                    <a:pt x="12704" y="553"/>
                    <a:pt x="11625" y="1660"/>
                  </a:cubicBezTo>
                  <a:lnTo>
                    <a:pt x="2159" y="11368"/>
                  </a:lnTo>
                  <a:cubicBezTo>
                    <a:pt x="0" y="13582"/>
                    <a:pt x="0" y="17173"/>
                    <a:pt x="2159" y="19386"/>
                  </a:cubicBezTo>
                  <a:cubicBezTo>
                    <a:pt x="4317" y="21600"/>
                    <a:pt x="7816" y="21600"/>
                    <a:pt x="9975" y="19386"/>
                  </a:cubicBezTo>
                  <a:lnTo>
                    <a:pt x="19441" y="9678"/>
                  </a:lnTo>
                  <a:cubicBezTo>
                    <a:pt x="21600" y="7464"/>
                    <a:pt x="21600" y="3873"/>
                    <a:pt x="19441" y="1660"/>
                  </a:cubicBezTo>
                  <a:cubicBezTo>
                    <a:pt x="18362" y="553"/>
                    <a:pt x="16948" y="0"/>
                    <a:pt x="15533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  <a:alpha val="5000"/>
              </a:schemeClr>
            </a:solidFill>
            <a:ln>
              <a:noFill/>
            </a:ln>
          </p:spPr>
          <p:txBody>
            <a:bodyPr spcFirstLastPara="1" wrap="square" lIns="14300" tIns="14300" rIns="14300" bIns="14300" anchor="ctr" anchorCtr="0">
              <a:noAutofit/>
            </a:bodyPr>
            <a:lstStyle/>
            <a:p>
              <a:endParaRPr lang="zh-CN" altLang="en-US" sz="800">
                <a:solidFill>
                  <a:srgbClr val="74808C"/>
                </a:solidFill>
              </a:endParaRPr>
            </a:p>
          </p:txBody>
        </p:sp>
        <p:sp>
          <p:nvSpPr>
            <p:cNvPr id="27" name="任意多边形: 形状 26"/>
            <p:cNvSpPr/>
            <p:nvPr/>
          </p:nvSpPr>
          <p:spPr bwMode="auto">
            <a:xfrm>
              <a:off x="3622153" y="4273435"/>
              <a:ext cx="1512095" cy="576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1" h="18840" extrusionOk="0">
                  <a:moveTo>
                    <a:pt x="336" y="22"/>
                  </a:moveTo>
                  <a:cubicBezTo>
                    <a:pt x="271" y="53"/>
                    <a:pt x="209" y="125"/>
                    <a:pt x="153" y="230"/>
                  </a:cubicBezTo>
                  <a:cubicBezTo>
                    <a:pt x="10" y="494"/>
                    <a:pt x="-39" y="941"/>
                    <a:pt x="34" y="1327"/>
                  </a:cubicBezTo>
                  <a:cubicBezTo>
                    <a:pt x="619" y="4768"/>
                    <a:pt x="1510" y="8000"/>
                    <a:pt x="2722" y="10779"/>
                  </a:cubicBezTo>
                  <a:cubicBezTo>
                    <a:pt x="7407" y="21527"/>
                    <a:pt x="15003" y="21527"/>
                    <a:pt x="19688" y="10779"/>
                  </a:cubicBezTo>
                  <a:cubicBezTo>
                    <a:pt x="20029" y="9995"/>
                    <a:pt x="20330" y="9158"/>
                    <a:pt x="20619" y="8305"/>
                  </a:cubicBezTo>
                  <a:lnTo>
                    <a:pt x="21088" y="9162"/>
                  </a:lnTo>
                  <a:lnTo>
                    <a:pt x="21561" y="4014"/>
                  </a:lnTo>
                  <a:lnTo>
                    <a:pt x="19484" y="6241"/>
                  </a:lnTo>
                  <a:lnTo>
                    <a:pt x="19948" y="7085"/>
                  </a:lnTo>
                  <a:cubicBezTo>
                    <a:pt x="19680" y="7879"/>
                    <a:pt x="19400" y="8661"/>
                    <a:pt x="19082" y="9389"/>
                  </a:cubicBezTo>
                  <a:cubicBezTo>
                    <a:pt x="14732" y="19371"/>
                    <a:pt x="7678" y="19371"/>
                    <a:pt x="3327" y="9389"/>
                  </a:cubicBezTo>
                  <a:cubicBezTo>
                    <a:pt x="2201" y="6806"/>
                    <a:pt x="1372" y="3806"/>
                    <a:pt x="829" y="606"/>
                  </a:cubicBezTo>
                  <a:cubicBezTo>
                    <a:pt x="742" y="150"/>
                    <a:pt x="531" y="-73"/>
                    <a:pt x="336" y="22"/>
                  </a:cubicBezTo>
                  <a:close/>
                </a:path>
              </a:pathLst>
            </a:custGeom>
            <a:gradFill>
              <a:gsLst>
                <a:gs pos="0">
                  <a:schemeClr val="accent3">
                    <a:lumMod val="60000"/>
                    <a:lumOff val="40000"/>
                  </a:schemeClr>
                </a:gs>
                <a:gs pos="60000">
                  <a:schemeClr val="accent3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defTabSz="913765"/>
              <a:endParaRPr sz="2000" b="1" dirty="0">
                <a:solidFill>
                  <a:schemeClr val="bg1"/>
                </a:solidFill>
              </a:endParaRPr>
            </a:p>
          </p:txBody>
        </p:sp>
        <p:sp>
          <p:nvSpPr>
            <p:cNvPr id="29" name="文本框 28"/>
            <p:cNvSpPr txBox="1"/>
            <p:nvPr/>
          </p:nvSpPr>
          <p:spPr bwMode="auto">
            <a:xfrm>
              <a:off x="5100613" y="2914347"/>
              <a:ext cx="371922" cy="3982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14300" tIns="14300" rIns="14300" bIns="14300" anchor="ctr" anchorCtr="1">
              <a:spAutoFit/>
            </a:bodyPr>
            <a:lstStyle>
              <a:defPPr>
                <a:defRPr lang="zh-CN"/>
              </a:defPPr>
              <a:lvl1pPr marR="0" lvl="0" indent="0" algn="ctr">
                <a:spcBef>
                  <a:spcPts val="0"/>
                </a:spcBef>
                <a:spcAft>
                  <a:spcPts val="0"/>
                </a:spcAft>
                <a:buNone/>
                <a:defRPr sz="2400" b="1">
                  <a:solidFill>
                    <a:schemeClr val="accent3"/>
                  </a:solidFill>
                </a:defRPr>
              </a:lvl1pPr>
            </a:lstStyle>
            <a:p>
              <a:r>
                <a:rPr lang="en-US" altLang="zh-CN"/>
                <a:t>01</a:t>
              </a:r>
              <a:endParaRPr lang="id-ID" altLang="zh-CN" dirty="0"/>
            </a:p>
          </p:txBody>
        </p:sp>
      </p:grpSp>
      <p:grpSp>
        <p:nvGrpSpPr>
          <p:cNvPr id="7" name="组合 6"/>
          <p:cNvGrpSpPr/>
          <p:nvPr/>
        </p:nvGrpSpPr>
        <p:grpSpPr>
          <a:xfrm rot="5400000" flipH="1" flipV="1">
            <a:off x="4996378" y="1694238"/>
            <a:ext cx="2469481" cy="2606445"/>
            <a:chOff x="6087666" y="2328978"/>
            <a:chExt cx="2469481" cy="2606445"/>
          </a:xfrm>
        </p:grpSpPr>
        <p:sp>
          <p:nvSpPr>
            <p:cNvPr id="22" name="任意多边形: 形状 21"/>
            <p:cNvSpPr/>
            <p:nvPr/>
          </p:nvSpPr>
          <p:spPr bwMode="auto">
            <a:xfrm>
              <a:off x="6087666" y="2328978"/>
              <a:ext cx="2292159" cy="2292200"/>
            </a:xfrm>
            <a:custGeom>
              <a:avLst/>
              <a:gdLst>
                <a:gd name="T0" fmla="*/ 6760 w 24064"/>
                <a:gd name="T1" fmla="*/ 0 h 24064"/>
                <a:gd name="T2" fmla="*/ 11113 w 24064"/>
                <a:gd name="T3" fmla="*/ 1850 h 24064"/>
                <a:gd name="T4" fmla="*/ 21659 w 24064"/>
                <a:gd name="T5" fmla="*/ 12665 h 24064"/>
                <a:gd name="T6" fmla="*/ 21659 w 24064"/>
                <a:gd name="T7" fmla="*/ 21598 h 24064"/>
                <a:gd name="T8" fmla="*/ 12952 w 24064"/>
                <a:gd name="T9" fmla="*/ 21598 h 24064"/>
                <a:gd name="T10" fmla="*/ 2406 w 24064"/>
                <a:gd name="T11" fmla="*/ 10782 h 24064"/>
                <a:gd name="T12" fmla="*/ 2406 w 24064"/>
                <a:gd name="T13" fmla="*/ 1850 h 24064"/>
                <a:gd name="T14" fmla="*/ 6760 w 24064"/>
                <a:gd name="T15" fmla="*/ 0 h 2406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24064" h="24064">
                  <a:moveTo>
                    <a:pt x="6760" y="0"/>
                  </a:moveTo>
                  <a:cubicBezTo>
                    <a:pt x="8335" y="0"/>
                    <a:pt x="9911" y="617"/>
                    <a:pt x="11113" y="1850"/>
                  </a:cubicBezTo>
                  <a:lnTo>
                    <a:pt x="21659" y="12665"/>
                  </a:lnTo>
                  <a:cubicBezTo>
                    <a:pt x="24064" y="15132"/>
                    <a:pt x="24064" y="19132"/>
                    <a:pt x="21659" y="21598"/>
                  </a:cubicBezTo>
                  <a:cubicBezTo>
                    <a:pt x="19255" y="24064"/>
                    <a:pt x="15357" y="24064"/>
                    <a:pt x="12952" y="21598"/>
                  </a:cubicBezTo>
                  <a:lnTo>
                    <a:pt x="2406" y="10782"/>
                  </a:lnTo>
                  <a:cubicBezTo>
                    <a:pt x="0" y="8316"/>
                    <a:pt x="0" y="4315"/>
                    <a:pt x="2406" y="1850"/>
                  </a:cubicBezTo>
                  <a:cubicBezTo>
                    <a:pt x="3608" y="617"/>
                    <a:pt x="5183" y="0"/>
                    <a:pt x="6760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  <a:alpha val="5000"/>
              </a:schemeClr>
            </a:solidFill>
            <a:ln>
              <a:noFill/>
            </a:ln>
          </p:spPr>
          <p:txBody>
            <a:bodyPr spcFirstLastPara="1" wrap="square" lIns="14300" tIns="14300" rIns="14300" bIns="14300" anchor="ctr" anchorCtr="0">
              <a:noAutofit/>
            </a:bodyPr>
            <a:lstStyle/>
            <a:p>
              <a:endParaRPr lang="zh-CN" altLang="en-US" sz="800">
                <a:solidFill>
                  <a:srgbClr val="74808C"/>
                </a:solidFill>
              </a:endParaRPr>
            </a:p>
          </p:txBody>
        </p:sp>
        <p:sp>
          <p:nvSpPr>
            <p:cNvPr id="24" name="文本框 23"/>
            <p:cNvSpPr txBox="1"/>
            <p:nvPr/>
          </p:nvSpPr>
          <p:spPr bwMode="auto">
            <a:xfrm rot="5400000">
              <a:off x="6702797" y="2914348"/>
              <a:ext cx="371923" cy="3982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14300" tIns="14300" rIns="14300" bIns="14300" anchor="ctr" anchorCtr="1">
              <a:spAutoFit/>
            </a:bodyPr>
            <a:lstStyle>
              <a:defPPr>
                <a:defRPr lang="zh-CN"/>
              </a:defPPr>
              <a:lvl1pPr marR="0" lvl="0" indent="0" algn="ctr">
                <a:spcBef>
                  <a:spcPts val="0"/>
                </a:spcBef>
                <a:spcAft>
                  <a:spcPts val="0"/>
                </a:spcAft>
                <a:buNone/>
                <a:defRPr sz="2400" b="1">
                  <a:solidFill>
                    <a:schemeClr val="accent3"/>
                  </a:solidFill>
                </a:defRPr>
              </a:lvl1pPr>
            </a:lstStyle>
            <a:p>
              <a:r>
                <a:rPr lang="en-US" altLang="zh-CN" dirty="0"/>
                <a:t>02</a:t>
              </a:r>
              <a:endParaRPr lang="id-ID" altLang="zh-CN" dirty="0"/>
            </a:p>
          </p:txBody>
        </p:sp>
        <p:sp>
          <p:nvSpPr>
            <p:cNvPr id="25" name="任意多边形: 形状 24"/>
            <p:cNvSpPr/>
            <p:nvPr/>
          </p:nvSpPr>
          <p:spPr bwMode="auto">
            <a:xfrm>
              <a:off x="7041084" y="4273435"/>
              <a:ext cx="1516063" cy="661988"/>
            </a:xfrm>
            <a:custGeom>
              <a:avLst/>
              <a:gdLst>
                <a:gd name="T0" fmla="*/ 15625 w 15901"/>
                <a:gd name="T1" fmla="*/ 31 h 6934"/>
                <a:gd name="T2" fmla="*/ 15760 w 15901"/>
                <a:gd name="T3" fmla="*/ 97 h 6934"/>
                <a:gd name="T4" fmla="*/ 15847 w 15901"/>
                <a:gd name="T5" fmla="*/ 449 h 6934"/>
                <a:gd name="T6" fmla="*/ 13869 w 15901"/>
                <a:gd name="T7" fmla="*/ 3484 h 6934"/>
                <a:gd name="T8" fmla="*/ 1379 w 15901"/>
                <a:gd name="T9" fmla="*/ 3484 h 6934"/>
                <a:gd name="T10" fmla="*/ 694 w 15901"/>
                <a:gd name="T11" fmla="*/ 2690 h 6934"/>
                <a:gd name="T12" fmla="*/ 349 w 15901"/>
                <a:gd name="T13" fmla="*/ 2965 h 6934"/>
                <a:gd name="T14" fmla="*/ 0 w 15901"/>
                <a:gd name="T15" fmla="*/ 1312 h 6934"/>
                <a:gd name="T16" fmla="*/ 1529 w 15901"/>
                <a:gd name="T17" fmla="*/ 2027 h 6934"/>
                <a:gd name="T18" fmla="*/ 1188 w 15901"/>
                <a:gd name="T19" fmla="*/ 2298 h 6934"/>
                <a:gd name="T20" fmla="*/ 1825 w 15901"/>
                <a:gd name="T21" fmla="*/ 3038 h 6934"/>
                <a:gd name="T22" fmla="*/ 13423 w 15901"/>
                <a:gd name="T23" fmla="*/ 3038 h 6934"/>
                <a:gd name="T24" fmla="*/ 15262 w 15901"/>
                <a:gd name="T25" fmla="*/ 218 h 6934"/>
                <a:gd name="T26" fmla="*/ 15625 w 15901"/>
                <a:gd name="T27" fmla="*/ 31 h 69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5901" h="6934">
                  <a:moveTo>
                    <a:pt x="15625" y="31"/>
                  </a:moveTo>
                  <a:cubicBezTo>
                    <a:pt x="15673" y="40"/>
                    <a:pt x="15719" y="64"/>
                    <a:pt x="15760" y="97"/>
                  </a:cubicBezTo>
                  <a:cubicBezTo>
                    <a:pt x="15865" y="182"/>
                    <a:pt x="15901" y="326"/>
                    <a:pt x="15847" y="449"/>
                  </a:cubicBezTo>
                  <a:cubicBezTo>
                    <a:pt x="15417" y="1554"/>
                    <a:pt x="14761" y="2592"/>
                    <a:pt x="13869" y="3484"/>
                  </a:cubicBezTo>
                  <a:cubicBezTo>
                    <a:pt x="10420" y="6934"/>
                    <a:pt x="4828" y="6934"/>
                    <a:pt x="1379" y="3484"/>
                  </a:cubicBezTo>
                  <a:cubicBezTo>
                    <a:pt x="1128" y="3232"/>
                    <a:pt x="907" y="2963"/>
                    <a:pt x="694" y="2690"/>
                  </a:cubicBezTo>
                  <a:lnTo>
                    <a:pt x="349" y="2965"/>
                  </a:lnTo>
                  <a:lnTo>
                    <a:pt x="0" y="1312"/>
                  </a:lnTo>
                  <a:lnTo>
                    <a:pt x="1529" y="2027"/>
                  </a:lnTo>
                  <a:lnTo>
                    <a:pt x="1188" y="2298"/>
                  </a:lnTo>
                  <a:cubicBezTo>
                    <a:pt x="1385" y="2553"/>
                    <a:pt x="1591" y="2804"/>
                    <a:pt x="1825" y="3038"/>
                  </a:cubicBezTo>
                  <a:cubicBezTo>
                    <a:pt x="5028" y="6242"/>
                    <a:pt x="10220" y="6242"/>
                    <a:pt x="13423" y="3038"/>
                  </a:cubicBezTo>
                  <a:cubicBezTo>
                    <a:pt x="14252" y="2208"/>
                    <a:pt x="14862" y="1245"/>
                    <a:pt x="15262" y="218"/>
                  </a:cubicBezTo>
                  <a:cubicBezTo>
                    <a:pt x="15326" y="72"/>
                    <a:pt x="15482" y="0"/>
                    <a:pt x="15625" y="31"/>
                  </a:cubicBezTo>
                  <a:close/>
                </a:path>
              </a:pathLst>
            </a:custGeom>
            <a:gradFill>
              <a:gsLst>
                <a:gs pos="0">
                  <a:schemeClr val="accent3">
                    <a:lumMod val="60000"/>
                    <a:lumOff val="40000"/>
                  </a:schemeClr>
                </a:gs>
                <a:gs pos="60000">
                  <a:schemeClr val="accent3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/>
            <a:p>
              <a:pPr algn="ctr" defTabSz="913765"/>
              <a:endParaRPr lang="zh-CN" altLang="en-US" sz="2000" b="1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组合 7"/>
          <p:cNvGrpSpPr/>
          <p:nvPr/>
        </p:nvGrpSpPr>
        <p:grpSpPr>
          <a:xfrm>
            <a:off x="8924240" y="1762720"/>
            <a:ext cx="2465513" cy="2520719"/>
            <a:chOff x="3622153" y="2328978"/>
            <a:chExt cx="2465513" cy="2520719"/>
          </a:xfrm>
        </p:grpSpPr>
        <p:sp>
          <p:nvSpPr>
            <p:cNvPr id="18" name="任意多边形: 形状 17"/>
            <p:cNvSpPr/>
            <p:nvPr/>
          </p:nvSpPr>
          <p:spPr bwMode="auto">
            <a:xfrm>
              <a:off x="3795507" y="2328978"/>
              <a:ext cx="2292159" cy="2292200"/>
            </a:xfrm>
            <a:custGeom>
              <a:avLst/>
              <a:gdLst>
                <a:gd name="T0" fmla="*/ 2292277 w 20521"/>
                <a:gd name="T1" fmla="*/ 2292413 h 21047"/>
                <a:gd name="T2" fmla="*/ 2292277 w 20521"/>
                <a:gd name="T3" fmla="*/ 2292413 h 21047"/>
                <a:gd name="T4" fmla="*/ 2292277 w 20521"/>
                <a:gd name="T5" fmla="*/ 2292413 h 21047"/>
                <a:gd name="T6" fmla="*/ 2292277 w 20521"/>
                <a:gd name="T7" fmla="*/ 2292413 h 21047"/>
                <a:gd name="T8" fmla="*/ 0 60000 65536"/>
                <a:gd name="T9" fmla="*/ 5898240 60000 65536"/>
                <a:gd name="T10" fmla="*/ 11796480 60000 65536"/>
                <a:gd name="T11" fmla="*/ 1769472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600" h="21600">
                  <a:moveTo>
                    <a:pt x="15533" y="0"/>
                  </a:moveTo>
                  <a:cubicBezTo>
                    <a:pt x="14119" y="0"/>
                    <a:pt x="12704" y="553"/>
                    <a:pt x="11625" y="1660"/>
                  </a:cubicBezTo>
                  <a:lnTo>
                    <a:pt x="2159" y="11368"/>
                  </a:lnTo>
                  <a:cubicBezTo>
                    <a:pt x="0" y="13582"/>
                    <a:pt x="0" y="17173"/>
                    <a:pt x="2159" y="19386"/>
                  </a:cubicBezTo>
                  <a:cubicBezTo>
                    <a:pt x="4317" y="21600"/>
                    <a:pt x="7816" y="21600"/>
                    <a:pt x="9975" y="19386"/>
                  </a:cubicBezTo>
                  <a:lnTo>
                    <a:pt x="19441" y="9678"/>
                  </a:lnTo>
                  <a:cubicBezTo>
                    <a:pt x="21600" y="7464"/>
                    <a:pt x="21600" y="3873"/>
                    <a:pt x="19441" y="1660"/>
                  </a:cubicBezTo>
                  <a:cubicBezTo>
                    <a:pt x="18362" y="553"/>
                    <a:pt x="16948" y="0"/>
                    <a:pt x="15533" y="0"/>
                  </a:cubicBezTo>
                  <a:close/>
                </a:path>
              </a:pathLst>
            </a:custGeom>
            <a:solidFill>
              <a:schemeClr val="tx1">
                <a:lumMod val="50000"/>
                <a:lumOff val="50000"/>
                <a:alpha val="5000"/>
              </a:schemeClr>
            </a:solidFill>
            <a:ln>
              <a:noFill/>
            </a:ln>
          </p:spPr>
          <p:txBody>
            <a:bodyPr spcFirstLastPara="1" wrap="square" lIns="14300" tIns="14300" rIns="14300" bIns="14300" anchor="ctr" anchorCtr="0">
              <a:noAutofit/>
            </a:bodyPr>
            <a:lstStyle/>
            <a:p>
              <a:endParaRPr lang="zh-CN" altLang="en-US" sz="800">
                <a:solidFill>
                  <a:srgbClr val="74808C"/>
                </a:solidFill>
              </a:endParaRPr>
            </a:p>
          </p:txBody>
        </p:sp>
        <p:sp>
          <p:nvSpPr>
            <p:cNvPr id="19" name="任意多边形: 形状 18"/>
            <p:cNvSpPr/>
            <p:nvPr/>
          </p:nvSpPr>
          <p:spPr bwMode="auto">
            <a:xfrm>
              <a:off x="3622153" y="4273435"/>
              <a:ext cx="1512095" cy="576262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561" h="18840" extrusionOk="0">
                  <a:moveTo>
                    <a:pt x="336" y="22"/>
                  </a:moveTo>
                  <a:cubicBezTo>
                    <a:pt x="271" y="53"/>
                    <a:pt x="209" y="125"/>
                    <a:pt x="153" y="230"/>
                  </a:cubicBezTo>
                  <a:cubicBezTo>
                    <a:pt x="10" y="494"/>
                    <a:pt x="-39" y="941"/>
                    <a:pt x="34" y="1327"/>
                  </a:cubicBezTo>
                  <a:cubicBezTo>
                    <a:pt x="619" y="4768"/>
                    <a:pt x="1510" y="8000"/>
                    <a:pt x="2722" y="10779"/>
                  </a:cubicBezTo>
                  <a:cubicBezTo>
                    <a:pt x="7407" y="21527"/>
                    <a:pt x="15003" y="21527"/>
                    <a:pt x="19688" y="10779"/>
                  </a:cubicBezTo>
                  <a:cubicBezTo>
                    <a:pt x="20029" y="9995"/>
                    <a:pt x="20330" y="9158"/>
                    <a:pt x="20619" y="8305"/>
                  </a:cubicBezTo>
                  <a:lnTo>
                    <a:pt x="21088" y="9162"/>
                  </a:lnTo>
                  <a:lnTo>
                    <a:pt x="21561" y="4014"/>
                  </a:lnTo>
                  <a:lnTo>
                    <a:pt x="19484" y="6241"/>
                  </a:lnTo>
                  <a:lnTo>
                    <a:pt x="19948" y="7085"/>
                  </a:lnTo>
                  <a:cubicBezTo>
                    <a:pt x="19680" y="7879"/>
                    <a:pt x="19400" y="8661"/>
                    <a:pt x="19082" y="9389"/>
                  </a:cubicBezTo>
                  <a:cubicBezTo>
                    <a:pt x="14732" y="19371"/>
                    <a:pt x="7678" y="19371"/>
                    <a:pt x="3327" y="9389"/>
                  </a:cubicBezTo>
                  <a:cubicBezTo>
                    <a:pt x="2201" y="6806"/>
                    <a:pt x="1372" y="3806"/>
                    <a:pt x="829" y="606"/>
                  </a:cubicBezTo>
                  <a:cubicBezTo>
                    <a:pt x="742" y="150"/>
                    <a:pt x="531" y="-73"/>
                    <a:pt x="336" y="22"/>
                  </a:cubicBezTo>
                  <a:close/>
                </a:path>
              </a:pathLst>
            </a:custGeom>
            <a:gradFill>
              <a:gsLst>
                <a:gs pos="0">
                  <a:schemeClr val="accent3">
                    <a:lumMod val="60000"/>
                    <a:lumOff val="40000"/>
                  </a:schemeClr>
                </a:gs>
                <a:gs pos="60000">
                  <a:schemeClr val="accent3"/>
                </a:gs>
              </a:gsLst>
              <a:lin ang="2700000" scaled="0"/>
            </a:gradFill>
            <a:ln w="57150" cap="rnd">
              <a:noFill/>
              <a:prstDash val="solid"/>
              <a:round/>
            </a:ln>
            <a:effectLst>
              <a:outerShdw blurRad="76200" dist="50800" dir="5400000" algn="ctr" rotWithShape="0">
                <a:schemeClr val="accent3">
                  <a:alpha val="2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norm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</a:defRPr>
              </a:lvl9pPr>
            </a:lstStyle>
            <a:p>
              <a:pPr algn="ctr" defTabSz="913765"/>
              <a:endParaRPr sz="2000" b="1">
                <a:solidFill>
                  <a:schemeClr val="bg1"/>
                </a:solidFill>
              </a:endParaRPr>
            </a:p>
          </p:txBody>
        </p:sp>
        <p:sp>
          <p:nvSpPr>
            <p:cNvPr id="21" name="文本框 20"/>
            <p:cNvSpPr txBox="1"/>
            <p:nvPr/>
          </p:nvSpPr>
          <p:spPr bwMode="auto">
            <a:xfrm>
              <a:off x="5100613" y="2914347"/>
              <a:ext cx="371923" cy="39821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none" lIns="14300" tIns="14300" rIns="14300" bIns="14300" anchor="ctr" anchorCtr="1">
              <a:spAutoFit/>
            </a:bodyPr>
            <a:lstStyle>
              <a:defPPr>
                <a:defRPr lang="zh-CN"/>
              </a:defPPr>
              <a:lvl1pPr marR="0" lvl="0" indent="0" algn="ctr">
                <a:spcBef>
                  <a:spcPts val="0"/>
                </a:spcBef>
                <a:spcAft>
                  <a:spcPts val="0"/>
                </a:spcAft>
                <a:buNone/>
                <a:defRPr sz="2400" b="1">
                  <a:solidFill>
                    <a:schemeClr val="accent3"/>
                  </a:solidFill>
                </a:defRPr>
              </a:lvl1pPr>
            </a:lstStyle>
            <a:p>
              <a:r>
                <a:rPr lang="en-US" altLang="zh-CN"/>
                <a:t>03</a:t>
              </a:r>
              <a:endParaRPr lang="id-ID" altLang="zh-CN" dirty="0"/>
            </a:p>
          </p:txBody>
        </p:sp>
      </p:grpSp>
      <p:sp>
        <p:nvSpPr>
          <p:cNvPr id="11" name="矩形 10"/>
          <p:cNvSpPr/>
          <p:nvPr/>
        </p:nvSpPr>
        <p:spPr bwMode="auto">
          <a:xfrm>
            <a:off x="647874" y="4434974"/>
            <a:ext cx="2796784" cy="977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/>
              <a:t>李帛修</a:t>
            </a:r>
            <a:endParaRPr lang="en-US" altLang="zh-CN" sz="1600" dirty="0"/>
          </a:p>
          <a:p>
            <a:pPr marL="171450" indent="-1714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/>
              <a:t>上海交通大学计算机系永强班在读</a:t>
            </a:r>
            <a:endParaRPr lang="en-US" altLang="zh-CN" sz="1600" dirty="0"/>
          </a:p>
          <a:p>
            <a:pPr marL="171450" indent="-1714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/>
              <a:t>多篇</a:t>
            </a:r>
            <a:r>
              <a:rPr lang="en-US" altLang="zh-CN" sz="1600" dirty="0"/>
              <a:t>AI</a:t>
            </a:r>
            <a:r>
              <a:rPr lang="zh-CN" altLang="en-US" sz="1600" dirty="0"/>
              <a:t>相关论文发表经历</a:t>
            </a:r>
            <a:endParaRPr lang="en-US" altLang="zh-CN" sz="1600" dirty="0"/>
          </a:p>
          <a:p>
            <a:pPr marL="171450" indent="-1714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/>
              <a:t>微软“明日之星”</a:t>
            </a:r>
            <a:endParaRPr lang="en-US" altLang="zh-CN" sz="1600" dirty="0"/>
          </a:p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endParaRPr lang="en-US" altLang="zh-CN" sz="1600" dirty="0"/>
          </a:p>
        </p:txBody>
      </p:sp>
      <p:sp>
        <p:nvSpPr>
          <p:cNvPr id="30" name="文本框 29"/>
          <p:cNvSpPr txBox="1"/>
          <p:nvPr/>
        </p:nvSpPr>
        <p:spPr>
          <a:xfrm>
            <a:off x="1850463" y="453831"/>
            <a:ext cx="8500289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 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3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位联合创始人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,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均为计算机系科班出身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,</a:t>
            </a:r>
          </a:p>
          <a:p>
            <a:pPr marL="0" marR="0" lvl="0" indent="0" algn="ctr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来自上海交通大学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(2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位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)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与中山大学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(1 </a:t>
            </a: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位</a:t>
            </a:r>
            <a:r>
              <a: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</a:rPr>
              <a:t>)</a:t>
            </a:r>
          </a:p>
        </p:txBody>
      </p:sp>
      <p:sp>
        <p:nvSpPr>
          <p:cNvPr id="2" name="矩形 1"/>
          <p:cNvSpPr/>
          <p:nvPr/>
        </p:nvSpPr>
        <p:spPr bwMode="auto">
          <a:xfrm>
            <a:off x="4608186" y="4434974"/>
            <a:ext cx="2796784" cy="1001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/>
              <a:t>温子墨</a:t>
            </a:r>
          </a:p>
          <a:p>
            <a:pPr marL="171450" indent="-1714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/>
              <a:t>上海交通大学软件工程专业</a:t>
            </a:r>
            <a:endParaRPr lang="en-US" altLang="zh-CN" sz="1600" dirty="0"/>
          </a:p>
          <a:p>
            <a:pPr marL="171450" indent="-1714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/>
              <a:t>微软“明日之星”</a:t>
            </a:r>
            <a:endParaRPr lang="en-US" altLang="zh-CN" sz="1600" dirty="0"/>
          </a:p>
          <a:p>
            <a:pPr marL="171450" indent="-1714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/>
              <a:t>商汤顶尖实习生，</a:t>
            </a:r>
            <a:endParaRPr lang="en-US" altLang="zh-CN" sz="1600" dirty="0"/>
          </a:p>
          <a:p>
            <a:pPr marL="171450" indent="-1714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/>
              <a:t>多篇</a:t>
            </a:r>
            <a:r>
              <a:rPr lang="en-US" altLang="zh-CN" sz="1600" dirty="0"/>
              <a:t>AI</a:t>
            </a:r>
            <a:r>
              <a:rPr lang="zh-CN" altLang="en-US" sz="1600" dirty="0"/>
              <a:t>相关论文发表经历</a:t>
            </a:r>
            <a:endParaRPr lang="en-US" altLang="zh-CN" sz="1600" dirty="0"/>
          </a:p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endParaRPr lang="en-US" altLang="zh-CN" sz="1600" dirty="0"/>
          </a:p>
        </p:txBody>
      </p:sp>
      <p:sp>
        <p:nvSpPr>
          <p:cNvPr id="3" name="矩形 2"/>
          <p:cNvSpPr/>
          <p:nvPr/>
        </p:nvSpPr>
        <p:spPr bwMode="auto">
          <a:xfrm>
            <a:off x="8567420" y="4434840"/>
            <a:ext cx="2785745" cy="9772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anchor="t" anchorCtr="0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</a:defRPr>
            </a:lvl9pPr>
          </a:lstStyle>
          <a:p>
            <a:pPr marL="171450" indent="-1714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/>
              <a:t>范益嘉</a:t>
            </a:r>
            <a:endParaRPr lang="en-US" altLang="zh-CN" sz="1600" dirty="0"/>
          </a:p>
          <a:p>
            <a:pPr marL="171450" indent="-1714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/>
              <a:t>中山大学计算机专业</a:t>
            </a:r>
          </a:p>
          <a:p>
            <a:pPr marL="171450" indent="-1714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/>
              <a:t>微软和商汤</a:t>
            </a:r>
            <a:r>
              <a:rPr lang="en-US" altLang="zh-CN" sz="1600" dirty="0"/>
              <a:t>ai</a:t>
            </a:r>
            <a:r>
              <a:rPr lang="zh-CN" altLang="en-US" sz="1600" dirty="0"/>
              <a:t>相关实习</a:t>
            </a:r>
          </a:p>
          <a:p>
            <a:pPr marL="171450" indent="-171450">
              <a:lnSpc>
                <a:spcPct val="120000"/>
              </a:lnSpc>
              <a:buFont typeface="Arial" panose="020B0604020202090204" pitchFamily="34" charset="0"/>
              <a:buChar char="•"/>
            </a:pPr>
            <a:r>
              <a:rPr lang="zh-CN" altLang="en-US" sz="1600" dirty="0">
                <a:sym typeface="+mn-ea"/>
              </a:rPr>
              <a:t>多篇</a:t>
            </a:r>
            <a:r>
              <a:rPr lang="en-US" altLang="zh-CN" sz="1600" dirty="0">
                <a:sym typeface="+mn-ea"/>
              </a:rPr>
              <a:t>AI</a:t>
            </a:r>
            <a:r>
              <a:rPr lang="zh-CN" altLang="en-US" sz="1600" dirty="0">
                <a:sym typeface="+mn-ea"/>
              </a:rPr>
              <a:t>相关论文发表经历</a:t>
            </a:r>
            <a:endParaRPr lang="zh-CN" altLang="en-US" sz="1600" dirty="0"/>
          </a:p>
        </p:txBody>
      </p:sp>
      <p:pic>
        <p:nvPicPr>
          <p:cNvPr id="10" name="图片 9" descr="/Users/Zhuanz/Library/Containers/com.kingsoft.wpsoffice.mac/Data/tmp/photoeditapp/20260701221615/temp.pngtemp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7795" y="2917825"/>
            <a:ext cx="977265" cy="977265"/>
          </a:xfrm>
          <a:prstGeom prst="rect">
            <a:avLst/>
          </a:prstGeom>
        </p:spPr>
      </p:pic>
      <p:pic>
        <p:nvPicPr>
          <p:cNvPr id="12" name="图片 11" descr="/Users/Zhuanz/Library/Containers/com.kingsoft.wpsoffice.mac/Data/tmp/photoeditapp/20260701221750/temp.pngtem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8215" y="2014855"/>
            <a:ext cx="1075690" cy="1076960"/>
          </a:xfrm>
          <a:prstGeom prst="rect">
            <a:avLst/>
          </a:prstGeom>
        </p:spPr>
      </p:pic>
      <p:pic>
        <p:nvPicPr>
          <p:cNvPr id="13" name="图片 12" descr="/Users/Zhuanz/Library/Containers/com.kingsoft.wpsoffice.mac/Data/tmp/photoeditapp/20260701222011/temp.pngtemp"/>
          <p:cNvPicPr/>
          <p:nvPr/>
        </p:nvPicPr>
        <p:blipFill>
          <a:blip r:embed="rId5"/>
          <a:stretch>
            <a:fillRect/>
          </a:stretch>
        </p:blipFill>
        <p:spPr>
          <a:xfrm>
            <a:off x="9234805" y="3091815"/>
            <a:ext cx="891540" cy="90868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647700" y="6139815"/>
            <a:ext cx="11095355" cy="3860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lstStyle/>
          <a:p>
            <a:pPr indent="0">
              <a:lnSpc>
                <a:spcPct val="120000"/>
              </a:lnSpc>
              <a:buFont typeface="Arial" panose="020B0604020202090204" pitchFamily="34" charset="0"/>
              <a:buNone/>
            </a:pPr>
            <a:r>
              <a:rPr lang="zh-CN" altLang="en-US" sz="1600" b="1" dirty="0">
                <a:solidFill>
                  <a:schemeClr val="accent3"/>
                </a:solidFill>
                <a:sym typeface="+mn-ea"/>
              </a:rPr>
              <a:t>三位联创累计顶会论文发表近</a:t>
            </a:r>
            <a:r>
              <a:rPr lang="en-US" altLang="zh-CN" sz="1600" b="1" dirty="0">
                <a:solidFill>
                  <a:schemeClr val="accent3"/>
                </a:solidFill>
                <a:sym typeface="+mn-ea"/>
              </a:rPr>
              <a:t>20</a:t>
            </a:r>
            <a:r>
              <a:rPr lang="zh-CN" altLang="en-US" sz="1600" b="1" dirty="0">
                <a:solidFill>
                  <a:schemeClr val="accent3"/>
                </a:solidFill>
                <a:sym typeface="+mn-ea"/>
              </a:rPr>
              <a:t>篇</a:t>
            </a:r>
            <a:r>
              <a:rPr lang="en-US" altLang="zh-CN" sz="1600" b="1" dirty="0">
                <a:solidFill>
                  <a:schemeClr val="accent3"/>
                </a:solidFill>
                <a:sym typeface="+mn-ea"/>
              </a:rPr>
              <a:t>，</a:t>
            </a:r>
            <a:r>
              <a:rPr lang="zh-CN" altLang="en-US" sz="1600" b="1" dirty="0">
                <a:solidFill>
                  <a:schemeClr val="accent3"/>
                </a:solidFill>
                <a:sym typeface="+mn-ea"/>
              </a:rPr>
              <a:t>覆盖多端大厂实习经历</a:t>
            </a:r>
            <a:r>
              <a:rPr lang="en-US" altLang="zh-CN" sz="1600" b="1" dirty="0">
                <a:solidFill>
                  <a:schemeClr val="accent3"/>
                </a:solidFill>
                <a:sym typeface="+mn-ea"/>
              </a:rPr>
              <a:t>，</a:t>
            </a:r>
            <a:r>
              <a:rPr lang="zh-CN" altLang="en-US" sz="1600" b="1" dirty="0">
                <a:solidFill>
                  <a:schemeClr val="accent3"/>
                </a:solidFill>
                <a:sym typeface="+mn-ea"/>
              </a:rPr>
              <a:t>参与</a:t>
            </a:r>
            <a:r>
              <a:rPr lang="en-US" altLang="zh-CN" sz="1600" b="1" dirty="0">
                <a:solidFill>
                  <a:schemeClr val="accent3"/>
                </a:solidFill>
                <a:sym typeface="+mn-ea"/>
              </a:rPr>
              <a:t>commit</a:t>
            </a:r>
            <a:r>
              <a:rPr lang="zh-CN" altLang="en-US" sz="1600" b="1" dirty="0">
                <a:solidFill>
                  <a:schemeClr val="accent3"/>
                </a:solidFill>
                <a:sym typeface="+mn-ea"/>
              </a:rPr>
              <a:t>项目</a:t>
            </a:r>
            <a:r>
              <a:rPr lang="en-US" altLang="zh-CN" sz="1600" b="1" dirty="0">
                <a:solidFill>
                  <a:schemeClr val="accent3"/>
                </a:solidFill>
                <a:sym typeface="+mn-ea"/>
              </a:rPr>
              <a:t>github star</a:t>
            </a:r>
            <a:r>
              <a:rPr lang="zh-CN" altLang="en-US" sz="1600" b="1" dirty="0">
                <a:solidFill>
                  <a:schemeClr val="accent3"/>
                </a:solidFill>
                <a:sym typeface="+mn-ea"/>
              </a:rPr>
              <a:t>数</a:t>
            </a:r>
            <a:r>
              <a:rPr lang="en-US" altLang="zh-CN" sz="1600" b="1" dirty="0">
                <a:solidFill>
                  <a:schemeClr val="accent3"/>
                </a:solidFill>
                <a:sym typeface="+mn-ea"/>
              </a:rPr>
              <a:t>10k+</a:t>
            </a:r>
          </a:p>
        </p:txBody>
      </p:sp>
    </p:spTree>
    <p:custDataLst>
      <p:tags r:id="rId1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C884DC-C58C-4D83-9157-478A0AECA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03439" y="3656191"/>
            <a:ext cx="4920211" cy="681576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l"/>
            <a:r>
              <a:rPr lang="zh-CN" altLang="en-US" sz="3600" b="0" dirty="0"/>
              <a:t>财务计划与预测</a:t>
            </a:r>
            <a:endParaRPr lang="en-US" altLang="zh-CN" sz="3600" b="0" dirty="0"/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78DAE95-7127-4F51-9451-9FE7A2833B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203439" y="4439367"/>
            <a:ext cx="4920211" cy="681576"/>
          </a:xfrm>
        </p:spPr>
        <p:txBody>
          <a:bodyPr>
            <a:normAutofit/>
          </a:bodyPr>
          <a:lstStyle/>
          <a:p>
            <a:pPr algn="l">
              <a:lnSpc>
                <a:spcPct val="150000"/>
              </a:lnSpc>
            </a:pPr>
            <a:endParaRPr lang="zh-CN" altLang="en-US" dirty="0"/>
          </a:p>
          <a:p>
            <a:pPr lvl="0" algn="l"/>
            <a:endParaRPr lang="zh-CN" altLang="en-US" dirty="0"/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F346E48D-011A-44A6-860D-270D027745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3643653" y="1781080"/>
            <a:ext cx="1798639" cy="1589979"/>
          </a:xfrm>
        </p:spPr>
        <p:txBody>
          <a:bodyPr/>
          <a:lstStyle/>
          <a:p>
            <a:r>
              <a:rPr lang="en-US" altLang="zh-CN" dirty="0"/>
              <a:t>04</a:t>
            </a:r>
            <a:endParaRPr lang="zh-CN" altLang="en-US" dirty="0"/>
          </a:p>
        </p:txBody>
      </p:sp>
      <p:sp>
        <p:nvSpPr>
          <p:cNvPr id="5" name="弧形 4">
            <a:extLst>
              <a:ext uri="{FF2B5EF4-FFF2-40B4-BE49-F238E27FC236}">
                <a16:creationId xmlns:a16="http://schemas.microsoft.com/office/drawing/2014/main" id="{6C5E82E7-0E27-4FC8-935E-F3AA57F09706}"/>
              </a:ext>
            </a:extLst>
          </p:cNvPr>
          <p:cNvSpPr/>
          <p:nvPr/>
        </p:nvSpPr>
        <p:spPr>
          <a:xfrm rot="3231425">
            <a:off x="2040390" y="2846800"/>
            <a:ext cx="3206526" cy="2506712"/>
          </a:xfrm>
          <a:prstGeom prst="arc">
            <a:avLst>
              <a:gd name="adj1" fmla="val 16200000"/>
              <a:gd name="adj2" fmla="val 12111527"/>
            </a:avLst>
          </a:prstGeom>
          <a:ln w="76200" cap="rnd">
            <a:gradFill>
              <a:gsLst>
                <a:gs pos="100000">
                  <a:schemeClr val="accent3">
                    <a:lumMod val="60000"/>
                    <a:lumOff val="40000"/>
                    <a:alpha val="0"/>
                  </a:schemeClr>
                </a:gs>
                <a:gs pos="20000">
                  <a:schemeClr val="accent3"/>
                </a:gs>
              </a:gsLst>
              <a:lin ang="1200000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12872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标题 1">
            <a:extLst>
              <a:ext uri="{FF2B5EF4-FFF2-40B4-BE49-F238E27FC236}">
                <a16:creationId xmlns:a16="http://schemas.microsoft.com/office/drawing/2014/main" id="{6D178372-53DF-4224-FE00-969C05868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8697" y="248962"/>
            <a:ext cx="7267894" cy="612470"/>
          </a:xfrm>
        </p:spPr>
        <p:txBody>
          <a:bodyPr>
            <a:noAutofit/>
          </a:bodyPr>
          <a:lstStyle/>
          <a:p>
            <a:pPr marR="0" lvl="0" rtl="0"/>
            <a:r>
              <a:rPr lang="zh-CN" altLang="en-US" sz="3600" b="1" i="0" u="none" strike="noStrike" kern="100" baseline="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资金用途总览：钱会花在哪</a:t>
            </a:r>
          </a:p>
        </p:txBody>
      </p:sp>
      <p:sp>
        <p:nvSpPr>
          <p:cNvPr id="15" name="任意多边形: 形状 14">
            <a:extLst>
              <a:ext uri="{FF2B5EF4-FFF2-40B4-BE49-F238E27FC236}">
                <a16:creationId xmlns:a16="http://schemas.microsoft.com/office/drawing/2014/main" id="{AC322DA5-080D-A31C-2E0E-D7E06F9A0322}"/>
              </a:ext>
            </a:extLst>
          </p:cNvPr>
          <p:cNvSpPr/>
          <p:nvPr/>
        </p:nvSpPr>
        <p:spPr>
          <a:xfrm>
            <a:off x="2009211" y="1463663"/>
            <a:ext cx="1507854" cy="1514106"/>
          </a:xfrm>
          <a:custGeom>
            <a:avLst/>
            <a:gdLst>
              <a:gd name="connsiteX0" fmla="*/ 0 w 2032000"/>
              <a:gd name="connsiteY0" fmla="*/ 1354666 h 1354666"/>
              <a:gd name="connsiteX1" fmla="*/ 1016000 w 2032000"/>
              <a:gd name="connsiteY1" fmla="*/ 0 h 1354666"/>
              <a:gd name="connsiteX2" fmla="*/ 1016000 w 2032000"/>
              <a:gd name="connsiteY2" fmla="*/ 0 h 1354666"/>
              <a:gd name="connsiteX3" fmla="*/ 2032000 w 2032000"/>
              <a:gd name="connsiteY3" fmla="*/ 1354666 h 1354666"/>
              <a:gd name="connsiteX4" fmla="*/ 0 w 2032000"/>
              <a:gd name="connsiteY4" fmla="*/ 1354666 h 1354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32000" h="1354666">
                <a:moveTo>
                  <a:pt x="0" y="1354666"/>
                </a:moveTo>
                <a:lnTo>
                  <a:pt x="1016000" y="0"/>
                </a:lnTo>
                <a:lnTo>
                  <a:pt x="1016000" y="0"/>
                </a:lnTo>
                <a:lnTo>
                  <a:pt x="2032000" y="1354666"/>
                </a:lnTo>
                <a:lnTo>
                  <a:pt x="0" y="1354666"/>
                </a:lnTo>
                <a:close/>
              </a:path>
            </a:pathLst>
          </a:cu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endParaRPr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B92EF30F-10D3-7751-DA45-755354312479}"/>
              </a:ext>
            </a:extLst>
          </p:cNvPr>
          <p:cNvSpPr/>
          <p:nvPr/>
        </p:nvSpPr>
        <p:spPr>
          <a:xfrm>
            <a:off x="1128853" y="3093279"/>
            <a:ext cx="3268570" cy="1514106"/>
          </a:xfrm>
          <a:custGeom>
            <a:avLst/>
            <a:gdLst>
              <a:gd name="connsiteX0" fmla="*/ 0 w 4064000"/>
              <a:gd name="connsiteY0" fmla="*/ 1354666 h 1354666"/>
              <a:gd name="connsiteX1" fmla="*/ 1016000 w 4064000"/>
              <a:gd name="connsiteY1" fmla="*/ 0 h 1354666"/>
              <a:gd name="connsiteX2" fmla="*/ 3048000 w 4064000"/>
              <a:gd name="connsiteY2" fmla="*/ 0 h 1354666"/>
              <a:gd name="connsiteX3" fmla="*/ 4064000 w 4064000"/>
              <a:gd name="connsiteY3" fmla="*/ 1354666 h 1354666"/>
              <a:gd name="connsiteX4" fmla="*/ 0 w 4064000"/>
              <a:gd name="connsiteY4" fmla="*/ 1354666 h 1354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064000" h="1354666">
                <a:moveTo>
                  <a:pt x="0" y="1354666"/>
                </a:moveTo>
                <a:lnTo>
                  <a:pt x="1016000" y="0"/>
                </a:lnTo>
                <a:lnTo>
                  <a:pt x="3048000" y="0"/>
                </a:lnTo>
                <a:lnTo>
                  <a:pt x="4064000" y="1354666"/>
                </a:lnTo>
                <a:lnTo>
                  <a:pt x="0" y="1354666"/>
                </a:lnTo>
                <a:close/>
              </a:path>
            </a:pathLst>
          </a:cu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endParaRPr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id="{982EEED9-9E39-7AD0-8FE4-2A9EAAE61F0C}"/>
              </a:ext>
            </a:extLst>
          </p:cNvPr>
          <p:cNvSpPr/>
          <p:nvPr/>
        </p:nvSpPr>
        <p:spPr>
          <a:xfrm>
            <a:off x="198697" y="4729237"/>
            <a:ext cx="5128884" cy="1514106"/>
          </a:xfrm>
          <a:custGeom>
            <a:avLst/>
            <a:gdLst>
              <a:gd name="connsiteX0" fmla="*/ 0 w 6096000"/>
              <a:gd name="connsiteY0" fmla="*/ 1354666 h 1354666"/>
              <a:gd name="connsiteX1" fmla="*/ 1016000 w 6096000"/>
              <a:gd name="connsiteY1" fmla="*/ 0 h 1354666"/>
              <a:gd name="connsiteX2" fmla="*/ 5080000 w 6096000"/>
              <a:gd name="connsiteY2" fmla="*/ 0 h 1354666"/>
              <a:gd name="connsiteX3" fmla="*/ 6096000 w 6096000"/>
              <a:gd name="connsiteY3" fmla="*/ 1354666 h 1354666"/>
              <a:gd name="connsiteX4" fmla="*/ 0 w 6096000"/>
              <a:gd name="connsiteY4" fmla="*/ 1354666 h 1354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096000" h="1354666">
                <a:moveTo>
                  <a:pt x="0" y="1354666"/>
                </a:moveTo>
                <a:lnTo>
                  <a:pt x="1016000" y="0"/>
                </a:lnTo>
                <a:lnTo>
                  <a:pt x="5080000" y="0"/>
                </a:lnTo>
                <a:lnTo>
                  <a:pt x="6096000" y="1354666"/>
                </a:lnTo>
                <a:lnTo>
                  <a:pt x="0" y="13546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wrap="square" lIns="91440" tIns="45720" rIns="91440" bIns="45720" anchor="ctr">
            <a:noAutofit/>
          </a:bodyPr>
          <a:lstStyle/>
          <a:p>
            <a:pPr algn="ctr"/>
            <a:endParaRPr>
              <a:solidFill>
                <a:schemeClr val="tx1"/>
              </a:solidFill>
              <a:cs typeface="+mn-ea"/>
              <a:sym typeface="+mn-lt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84CA5EE6-03F8-3129-27E0-D5723ED61259}"/>
              </a:ext>
            </a:extLst>
          </p:cNvPr>
          <p:cNvSpPr txBox="1"/>
          <p:nvPr/>
        </p:nvSpPr>
        <p:spPr>
          <a:xfrm>
            <a:off x="1927527" y="5214283"/>
            <a:ext cx="1671219" cy="754552"/>
          </a:xfrm>
          <a:prstGeom prst="rect">
            <a:avLst/>
          </a:prstGeom>
          <a:noFill/>
        </p:spPr>
        <p:txBody>
          <a:bodyPr wrap="none" lIns="91440" tIns="45720" rIns="91440" bIns="45720" rtlCol="0" anchor="ctr" anchorCtr="0">
            <a:noAutofit/>
          </a:bodyPr>
          <a:lstStyle/>
          <a:p>
            <a:pPr algn="ctr"/>
            <a:r>
              <a:rPr lang="zh-CN" altLang="en-US" sz="2800" b="1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开源社区运营</a:t>
            </a: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503EA5A5-C6F4-550D-3623-8072DA7BE3EA}"/>
              </a:ext>
            </a:extLst>
          </p:cNvPr>
          <p:cNvSpPr txBox="1"/>
          <p:nvPr/>
        </p:nvSpPr>
        <p:spPr>
          <a:xfrm>
            <a:off x="1938819" y="3457883"/>
            <a:ext cx="1671219" cy="754552"/>
          </a:xfrm>
          <a:prstGeom prst="rect">
            <a:avLst/>
          </a:prstGeom>
          <a:noFill/>
        </p:spPr>
        <p:txBody>
          <a:bodyPr wrap="none" lIns="91440" tIns="45720" rIns="91440" bIns="45720" rtlCol="0" anchor="ctr" anchorCtr="0">
            <a:noAutofit/>
          </a:bodyPr>
          <a:lstStyle/>
          <a:p>
            <a:pPr algn="ctr"/>
            <a:r>
              <a:rPr lang="zh-CN" altLang="en-US" sz="2000" b="1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前期产品化开发</a:t>
            </a:r>
          </a:p>
        </p:txBody>
      </p:sp>
      <p:sp>
        <p:nvSpPr>
          <p:cNvPr id="31" name="文本框 30">
            <a:extLst>
              <a:ext uri="{FF2B5EF4-FFF2-40B4-BE49-F238E27FC236}">
                <a16:creationId xmlns:a16="http://schemas.microsoft.com/office/drawing/2014/main" id="{99A7F84E-52E6-1036-CC76-3BA00F33CCEA}"/>
              </a:ext>
            </a:extLst>
          </p:cNvPr>
          <p:cNvSpPr txBox="1"/>
          <p:nvPr/>
        </p:nvSpPr>
        <p:spPr>
          <a:xfrm>
            <a:off x="1927527" y="2054579"/>
            <a:ext cx="1671219" cy="754552"/>
          </a:xfrm>
          <a:prstGeom prst="rect">
            <a:avLst/>
          </a:prstGeom>
          <a:noFill/>
        </p:spPr>
        <p:txBody>
          <a:bodyPr wrap="none" lIns="91440" tIns="45720" rIns="91440" bIns="45720" rtlCol="0" anchor="ctr" anchorCtr="0">
            <a:noAutofit/>
          </a:bodyPr>
          <a:lstStyle/>
          <a:p>
            <a:pPr algn="ctr"/>
            <a:r>
              <a:rPr lang="zh-CN" altLang="en-US" sz="1400" b="1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应急预留</a:t>
            </a:r>
          </a:p>
        </p:txBody>
      </p:sp>
      <p:sp>
        <p:nvSpPr>
          <p:cNvPr id="32" name="弧形 31">
            <a:extLst>
              <a:ext uri="{FF2B5EF4-FFF2-40B4-BE49-F238E27FC236}">
                <a16:creationId xmlns:a16="http://schemas.microsoft.com/office/drawing/2014/main" id="{2AF97403-C30F-1FF1-9BEC-8722BF2ED748}"/>
              </a:ext>
            </a:extLst>
          </p:cNvPr>
          <p:cNvSpPr/>
          <p:nvPr/>
        </p:nvSpPr>
        <p:spPr>
          <a:xfrm rot="1449945">
            <a:off x="1959466" y="1906296"/>
            <a:ext cx="2401925" cy="2401925"/>
          </a:xfrm>
          <a:prstGeom prst="arc">
            <a:avLst>
              <a:gd name="adj1" fmla="val 16047879"/>
              <a:gd name="adj2" fmla="val 21267678"/>
            </a:avLst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anchor="ctr">
            <a:noAutofit/>
          </a:bodyPr>
          <a:lstStyle/>
          <a:p>
            <a:pPr algn="ctr"/>
            <a:endParaRPr>
              <a:solidFill>
                <a:schemeClr val="lt1"/>
              </a:solidFill>
              <a:cs typeface="+mn-ea"/>
              <a:sym typeface="+mn-lt"/>
            </a:endParaRPr>
          </a:p>
        </p:txBody>
      </p:sp>
      <p:sp>
        <p:nvSpPr>
          <p:cNvPr id="34" name="弧形 33">
            <a:extLst>
              <a:ext uri="{FF2B5EF4-FFF2-40B4-BE49-F238E27FC236}">
                <a16:creationId xmlns:a16="http://schemas.microsoft.com/office/drawing/2014/main" id="{7488F8CB-436C-B6CF-28C1-2112D93B736D}"/>
              </a:ext>
            </a:extLst>
          </p:cNvPr>
          <p:cNvSpPr/>
          <p:nvPr/>
        </p:nvSpPr>
        <p:spPr>
          <a:xfrm rot="1311995">
            <a:off x="2808091" y="3762077"/>
            <a:ext cx="2401925" cy="2401925"/>
          </a:xfrm>
          <a:prstGeom prst="arc">
            <a:avLst>
              <a:gd name="adj1" fmla="val 16200000"/>
              <a:gd name="adj2" fmla="val 21123244"/>
            </a:avLst>
          </a:prstGeom>
          <a:noFill/>
          <a:ln w="3175">
            <a:solidFill>
              <a:schemeClr val="bg1">
                <a:lumMod val="75000"/>
              </a:schemeClr>
            </a:solidFill>
            <a:prstDash val="dash"/>
            <a:headEnd type="none" w="lg" len="lg"/>
            <a:tailEnd type="triangle" w="lg" len="lg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lIns="91440" tIns="45720" rIns="91440" bIns="45720" anchor="ctr">
            <a:noAutofit/>
          </a:bodyPr>
          <a:lstStyle/>
          <a:p>
            <a:pPr algn="ctr"/>
            <a:endParaRPr>
              <a:solidFill>
                <a:schemeClr val="lt1"/>
              </a:solidFill>
              <a:cs typeface="+mn-ea"/>
              <a:sym typeface="+mn-lt"/>
            </a:endParaRPr>
          </a:p>
        </p:txBody>
      </p: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201436AD-1D31-9856-3663-210A4BC72981}"/>
              </a:ext>
            </a:extLst>
          </p:cNvPr>
          <p:cNvCxnSpPr>
            <a:cxnSpLocks/>
          </p:cNvCxnSpPr>
          <p:nvPr/>
        </p:nvCxnSpPr>
        <p:spPr>
          <a:xfrm>
            <a:off x="5901036" y="2873900"/>
            <a:ext cx="5619452" cy="0"/>
          </a:xfrm>
          <a:prstGeom prst="line">
            <a:avLst/>
          </a:prstGeom>
          <a:ln w="3175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60D18D82-E48D-B143-7CC5-EE5D2B43E781}"/>
              </a:ext>
            </a:extLst>
          </p:cNvPr>
          <p:cNvCxnSpPr>
            <a:cxnSpLocks/>
          </p:cNvCxnSpPr>
          <p:nvPr/>
        </p:nvCxnSpPr>
        <p:spPr>
          <a:xfrm>
            <a:off x="5901036" y="4516921"/>
            <a:ext cx="5619452" cy="0"/>
          </a:xfrm>
          <a:prstGeom prst="line">
            <a:avLst/>
          </a:prstGeom>
          <a:ln w="3175">
            <a:solidFill>
              <a:srgbClr val="BFBFBF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矩形 48">
            <a:extLst>
              <a:ext uri="{FF2B5EF4-FFF2-40B4-BE49-F238E27FC236}">
                <a16:creationId xmlns:a16="http://schemas.microsoft.com/office/drawing/2014/main" id="{D566BB95-D49C-194A-387E-8206E9FB3B5D}"/>
              </a:ext>
            </a:extLst>
          </p:cNvPr>
          <p:cNvSpPr/>
          <p:nvPr/>
        </p:nvSpPr>
        <p:spPr>
          <a:xfrm>
            <a:off x="5901036" y="1878009"/>
            <a:ext cx="2375312" cy="570444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/>
          <a:p>
            <a:pPr marL="285744" indent="-285744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算力超支</a:t>
            </a: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 </a:t>
            </a:r>
          </a:p>
        </p:txBody>
      </p:sp>
      <p:sp>
        <p:nvSpPr>
          <p:cNvPr id="50" name="矩形 49">
            <a:extLst>
              <a:ext uri="{FF2B5EF4-FFF2-40B4-BE49-F238E27FC236}">
                <a16:creationId xmlns:a16="http://schemas.microsoft.com/office/drawing/2014/main" id="{D143EF9C-AC43-F055-5195-0DD5589280A2}"/>
              </a:ext>
            </a:extLst>
          </p:cNvPr>
          <p:cNvSpPr/>
          <p:nvPr/>
        </p:nvSpPr>
        <p:spPr>
          <a:xfrm>
            <a:off x="7369487" y="3401187"/>
            <a:ext cx="2375312" cy="570444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/>
          <a:p>
            <a:pPr marL="285744" lvl="0" indent="-285744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招聘算法研究人才</a:t>
            </a:r>
            <a:endParaRPr lang="en-US" altLang="zh-CN" sz="160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1" name="矩形 50">
            <a:extLst>
              <a:ext uri="{FF2B5EF4-FFF2-40B4-BE49-F238E27FC236}">
                <a16:creationId xmlns:a16="http://schemas.microsoft.com/office/drawing/2014/main" id="{28BEA1AF-D052-2BF8-8152-380F6E858F88}"/>
              </a:ext>
            </a:extLst>
          </p:cNvPr>
          <p:cNvSpPr/>
          <p:nvPr/>
        </p:nvSpPr>
        <p:spPr>
          <a:xfrm>
            <a:off x="5819565" y="5182413"/>
            <a:ext cx="2375312" cy="570444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/>
          <a:p>
            <a:pPr marL="285744" lvl="0" indent="-285744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内容营销</a:t>
            </a:r>
            <a:endParaRPr lang="en-US" altLang="zh-CN" sz="160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44" lvl="0" indent="-285744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公关与媒体合作</a:t>
            </a:r>
            <a:endParaRPr lang="en-US" altLang="zh-CN" sz="160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B0851514-966D-9576-4768-CC381FAC145D}"/>
              </a:ext>
            </a:extLst>
          </p:cNvPr>
          <p:cNvSpPr/>
          <p:nvPr/>
        </p:nvSpPr>
        <p:spPr>
          <a:xfrm>
            <a:off x="9145176" y="1862488"/>
            <a:ext cx="2375312" cy="570444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/>
          <a:p>
            <a:pPr lvl="0">
              <a:lnSpc>
                <a:spcPct val="120000"/>
              </a:lnSpc>
            </a:pPr>
            <a:endParaRPr lang="en-US" altLang="zh-CN" sz="110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3" name="矩形 52">
            <a:extLst>
              <a:ext uri="{FF2B5EF4-FFF2-40B4-BE49-F238E27FC236}">
                <a16:creationId xmlns:a16="http://schemas.microsoft.com/office/drawing/2014/main" id="{407CC890-87CE-5078-23D0-D79C11D04CF9}"/>
              </a:ext>
            </a:extLst>
          </p:cNvPr>
          <p:cNvSpPr/>
          <p:nvPr/>
        </p:nvSpPr>
        <p:spPr>
          <a:xfrm>
            <a:off x="9145176" y="3519227"/>
            <a:ext cx="2375312" cy="570444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/>
          <a:p>
            <a:pPr marL="285744" lvl="0" indent="-285744">
              <a:lnSpc>
                <a:spcPct val="120000"/>
              </a:lnSpc>
              <a:buFont typeface="Arial" panose="020B0604020202020204" pitchFamily="34" charset="0"/>
              <a:buChar char="•"/>
            </a:pPr>
            <a:endParaRPr lang="en-US" altLang="zh-CN" sz="110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4" name="矩形 53">
            <a:extLst>
              <a:ext uri="{FF2B5EF4-FFF2-40B4-BE49-F238E27FC236}">
                <a16:creationId xmlns:a16="http://schemas.microsoft.com/office/drawing/2014/main" id="{51FE9CD0-AE0F-DE90-D3F1-228F557278B5}"/>
              </a:ext>
            </a:extLst>
          </p:cNvPr>
          <p:cNvSpPr/>
          <p:nvPr/>
        </p:nvSpPr>
        <p:spPr>
          <a:xfrm>
            <a:off x="9145176" y="5182413"/>
            <a:ext cx="2375312" cy="570444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/>
          <a:p>
            <a:pPr marL="285744" lvl="0" indent="-285744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社区、社群运营</a:t>
            </a:r>
            <a:endParaRPr lang="en-US" altLang="zh-CN" sz="160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  <a:p>
            <a:pPr marL="285744" lvl="0" indent="-285744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种子用户获取</a:t>
            </a:r>
            <a:endParaRPr lang="en-US" altLang="zh-CN" sz="1600" dirty="0">
              <a:latin typeface="Arial" panose="020B0604020202020204" pitchFamily="34" charset="0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7" name="矩形 56">
            <a:extLst>
              <a:ext uri="{FF2B5EF4-FFF2-40B4-BE49-F238E27FC236}">
                <a16:creationId xmlns:a16="http://schemas.microsoft.com/office/drawing/2014/main" id="{62E28238-5411-2580-6980-CDB19824776E}"/>
              </a:ext>
            </a:extLst>
          </p:cNvPr>
          <p:cNvSpPr/>
          <p:nvPr/>
        </p:nvSpPr>
        <p:spPr>
          <a:xfrm>
            <a:off x="9145176" y="1804609"/>
            <a:ext cx="2375312" cy="570444"/>
          </a:xfrm>
          <a:prstGeom prst="rect">
            <a:avLst/>
          </a:prstGeom>
        </p:spPr>
        <p:txBody>
          <a:bodyPr wrap="square" lIns="91440" tIns="45720" rIns="91440" bIns="45720" anchor="ctr">
            <a:noAutofit/>
          </a:bodyPr>
          <a:lstStyle/>
          <a:p>
            <a:pPr marL="285744" lvl="0" indent="-285744">
              <a:lnSpc>
                <a:spcPct val="120000"/>
              </a:lnSpc>
              <a:buFont typeface="Arial" panose="020B0604020202020204" pitchFamily="34" charset="0"/>
              <a:buChar char="•"/>
            </a:pPr>
            <a:r>
              <a:rPr lang="zh-CN" altLang="en-US" sz="16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招聘延迟</a:t>
            </a:r>
            <a:r>
              <a:rPr lang="en-US" altLang="zh-CN" sz="1600" dirty="0">
                <a:latin typeface="Arial" panose="020B0604020202020204" pitchFamily="34" charset="0"/>
                <a:ea typeface="微软雅黑" panose="020B0503020204020204" pitchFamily="34" charset="-122"/>
                <a:cs typeface="+mn-ea"/>
                <a:sym typeface="+mn-lt"/>
              </a:rPr>
              <a:t> </a:t>
            </a:r>
          </a:p>
        </p:txBody>
      </p:sp>
    </p:spTree>
    <p:custDataLst>
      <p:tags r:id="rId2"/>
    </p:custDataLst>
    <p:extLst>
      <p:ext uri="{BB962C8B-B14F-4D97-AF65-F5344CB8AC3E}">
        <p14:creationId xmlns:p14="http://schemas.microsoft.com/office/powerpoint/2010/main" val="199668494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90C0D3D8-EA74-D03B-574B-CEF28C2422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31" y="121113"/>
            <a:ext cx="3354479" cy="792530"/>
          </a:xfrm>
        </p:spPr>
        <p:txBody>
          <a:bodyPr/>
          <a:lstStyle/>
          <a:p>
            <a:r>
              <a:rPr lang="zh-CN" altLang="en-US" sz="3600" dirty="0">
                <a:latin typeface="+mn-ea"/>
                <a:ea typeface="+mn-ea"/>
                <a:cs typeface="+mn-cs"/>
              </a:rPr>
              <a:t>详细成本拆解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4518AAF-113F-8AC2-9A27-B2AF3759B94D}"/>
              </a:ext>
            </a:extLst>
          </p:cNvPr>
          <p:cNvSpPr/>
          <p:nvPr/>
        </p:nvSpPr>
        <p:spPr>
          <a:xfrm>
            <a:off x="9134404" y="1840979"/>
            <a:ext cx="2748635" cy="3893701"/>
          </a:xfrm>
          <a:prstGeom prst="roundRect">
            <a:avLst>
              <a:gd name="adj" fmla="val 4788"/>
            </a:avLst>
          </a:prstGeom>
          <a:ln w="76200" cap="rnd">
            <a:gradFill>
              <a:gsLst>
                <a:gs pos="100000">
                  <a:schemeClr val="accent3">
                    <a:lumMod val="60000"/>
                    <a:lumOff val="40000"/>
                    <a:alpha val="0"/>
                  </a:schemeClr>
                </a:gs>
                <a:gs pos="20000">
                  <a:schemeClr val="accent3"/>
                </a:gs>
              </a:gsLst>
              <a:lin ang="12000000" scaled="0"/>
            </a:gradFill>
            <a:round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CB58D3D-4E08-7301-73F9-02B049E07BB3}"/>
              </a:ext>
            </a:extLst>
          </p:cNvPr>
          <p:cNvSpPr txBox="1"/>
          <p:nvPr/>
        </p:nvSpPr>
        <p:spPr>
          <a:xfrm>
            <a:off x="9390038" y="2014538"/>
            <a:ext cx="2166799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第 </a:t>
            </a:r>
            <a:r>
              <a:rPr lang="en-US" altLang="zh-CN" b="1" dirty="0"/>
              <a:t>1 </a:t>
            </a:r>
            <a:r>
              <a:rPr lang="zh-CN" altLang="en-US" b="1" dirty="0"/>
              <a:t>个月：</a:t>
            </a:r>
            <a:endParaRPr lang="en-US" altLang="zh-CN" b="1" dirty="0"/>
          </a:p>
          <a:p>
            <a:r>
              <a:rPr lang="zh-CN" altLang="en-US" sz="1600" dirty="0"/>
              <a:t>打磨产品、运营开源社区，在开发者群体积累影响力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4D87994A-175B-5F3F-7191-BD3992563AAA}"/>
              </a:ext>
            </a:extLst>
          </p:cNvPr>
          <p:cNvSpPr txBox="1"/>
          <p:nvPr/>
        </p:nvSpPr>
        <p:spPr>
          <a:xfrm>
            <a:off x="9390038" y="3181469"/>
            <a:ext cx="216679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第 </a:t>
            </a:r>
            <a:r>
              <a:rPr lang="en-US" altLang="zh-CN" b="1" dirty="0"/>
              <a:t>2 </a:t>
            </a:r>
            <a:r>
              <a:rPr lang="zh-CN" altLang="en-US" b="1" dirty="0"/>
              <a:t>个月：</a:t>
            </a:r>
            <a:endParaRPr lang="en-US" altLang="zh-CN" b="1" dirty="0"/>
          </a:p>
          <a:p>
            <a:r>
              <a:rPr lang="zh-CN" altLang="en-US" sz="1600" dirty="0"/>
              <a:t>完成初期数据验证，获得首个付费数据试点。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99E0D5C-144D-22AC-FD6C-59D979643DC8}"/>
              </a:ext>
            </a:extLst>
          </p:cNvPr>
          <p:cNvSpPr txBox="1"/>
          <p:nvPr/>
        </p:nvSpPr>
        <p:spPr>
          <a:xfrm>
            <a:off x="9390038" y="4265701"/>
            <a:ext cx="2166798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本阶段总目标：</a:t>
            </a:r>
            <a:endParaRPr lang="en-US" altLang="zh-CN" b="1" dirty="0"/>
          </a:p>
          <a:p>
            <a:r>
              <a:rPr lang="zh-CN" altLang="en-US" sz="1600" b="0" i="0" dirty="0">
                <a:solidFill>
                  <a:srgbClr val="F9FAFB"/>
                </a:solidFill>
                <a:effectLst/>
                <a:latin typeface="quote-cjk-patch"/>
              </a:rPr>
              <a:t>达成</a:t>
            </a:r>
            <a:r>
              <a:rPr lang="en-US" altLang="zh-CN" sz="1600" b="0" i="0" dirty="0">
                <a:solidFill>
                  <a:srgbClr val="F9FAFB"/>
                </a:solidFill>
                <a:effectLst/>
                <a:latin typeface="quote-cjk-patch"/>
              </a:rPr>
              <a:t>PMF</a:t>
            </a:r>
            <a:r>
              <a:rPr lang="zh-CN" altLang="en-US" sz="1600" b="0" i="0" dirty="0">
                <a:solidFill>
                  <a:srgbClr val="F9FAFB"/>
                </a:solidFill>
                <a:effectLst/>
                <a:latin typeface="quote-cjk-patch"/>
              </a:rPr>
              <a:t>初步验证，以筹备下一轮融资，用于规模化扩张。</a:t>
            </a:r>
            <a:endParaRPr lang="en-US" altLang="zh-CN" sz="1600" dirty="0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7C9CA0A-C924-F8B7-D4AE-8EEB0BC88592}"/>
              </a:ext>
            </a:extLst>
          </p:cNvPr>
          <p:cNvSpPr txBox="1"/>
          <p:nvPr/>
        </p:nvSpPr>
        <p:spPr>
          <a:xfrm>
            <a:off x="9059634" y="1127905"/>
            <a:ext cx="322079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defTabSz="91376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defRPr/>
            </a:pPr>
            <a:r>
              <a:rPr lang="zh-CN" altLang="en-US" sz="2400" b="1" dirty="0"/>
              <a:t>未来</a:t>
            </a:r>
            <a:r>
              <a:rPr lang="en-US" altLang="zh-CN" sz="2400" b="1" dirty="0"/>
              <a:t>2</a:t>
            </a:r>
            <a:r>
              <a:rPr lang="zh-CN" altLang="en-US" sz="2400" b="1" dirty="0"/>
              <a:t>个月里程碑</a:t>
            </a:r>
            <a:r>
              <a:rPr kumimoji="0" lang="zh-CN" altLang="en-US" sz="2400" b="1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</a:rPr>
              <a:t>：</a:t>
            </a:r>
            <a:endParaRPr kumimoji="0" lang="en-US" altLang="zh-CN" sz="24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</a:endParaRPr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42E0FF06-3E4B-A8E0-AFFE-F75C4615C0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31" y="1061337"/>
            <a:ext cx="8922456" cy="4735325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86236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BBE75AFC-3774-4556-3156-68F70026D026}"/>
              </a:ext>
            </a:extLst>
          </p:cNvPr>
          <p:cNvSpPr txBox="1"/>
          <p:nvPr/>
        </p:nvSpPr>
        <p:spPr>
          <a:xfrm>
            <a:off x="494003" y="288928"/>
            <a:ext cx="770428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3600" b="1" i="0" dirty="0">
                <a:solidFill>
                  <a:srgbClr val="F9FAFB"/>
                </a:solidFill>
                <a:effectLst/>
                <a:latin typeface="+mn-ea"/>
              </a:rPr>
              <a:t>执行摘要</a:t>
            </a:r>
            <a:r>
              <a:rPr lang="zh-CN" altLang="en-US" sz="3600" b="1" dirty="0">
                <a:solidFill>
                  <a:srgbClr val="F9FAFB"/>
                </a:solidFill>
                <a:latin typeface="+mn-ea"/>
              </a:rPr>
              <a:t>：万事俱备，只欠星星之火</a:t>
            </a:r>
            <a:endParaRPr lang="zh-CN" altLang="en-US" sz="3600" dirty="0">
              <a:latin typeface="+mn-ea"/>
            </a:endParaRPr>
          </a:p>
        </p:txBody>
      </p:sp>
      <p:grpSp>
        <p:nvGrpSpPr>
          <p:cNvPr id="15" name="组合 14">
            <a:extLst>
              <a:ext uri="{FF2B5EF4-FFF2-40B4-BE49-F238E27FC236}">
                <a16:creationId xmlns:a16="http://schemas.microsoft.com/office/drawing/2014/main" id="{5C76141C-14E3-3710-4A41-A5454CA0AB75}"/>
              </a:ext>
            </a:extLst>
          </p:cNvPr>
          <p:cNvGrpSpPr>
            <a:grpSpLocks noChangeAspect="1"/>
          </p:cNvGrpSpPr>
          <p:nvPr>
            <p:custDataLst>
              <p:tags r:id="rId1"/>
            </p:custDataLst>
          </p:nvPr>
        </p:nvGrpSpPr>
        <p:grpSpPr>
          <a:xfrm>
            <a:off x="595687" y="954474"/>
            <a:ext cx="7121337" cy="4597400"/>
            <a:chOff x="1159063" y="1353820"/>
            <a:chExt cx="7121337" cy="4597400"/>
          </a:xfrm>
        </p:grpSpPr>
        <p:grpSp>
          <p:nvGrpSpPr>
            <p:cNvPr id="16" name="组合 15">
              <a:extLst>
                <a:ext uri="{FF2B5EF4-FFF2-40B4-BE49-F238E27FC236}">
                  <a16:creationId xmlns:a16="http://schemas.microsoft.com/office/drawing/2014/main" id="{8BAFA699-0565-B007-07A5-6B564827DCE3}"/>
                </a:ext>
              </a:extLst>
            </p:cNvPr>
            <p:cNvGrpSpPr/>
            <p:nvPr/>
          </p:nvGrpSpPr>
          <p:grpSpPr>
            <a:xfrm>
              <a:off x="1159063" y="1353820"/>
              <a:ext cx="4100726" cy="4597400"/>
              <a:chOff x="1159063" y="1130300"/>
              <a:chExt cx="4100726" cy="4597400"/>
            </a:xfrm>
          </p:grpSpPr>
          <p:sp>
            <p:nvSpPr>
              <p:cNvPr id="35" name="0">
                <a:extLst>
                  <a:ext uri="{FF2B5EF4-FFF2-40B4-BE49-F238E27FC236}">
                    <a16:creationId xmlns:a16="http://schemas.microsoft.com/office/drawing/2014/main" id="{1EFF5AB7-F7BE-8D09-C21C-0CCB0AEC9373}"/>
                  </a:ext>
                </a:extLst>
              </p:cNvPr>
              <p:cNvSpPr/>
              <p:nvPr/>
            </p:nvSpPr>
            <p:spPr>
              <a:xfrm rot="16200000">
                <a:off x="910726" y="1378637"/>
                <a:ext cx="4597400" cy="4100726"/>
              </a:xfrm>
              <a:prstGeom prst="triangle">
                <a:avLst>
                  <a:gd name="adj" fmla="val 50000"/>
                </a:avLst>
              </a:prstGeom>
              <a:gradFill flip="none" rotWithShape="1">
                <a:gsLst>
                  <a:gs pos="0">
                    <a:schemeClr val="accent4">
                      <a:lumMod val="20000"/>
                      <a:lumOff val="80000"/>
                      <a:alpha val="0"/>
                    </a:schemeClr>
                  </a:gs>
                  <a:gs pos="36000">
                    <a:schemeClr val="accent4">
                      <a:lumMod val="20000"/>
                      <a:lumOff val="80000"/>
                      <a:alpha val="66000"/>
                    </a:schemeClr>
                  </a:gs>
                  <a:gs pos="81000">
                    <a:schemeClr val="accent4">
                      <a:lumMod val="20000"/>
                      <a:lumOff val="80000"/>
                      <a:alpha val="0"/>
                    </a:schemeClr>
                  </a:gs>
                </a:gsLst>
                <a:lin ang="1620000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36" name="0">
                <a:extLst>
                  <a:ext uri="{FF2B5EF4-FFF2-40B4-BE49-F238E27FC236}">
                    <a16:creationId xmlns:a16="http://schemas.microsoft.com/office/drawing/2014/main" id="{EB0020D5-52DF-CE61-1756-691F84FAF22E}"/>
                  </a:ext>
                </a:extLst>
              </p:cNvPr>
              <p:cNvSpPr/>
              <p:nvPr/>
            </p:nvSpPr>
            <p:spPr>
              <a:xfrm flipH="1">
                <a:off x="3355904" y="2332653"/>
                <a:ext cx="639158" cy="2192694"/>
              </a:xfrm>
              <a:custGeom>
                <a:avLst/>
                <a:gdLst>
                  <a:gd name="connsiteX0" fmla="*/ 294951 w 639158"/>
                  <a:gd name="connsiteY0" fmla="*/ 0 h 2192694"/>
                  <a:gd name="connsiteX1" fmla="*/ 298252 w 639158"/>
                  <a:gd name="connsiteY1" fmla="*/ 0 h 2192694"/>
                  <a:gd name="connsiteX2" fmla="*/ 445636 w 639158"/>
                  <a:gd name="connsiteY2" fmla="*/ 0 h 2192694"/>
                  <a:gd name="connsiteX3" fmla="*/ 448937 w 639158"/>
                  <a:gd name="connsiteY3" fmla="*/ 0 h 2192694"/>
                  <a:gd name="connsiteX4" fmla="*/ 488473 w 639158"/>
                  <a:gd name="connsiteY4" fmla="*/ 0 h 2192694"/>
                  <a:gd name="connsiteX5" fmla="*/ 639158 w 639158"/>
                  <a:gd name="connsiteY5" fmla="*/ 0 h 2192694"/>
                  <a:gd name="connsiteX6" fmla="*/ 639158 w 639158"/>
                  <a:gd name="connsiteY6" fmla="*/ 1687 h 2192694"/>
                  <a:gd name="connsiteX7" fmla="*/ 583604 w 639158"/>
                  <a:gd name="connsiteY7" fmla="*/ 22274 h 2192694"/>
                  <a:gd name="connsiteX8" fmla="*/ 546325 w 639158"/>
                  <a:gd name="connsiteY8" fmla="*/ 64812 h 2192694"/>
                  <a:gd name="connsiteX9" fmla="*/ 547975 w 639158"/>
                  <a:gd name="connsiteY9" fmla="*/ 66695 h 2192694"/>
                  <a:gd name="connsiteX10" fmla="*/ 530919 w 639158"/>
                  <a:gd name="connsiteY10" fmla="*/ 86156 h 2192694"/>
                  <a:gd name="connsiteX11" fmla="*/ 348761 w 639158"/>
                  <a:gd name="connsiteY11" fmla="*/ 1096347 h 2192694"/>
                  <a:gd name="connsiteX12" fmla="*/ 530919 w 639158"/>
                  <a:gd name="connsiteY12" fmla="*/ 2106538 h 2192694"/>
                  <a:gd name="connsiteX13" fmla="*/ 547975 w 639158"/>
                  <a:gd name="connsiteY13" fmla="*/ 2125999 h 2192694"/>
                  <a:gd name="connsiteX14" fmla="*/ 546325 w 639158"/>
                  <a:gd name="connsiteY14" fmla="*/ 2127882 h 2192694"/>
                  <a:gd name="connsiteX15" fmla="*/ 583604 w 639158"/>
                  <a:gd name="connsiteY15" fmla="*/ 2170420 h 2192694"/>
                  <a:gd name="connsiteX16" fmla="*/ 639158 w 639158"/>
                  <a:gd name="connsiteY16" fmla="*/ 2191007 h 2192694"/>
                  <a:gd name="connsiteX17" fmla="*/ 639158 w 639158"/>
                  <a:gd name="connsiteY17" fmla="*/ 2192694 h 2192694"/>
                  <a:gd name="connsiteX18" fmla="*/ 488473 w 639158"/>
                  <a:gd name="connsiteY18" fmla="*/ 2192694 h 2192694"/>
                  <a:gd name="connsiteX19" fmla="*/ 448937 w 639158"/>
                  <a:gd name="connsiteY19" fmla="*/ 2192694 h 2192694"/>
                  <a:gd name="connsiteX20" fmla="*/ 445636 w 639158"/>
                  <a:gd name="connsiteY20" fmla="*/ 2192694 h 2192694"/>
                  <a:gd name="connsiteX21" fmla="*/ 298252 w 639158"/>
                  <a:gd name="connsiteY21" fmla="*/ 2192694 h 2192694"/>
                  <a:gd name="connsiteX22" fmla="*/ 294951 w 639158"/>
                  <a:gd name="connsiteY22" fmla="*/ 2192694 h 2192694"/>
                  <a:gd name="connsiteX23" fmla="*/ 294951 w 639158"/>
                  <a:gd name="connsiteY23" fmla="*/ 2191471 h 2192694"/>
                  <a:gd name="connsiteX24" fmla="*/ 238144 w 639158"/>
                  <a:gd name="connsiteY24" fmla="*/ 2170420 h 2192694"/>
                  <a:gd name="connsiteX25" fmla="*/ 0 w 639158"/>
                  <a:gd name="connsiteY25" fmla="*/ 1096347 h 2192694"/>
                  <a:gd name="connsiteX26" fmla="*/ 238144 w 639158"/>
                  <a:gd name="connsiteY26" fmla="*/ 22274 h 2192694"/>
                  <a:gd name="connsiteX27" fmla="*/ 294951 w 639158"/>
                  <a:gd name="connsiteY27" fmla="*/ 1223 h 2192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39158" h="2192694">
                    <a:moveTo>
                      <a:pt x="294951" y="0"/>
                    </a:moveTo>
                    <a:lnTo>
                      <a:pt x="298252" y="0"/>
                    </a:lnTo>
                    <a:lnTo>
                      <a:pt x="445636" y="0"/>
                    </a:lnTo>
                    <a:lnTo>
                      <a:pt x="448937" y="0"/>
                    </a:lnTo>
                    <a:lnTo>
                      <a:pt x="488473" y="0"/>
                    </a:lnTo>
                    <a:lnTo>
                      <a:pt x="639158" y="0"/>
                    </a:lnTo>
                    <a:lnTo>
                      <a:pt x="639158" y="1687"/>
                    </a:lnTo>
                    <a:lnTo>
                      <a:pt x="583604" y="22274"/>
                    </a:lnTo>
                    <a:lnTo>
                      <a:pt x="546325" y="64812"/>
                    </a:lnTo>
                    <a:lnTo>
                      <a:pt x="547975" y="66695"/>
                    </a:lnTo>
                    <a:lnTo>
                      <a:pt x="530919" y="86156"/>
                    </a:lnTo>
                    <a:cubicBezTo>
                      <a:pt x="423873" y="252591"/>
                      <a:pt x="348761" y="642225"/>
                      <a:pt x="348761" y="1096347"/>
                    </a:cubicBezTo>
                    <a:cubicBezTo>
                      <a:pt x="348761" y="1550469"/>
                      <a:pt x="423873" y="1940103"/>
                      <a:pt x="530919" y="2106538"/>
                    </a:cubicBezTo>
                    <a:lnTo>
                      <a:pt x="547975" y="2125999"/>
                    </a:lnTo>
                    <a:lnTo>
                      <a:pt x="546325" y="2127882"/>
                    </a:lnTo>
                    <a:lnTo>
                      <a:pt x="583604" y="2170420"/>
                    </a:lnTo>
                    <a:lnTo>
                      <a:pt x="639158" y="2191007"/>
                    </a:lnTo>
                    <a:lnTo>
                      <a:pt x="639158" y="2192694"/>
                    </a:lnTo>
                    <a:lnTo>
                      <a:pt x="488473" y="2192694"/>
                    </a:lnTo>
                    <a:lnTo>
                      <a:pt x="448937" y="2192694"/>
                    </a:lnTo>
                    <a:lnTo>
                      <a:pt x="445636" y="2192694"/>
                    </a:lnTo>
                    <a:lnTo>
                      <a:pt x="298252" y="2192694"/>
                    </a:lnTo>
                    <a:lnTo>
                      <a:pt x="294951" y="2192694"/>
                    </a:lnTo>
                    <a:lnTo>
                      <a:pt x="294951" y="2191471"/>
                    </a:lnTo>
                    <a:lnTo>
                      <a:pt x="238144" y="2170420"/>
                    </a:lnTo>
                    <a:cubicBezTo>
                      <a:pt x="102235" y="2068190"/>
                      <a:pt x="0" y="1626156"/>
                      <a:pt x="0" y="1096347"/>
                    </a:cubicBezTo>
                    <a:cubicBezTo>
                      <a:pt x="0" y="566538"/>
                      <a:pt x="102235" y="124504"/>
                      <a:pt x="238144" y="22274"/>
                    </a:cubicBezTo>
                    <a:lnTo>
                      <a:pt x="294951" y="1223"/>
                    </a:lnTo>
                    <a:close/>
                  </a:path>
                </a:pathLst>
              </a:custGeom>
              <a:solidFill>
                <a:schemeClr val="accent4">
                  <a:alpha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37" name="0">
                <a:extLst>
                  <a:ext uri="{FF2B5EF4-FFF2-40B4-BE49-F238E27FC236}">
                    <a16:creationId xmlns:a16="http://schemas.microsoft.com/office/drawing/2014/main" id="{18C4137B-96D7-5D66-4557-A2F0CEA452CB}"/>
                  </a:ext>
                </a:extLst>
              </p:cNvPr>
              <p:cNvSpPr/>
              <p:nvPr/>
            </p:nvSpPr>
            <p:spPr>
              <a:xfrm>
                <a:off x="1505340" y="2581656"/>
                <a:ext cx="3491014" cy="1694688"/>
              </a:xfrm>
              <a:prstGeom prst="stripedRightArrow">
                <a:avLst>
                  <a:gd name="adj1" fmla="val 64388"/>
                  <a:gd name="adj2" fmla="val 50000"/>
                </a:avLst>
              </a:prstGeom>
              <a:gradFill flip="none" rotWithShape="1">
                <a:gsLst>
                  <a:gs pos="0">
                    <a:schemeClr val="accent4">
                      <a:lumMod val="60000"/>
                      <a:lumOff val="40000"/>
                      <a:alpha val="13000"/>
                    </a:schemeClr>
                  </a:gs>
                  <a:gs pos="100000">
                    <a:schemeClr val="accent4">
                      <a:alpha val="93000"/>
                    </a:schemeClr>
                  </a:gs>
                  <a:gs pos="73000">
                    <a:schemeClr val="accent4">
                      <a:alpha val="22000"/>
                    </a:schemeClr>
                  </a:gs>
                </a:gsLst>
                <a:lin ang="0" scaled="1"/>
                <a:tileRect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38" name="0">
                <a:extLst>
                  <a:ext uri="{FF2B5EF4-FFF2-40B4-BE49-F238E27FC236}">
                    <a16:creationId xmlns:a16="http://schemas.microsoft.com/office/drawing/2014/main" id="{04520BAF-B720-F861-CFE5-9628B5769196}"/>
                  </a:ext>
                </a:extLst>
              </p:cNvPr>
              <p:cNvSpPr/>
              <p:nvPr/>
            </p:nvSpPr>
            <p:spPr>
              <a:xfrm>
                <a:off x="3060136" y="2332653"/>
                <a:ext cx="639158" cy="2192694"/>
              </a:xfrm>
              <a:custGeom>
                <a:avLst/>
                <a:gdLst>
                  <a:gd name="connsiteX0" fmla="*/ 294951 w 639158"/>
                  <a:gd name="connsiteY0" fmla="*/ 0 h 2192694"/>
                  <a:gd name="connsiteX1" fmla="*/ 298252 w 639158"/>
                  <a:gd name="connsiteY1" fmla="*/ 0 h 2192694"/>
                  <a:gd name="connsiteX2" fmla="*/ 445636 w 639158"/>
                  <a:gd name="connsiteY2" fmla="*/ 0 h 2192694"/>
                  <a:gd name="connsiteX3" fmla="*/ 448937 w 639158"/>
                  <a:gd name="connsiteY3" fmla="*/ 0 h 2192694"/>
                  <a:gd name="connsiteX4" fmla="*/ 488473 w 639158"/>
                  <a:gd name="connsiteY4" fmla="*/ 0 h 2192694"/>
                  <a:gd name="connsiteX5" fmla="*/ 639158 w 639158"/>
                  <a:gd name="connsiteY5" fmla="*/ 0 h 2192694"/>
                  <a:gd name="connsiteX6" fmla="*/ 639158 w 639158"/>
                  <a:gd name="connsiteY6" fmla="*/ 1687 h 2192694"/>
                  <a:gd name="connsiteX7" fmla="*/ 583604 w 639158"/>
                  <a:gd name="connsiteY7" fmla="*/ 22274 h 2192694"/>
                  <a:gd name="connsiteX8" fmla="*/ 546325 w 639158"/>
                  <a:gd name="connsiteY8" fmla="*/ 64812 h 2192694"/>
                  <a:gd name="connsiteX9" fmla="*/ 547975 w 639158"/>
                  <a:gd name="connsiteY9" fmla="*/ 66695 h 2192694"/>
                  <a:gd name="connsiteX10" fmla="*/ 530919 w 639158"/>
                  <a:gd name="connsiteY10" fmla="*/ 86156 h 2192694"/>
                  <a:gd name="connsiteX11" fmla="*/ 348761 w 639158"/>
                  <a:gd name="connsiteY11" fmla="*/ 1096347 h 2192694"/>
                  <a:gd name="connsiteX12" fmla="*/ 530919 w 639158"/>
                  <a:gd name="connsiteY12" fmla="*/ 2106538 h 2192694"/>
                  <a:gd name="connsiteX13" fmla="*/ 547975 w 639158"/>
                  <a:gd name="connsiteY13" fmla="*/ 2125999 h 2192694"/>
                  <a:gd name="connsiteX14" fmla="*/ 546325 w 639158"/>
                  <a:gd name="connsiteY14" fmla="*/ 2127882 h 2192694"/>
                  <a:gd name="connsiteX15" fmla="*/ 583604 w 639158"/>
                  <a:gd name="connsiteY15" fmla="*/ 2170420 h 2192694"/>
                  <a:gd name="connsiteX16" fmla="*/ 639158 w 639158"/>
                  <a:gd name="connsiteY16" fmla="*/ 2191007 h 2192694"/>
                  <a:gd name="connsiteX17" fmla="*/ 639158 w 639158"/>
                  <a:gd name="connsiteY17" fmla="*/ 2192694 h 2192694"/>
                  <a:gd name="connsiteX18" fmla="*/ 488473 w 639158"/>
                  <a:gd name="connsiteY18" fmla="*/ 2192694 h 2192694"/>
                  <a:gd name="connsiteX19" fmla="*/ 448937 w 639158"/>
                  <a:gd name="connsiteY19" fmla="*/ 2192694 h 2192694"/>
                  <a:gd name="connsiteX20" fmla="*/ 445636 w 639158"/>
                  <a:gd name="connsiteY20" fmla="*/ 2192694 h 2192694"/>
                  <a:gd name="connsiteX21" fmla="*/ 298252 w 639158"/>
                  <a:gd name="connsiteY21" fmla="*/ 2192694 h 2192694"/>
                  <a:gd name="connsiteX22" fmla="*/ 294951 w 639158"/>
                  <a:gd name="connsiteY22" fmla="*/ 2192694 h 2192694"/>
                  <a:gd name="connsiteX23" fmla="*/ 294951 w 639158"/>
                  <a:gd name="connsiteY23" fmla="*/ 2191471 h 2192694"/>
                  <a:gd name="connsiteX24" fmla="*/ 238144 w 639158"/>
                  <a:gd name="connsiteY24" fmla="*/ 2170420 h 2192694"/>
                  <a:gd name="connsiteX25" fmla="*/ 0 w 639158"/>
                  <a:gd name="connsiteY25" fmla="*/ 1096347 h 2192694"/>
                  <a:gd name="connsiteX26" fmla="*/ 238144 w 639158"/>
                  <a:gd name="connsiteY26" fmla="*/ 22274 h 2192694"/>
                  <a:gd name="connsiteX27" fmla="*/ 294951 w 639158"/>
                  <a:gd name="connsiteY27" fmla="*/ 1223 h 2192694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</a:cxnLst>
                <a:rect l="l" t="t" r="r" b="b"/>
                <a:pathLst>
                  <a:path w="639158" h="2192694">
                    <a:moveTo>
                      <a:pt x="294951" y="0"/>
                    </a:moveTo>
                    <a:lnTo>
                      <a:pt x="298252" y="0"/>
                    </a:lnTo>
                    <a:lnTo>
                      <a:pt x="445636" y="0"/>
                    </a:lnTo>
                    <a:lnTo>
                      <a:pt x="448937" y="0"/>
                    </a:lnTo>
                    <a:lnTo>
                      <a:pt x="488473" y="0"/>
                    </a:lnTo>
                    <a:lnTo>
                      <a:pt x="639158" y="0"/>
                    </a:lnTo>
                    <a:lnTo>
                      <a:pt x="639158" y="1687"/>
                    </a:lnTo>
                    <a:lnTo>
                      <a:pt x="583604" y="22274"/>
                    </a:lnTo>
                    <a:lnTo>
                      <a:pt x="546325" y="64812"/>
                    </a:lnTo>
                    <a:lnTo>
                      <a:pt x="547975" y="66695"/>
                    </a:lnTo>
                    <a:lnTo>
                      <a:pt x="530919" y="86156"/>
                    </a:lnTo>
                    <a:cubicBezTo>
                      <a:pt x="423873" y="252591"/>
                      <a:pt x="348761" y="642225"/>
                      <a:pt x="348761" y="1096347"/>
                    </a:cubicBezTo>
                    <a:cubicBezTo>
                      <a:pt x="348761" y="1550469"/>
                      <a:pt x="423873" y="1940103"/>
                      <a:pt x="530919" y="2106538"/>
                    </a:cubicBezTo>
                    <a:lnTo>
                      <a:pt x="547975" y="2125999"/>
                    </a:lnTo>
                    <a:lnTo>
                      <a:pt x="546325" y="2127882"/>
                    </a:lnTo>
                    <a:lnTo>
                      <a:pt x="583604" y="2170420"/>
                    </a:lnTo>
                    <a:lnTo>
                      <a:pt x="639158" y="2191007"/>
                    </a:lnTo>
                    <a:lnTo>
                      <a:pt x="639158" y="2192694"/>
                    </a:lnTo>
                    <a:lnTo>
                      <a:pt x="488473" y="2192694"/>
                    </a:lnTo>
                    <a:lnTo>
                      <a:pt x="448937" y="2192694"/>
                    </a:lnTo>
                    <a:lnTo>
                      <a:pt x="445636" y="2192694"/>
                    </a:lnTo>
                    <a:lnTo>
                      <a:pt x="298252" y="2192694"/>
                    </a:lnTo>
                    <a:lnTo>
                      <a:pt x="294951" y="2192694"/>
                    </a:lnTo>
                    <a:lnTo>
                      <a:pt x="294951" y="2191471"/>
                    </a:lnTo>
                    <a:lnTo>
                      <a:pt x="238144" y="2170420"/>
                    </a:lnTo>
                    <a:cubicBezTo>
                      <a:pt x="102235" y="2068190"/>
                      <a:pt x="0" y="1626156"/>
                      <a:pt x="0" y="1096347"/>
                    </a:cubicBezTo>
                    <a:cubicBezTo>
                      <a:pt x="0" y="566538"/>
                      <a:pt x="102235" y="124504"/>
                      <a:pt x="238144" y="22274"/>
                    </a:cubicBezTo>
                    <a:lnTo>
                      <a:pt x="294951" y="1223"/>
                    </a:lnTo>
                    <a:close/>
                  </a:path>
                </a:pathLst>
              </a:custGeom>
              <a:gradFill>
                <a:gsLst>
                  <a:gs pos="26000">
                    <a:schemeClr val="accent4">
                      <a:lumMod val="20000"/>
                      <a:lumOff val="80000"/>
                    </a:schemeClr>
                  </a:gs>
                  <a:gs pos="39000">
                    <a:schemeClr val="accent4">
                      <a:lumMod val="60000"/>
                      <a:lumOff val="40000"/>
                    </a:schemeClr>
                  </a:gs>
                  <a:gs pos="13000">
                    <a:schemeClr val="accent4">
                      <a:lumMod val="60000"/>
                      <a:lumOff val="40000"/>
                    </a:schemeClr>
                  </a:gs>
                  <a:gs pos="90909">
                    <a:schemeClr val="accent4">
                      <a:lumMod val="75000"/>
                    </a:schemeClr>
                  </a:gs>
                </a:gsLst>
                <a:lin ang="5400000" scaled="1"/>
              </a:gra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39" name="Title-0">
                <a:extLst>
                  <a:ext uri="{FF2B5EF4-FFF2-40B4-BE49-F238E27FC236}">
                    <a16:creationId xmlns:a16="http://schemas.microsoft.com/office/drawing/2014/main" id="{7F7AE368-5EAC-49D5-CC3D-3B0D0AC078AE}"/>
                  </a:ext>
                </a:extLst>
              </p:cNvPr>
              <p:cNvSpPr txBox="1"/>
              <p:nvPr>
                <p:custDataLst>
                  <p:tags r:id="rId12"/>
                </p:custDataLst>
              </p:nvPr>
            </p:nvSpPr>
            <p:spPr>
              <a:xfrm>
                <a:off x="1716198" y="3181588"/>
                <a:ext cx="1297150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2400" b="1" dirty="0">
                    <a:solidFill>
                      <a:schemeClr val="accent3"/>
                    </a:solidFill>
                    <a:latin typeface="+mn-ea"/>
                    <a:cs typeface="+mj-cs"/>
                  </a:rPr>
                  <a:t>ARGUS</a:t>
                </a:r>
                <a:endParaRPr lang="zh-CN" altLang="en-US" sz="2400" b="1" dirty="0">
                  <a:solidFill>
                    <a:schemeClr val="accent3"/>
                  </a:solidFill>
                  <a:latin typeface="+mn-ea"/>
                  <a:cs typeface="+mj-cs"/>
                </a:endParaRPr>
              </a:p>
            </p:txBody>
          </p:sp>
          <p:sp>
            <p:nvSpPr>
              <p:cNvPr id="40" name="Body-0">
                <a:extLst>
                  <a:ext uri="{FF2B5EF4-FFF2-40B4-BE49-F238E27FC236}">
                    <a16:creationId xmlns:a16="http://schemas.microsoft.com/office/drawing/2014/main" id="{FACE45D6-6414-A74F-4F7E-25E0357DB51A}"/>
                  </a:ext>
                </a:extLst>
              </p:cNvPr>
              <p:cNvSpPr txBox="1"/>
              <p:nvPr>
                <p:custDataLst>
                  <p:tags r:id="rId13"/>
                </p:custDataLst>
              </p:nvPr>
            </p:nvSpPr>
            <p:spPr>
              <a:xfrm>
                <a:off x="1758685" y="3534085"/>
                <a:ext cx="1212191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US" altLang="zh-CN" sz="1100" dirty="0">
                    <a:solidFill>
                      <a:schemeClr val="tx2"/>
                    </a:solidFill>
                    <a:latin typeface="+mn-ea"/>
                  </a:rPr>
                  <a:t>7x24</a:t>
                </a:r>
                <a:r>
                  <a:rPr lang="zh-CN" altLang="en-US" sz="1100" dirty="0">
                    <a:solidFill>
                      <a:schemeClr val="tx2"/>
                    </a:solidFill>
                    <a:latin typeface="+mn-ea"/>
                  </a:rPr>
                  <a:t>全天候研究</a:t>
                </a:r>
              </a:p>
            </p:txBody>
          </p:sp>
        </p:grpSp>
        <p:grpSp>
          <p:nvGrpSpPr>
            <p:cNvPr id="17" name="组合 16">
              <a:extLst>
                <a:ext uri="{FF2B5EF4-FFF2-40B4-BE49-F238E27FC236}">
                  <a16:creationId xmlns:a16="http://schemas.microsoft.com/office/drawing/2014/main" id="{BAAB2C90-627B-0A2D-5ED6-6873992FAA71}"/>
                </a:ext>
              </a:extLst>
            </p:cNvPr>
            <p:cNvGrpSpPr/>
            <p:nvPr/>
          </p:nvGrpSpPr>
          <p:grpSpPr>
            <a:xfrm>
              <a:off x="5648960" y="2159762"/>
              <a:ext cx="2631440" cy="714268"/>
              <a:chOff x="5648960" y="2159762"/>
              <a:chExt cx="2631440" cy="714268"/>
            </a:xfrm>
          </p:grpSpPr>
          <p:sp>
            <p:nvSpPr>
              <p:cNvPr id="30" name="1">
                <a:extLst>
                  <a:ext uri="{FF2B5EF4-FFF2-40B4-BE49-F238E27FC236}">
                    <a16:creationId xmlns:a16="http://schemas.microsoft.com/office/drawing/2014/main" id="{E7EA427E-8FFA-D84A-9AC6-47C88F14A7FB}"/>
                  </a:ext>
                </a:extLst>
              </p:cNvPr>
              <p:cNvSpPr/>
              <p:nvPr/>
            </p:nvSpPr>
            <p:spPr>
              <a:xfrm>
                <a:off x="5648960" y="2159762"/>
                <a:ext cx="2631440" cy="714268"/>
              </a:xfrm>
              <a:prstGeom prst="roundRect">
                <a:avLst>
                  <a:gd name="adj" fmla="val 50000"/>
                </a:avLst>
              </a:prstGeom>
              <a:noFill/>
              <a:ln w="12700">
                <a:solidFill>
                  <a:schemeClr val="accent4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31" name="1">
                <a:extLst>
                  <a:ext uri="{FF2B5EF4-FFF2-40B4-BE49-F238E27FC236}">
                    <a16:creationId xmlns:a16="http://schemas.microsoft.com/office/drawing/2014/main" id="{6B494BAD-C3A8-482B-8FF5-FA8E15A5A020}"/>
                  </a:ext>
                </a:extLst>
              </p:cNvPr>
              <p:cNvSpPr/>
              <p:nvPr/>
            </p:nvSpPr>
            <p:spPr>
              <a:xfrm>
                <a:off x="5772617" y="2252029"/>
                <a:ext cx="531028" cy="531028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rIns="0" rtlCol="0" anchor="ctr"/>
              <a:lstStyle/>
              <a:p>
                <a:pPr algn="ctr"/>
                <a:endParaRPr lang="zh-CN" altLang="en-US" sz="1600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32" name="Index-1">
                <a:extLst>
                  <a:ext uri="{FF2B5EF4-FFF2-40B4-BE49-F238E27FC236}">
                    <a16:creationId xmlns:a16="http://schemas.microsoft.com/office/drawing/2014/main" id="{03878BC1-A7CC-BE4A-AFBC-2A9AF8A3C1D5}"/>
                  </a:ext>
                </a:extLst>
              </p:cNvPr>
              <p:cNvSpPr/>
              <p:nvPr>
                <p:custDataLst>
                  <p:tags r:id="rId9"/>
                </p:custDataLst>
              </p:nvPr>
            </p:nvSpPr>
            <p:spPr>
              <a:xfrm>
                <a:off x="5824343" y="2303755"/>
                <a:ext cx="427576" cy="427576"/>
              </a:xfrm>
              <a:prstGeom prst="ellipse">
                <a:avLst/>
              </a:prstGeom>
              <a:gradFill flip="none" rotWithShape="1">
                <a:gsLst>
                  <a:gs pos="97000">
                    <a:schemeClr val="accent4">
                      <a:alpha val="35000"/>
                    </a:schemeClr>
                  </a:gs>
                  <a:gs pos="35000">
                    <a:schemeClr val="accent4"/>
                  </a:gs>
                </a:gsLst>
                <a:lin ang="135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rIns="0"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latin typeface="+mn-ea"/>
                  </a:rPr>
                  <a:t>01</a:t>
                </a:r>
                <a:endParaRPr lang="zh-CN" altLang="en-US" sz="1600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33" name="Title-1">
                <a:extLst>
                  <a:ext uri="{FF2B5EF4-FFF2-40B4-BE49-F238E27FC236}">
                    <a16:creationId xmlns:a16="http://schemas.microsoft.com/office/drawing/2014/main" id="{8D21A24B-0E34-0780-C79C-D48908FA70AF}"/>
                  </a:ext>
                </a:extLst>
              </p:cNvPr>
              <p:cNvSpPr txBox="1"/>
              <p:nvPr>
                <p:custDataLst>
                  <p:tags r:id="rId10"/>
                </p:custDataLst>
              </p:nvPr>
            </p:nvSpPr>
            <p:spPr>
              <a:xfrm>
                <a:off x="6440127" y="2252029"/>
                <a:ext cx="162095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zh-CN" altLang="en-US" sz="1600" b="1" dirty="0">
                    <a:solidFill>
                      <a:schemeClr val="accent3"/>
                    </a:solidFill>
                    <a:latin typeface="+mn-ea"/>
                    <a:cs typeface="+mj-cs"/>
                  </a:rPr>
                  <a:t>高质量研究成果</a:t>
                </a:r>
              </a:p>
            </p:txBody>
          </p:sp>
          <p:sp>
            <p:nvSpPr>
              <p:cNvPr id="34" name="Body-1">
                <a:extLst>
                  <a:ext uri="{FF2B5EF4-FFF2-40B4-BE49-F238E27FC236}">
                    <a16:creationId xmlns:a16="http://schemas.microsoft.com/office/drawing/2014/main" id="{3DE88294-6A91-C3AF-F23F-988EB648946E}"/>
                  </a:ext>
                </a:extLst>
              </p:cNvPr>
              <p:cNvSpPr txBox="1"/>
              <p:nvPr>
                <p:custDataLst>
                  <p:tags r:id="rId11"/>
                </p:custDataLst>
              </p:nvPr>
            </p:nvSpPr>
            <p:spPr>
              <a:xfrm>
                <a:off x="6427302" y="2543566"/>
                <a:ext cx="1446230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100" dirty="0">
                    <a:solidFill>
                      <a:schemeClr val="tx2"/>
                    </a:solidFill>
                    <a:latin typeface="+mn-ea"/>
                  </a:rPr>
                  <a:t>不知疲倦的</a:t>
                </a:r>
                <a:r>
                  <a:rPr lang="en-US" altLang="zh-CN" sz="1100" dirty="0">
                    <a:solidFill>
                      <a:schemeClr val="tx2"/>
                    </a:solidFill>
                    <a:latin typeface="+mn-ea"/>
                  </a:rPr>
                  <a:t>AI</a:t>
                </a:r>
                <a:r>
                  <a:rPr lang="zh-CN" altLang="en-US" sz="1100" dirty="0">
                    <a:solidFill>
                      <a:schemeClr val="tx2"/>
                    </a:solidFill>
                    <a:latin typeface="+mn-ea"/>
                  </a:rPr>
                  <a:t>研究员</a:t>
                </a:r>
              </a:p>
            </p:txBody>
          </p:sp>
        </p:grpSp>
        <p:grpSp>
          <p:nvGrpSpPr>
            <p:cNvPr id="18" name="组合 17">
              <a:extLst>
                <a:ext uri="{FF2B5EF4-FFF2-40B4-BE49-F238E27FC236}">
                  <a16:creationId xmlns:a16="http://schemas.microsoft.com/office/drawing/2014/main" id="{81E38C96-BB15-BBB8-B7C7-48E813B6BE87}"/>
                </a:ext>
              </a:extLst>
            </p:cNvPr>
            <p:cNvGrpSpPr/>
            <p:nvPr/>
          </p:nvGrpSpPr>
          <p:grpSpPr>
            <a:xfrm>
              <a:off x="5648960" y="3295386"/>
              <a:ext cx="2631440" cy="714268"/>
              <a:chOff x="5648960" y="3295386"/>
              <a:chExt cx="2631440" cy="714268"/>
            </a:xfrm>
          </p:grpSpPr>
          <p:sp>
            <p:nvSpPr>
              <p:cNvPr id="25" name="2">
                <a:extLst>
                  <a:ext uri="{FF2B5EF4-FFF2-40B4-BE49-F238E27FC236}">
                    <a16:creationId xmlns:a16="http://schemas.microsoft.com/office/drawing/2014/main" id="{AFD0B7DF-C528-190C-1E6C-00C412615C33}"/>
                  </a:ext>
                </a:extLst>
              </p:cNvPr>
              <p:cNvSpPr/>
              <p:nvPr/>
            </p:nvSpPr>
            <p:spPr>
              <a:xfrm>
                <a:off x="5648960" y="3295386"/>
                <a:ext cx="2631440" cy="714268"/>
              </a:xfrm>
              <a:prstGeom prst="roundRect">
                <a:avLst>
                  <a:gd name="adj" fmla="val 50000"/>
                </a:avLst>
              </a:prstGeom>
              <a:noFill/>
              <a:ln w="12700">
                <a:solidFill>
                  <a:schemeClr val="accent4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26" name="2">
                <a:extLst>
                  <a:ext uri="{FF2B5EF4-FFF2-40B4-BE49-F238E27FC236}">
                    <a16:creationId xmlns:a16="http://schemas.microsoft.com/office/drawing/2014/main" id="{3B33D42E-5ABD-1B2B-1354-2DD37E22FCF7}"/>
                  </a:ext>
                </a:extLst>
              </p:cNvPr>
              <p:cNvSpPr/>
              <p:nvPr/>
            </p:nvSpPr>
            <p:spPr>
              <a:xfrm>
                <a:off x="5772617" y="3387653"/>
                <a:ext cx="531028" cy="531028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rIns="0" rtlCol="0" anchor="ctr"/>
              <a:lstStyle/>
              <a:p>
                <a:pPr algn="ctr"/>
                <a:endParaRPr lang="zh-CN" altLang="en-US" sz="1600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27" name="Index-2">
                <a:extLst>
                  <a:ext uri="{FF2B5EF4-FFF2-40B4-BE49-F238E27FC236}">
                    <a16:creationId xmlns:a16="http://schemas.microsoft.com/office/drawing/2014/main" id="{C04DA985-E266-C224-7B77-61E897F28549}"/>
                  </a:ext>
                </a:extLst>
              </p:cNvPr>
              <p:cNvSpPr/>
              <p:nvPr>
                <p:custDataLst>
                  <p:tags r:id="rId6"/>
                </p:custDataLst>
              </p:nvPr>
            </p:nvSpPr>
            <p:spPr>
              <a:xfrm>
                <a:off x="5824343" y="3439379"/>
                <a:ext cx="427576" cy="427576"/>
              </a:xfrm>
              <a:prstGeom prst="ellipse">
                <a:avLst/>
              </a:prstGeom>
              <a:gradFill flip="none" rotWithShape="1">
                <a:gsLst>
                  <a:gs pos="97000">
                    <a:schemeClr val="accent4">
                      <a:alpha val="35000"/>
                    </a:schemeClr>
                  </a:gs>
                  <a:gs pos="35000">
                    <a:schemeClr val="accent4"/>
                  </a:gs>
                </a:gsLst>
                <a:lin ang="135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rIns="0"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latin typeface="+mn-ea"/>
                  </a:rPr>
                  <a:t>02</a:t>
                </a:r>
                <a:endParaRPr lang="zh-CN" altLang="en-US" sz="1600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28" name="Title-2">
                <a:extLst>
                  <a:ext uri="{FF2B5EF4-FFF2-40B4-BE49-F238E27FC236}">
                    <a16:creationId xmlns:a16="http://schemas.microsoft.com/office/drawing/2014/main" id="{A5D06EE0-3D3C-47B3-A972-D172C2433C0B}"/>
                  </a:ext>
                </a:extLst>
              </p:cNvPr>
              <p:cNvSpPr txBox="1"/>
              <p:nvPr>
                <p:custDataLst>
                  <p:tags r:id="rId7"/>
                </p:custDataLst>
              </p:nvPr>
            </p:nvSpPr>
            <p:spPr>
              <a:xfrm>
                <a:off x="6440127" y="3387653"/>
                <a:ext cx="1415772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accent3"/>
                    </a:solidFill>
                    <a:latin typeface="+mn-ea"/>
                    <a:cs typeface="+mj-cs"/>
                  </a:rPr>
                  <a:t>海量过程数据</a:t>
                </a:r>
              </a:p>
            </p:txBody>
          </p:sp>
          <p:sp>
            <p:nvSpPr>
              <p:cNvPr id="29" name="Body-2">
                <a:extLst>
                  <a:ext uri="{FF2B5EF4-FFF2-40B4-BE49-F238E27FC236}">
                    <a16:creationId xmlns:a16="http://schemas.microsoft.com/office/drawing/2014/main" id="{A9867E7A-40FB-156F-62A7-D4D144CD2BB0}"/>
                  </a:ext>
                </a:extLst>
              </p:cNvPr>
              <p:cNvSpPr txBox="1"/>
              <p:nvPr>
                <p:custDataLst>
                  <p:tags r:id="rId8"/>
                </p:custDataLst>
              </p:nvPr>
            </p:nvSpPr>
            <p:spPr>
              <a:xfrm>
                <a:off x="6427302" y="3679190"/>
                <a:ext cx="1643399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100" dirty="0">
                    <a:solidFill>
                      <a:schemeClr val="tx2"/>
                    </a:solidFill>
                    <a:latin typeface="+mn-ea"/>
                  </a:rPr>
                  <a:t>优质且稀缺的训练燃料</a:t>
                </a:r>
              </a:p>
            </p:txBody>
          </p:sp>
        </p:grpSp>
        <p:grpSp>
          <p:nvGrpSpPr>
            <p:cNvPr id="19" name="组合 18">
              <a:extLst>
                <a:ext uri="{FF2B5EF4-FFF2-40B4-BE49-F238E27FC236}">
                  <a16:creationId xmlns:a16="http://schemas.microsoft.com/office/drawing/2014/main" id="{7E08BDCB-4FB6-6141-6F35-34E99E4181B1}"/>
                </a:ext>
              </a:extLst>
            </p:cNvPr>
            <p:cNvGrpSpPr/>
            <p:nvPr/>
          </p:nvGrpSpPr>
          <p:grpSpPr>
            <a:xfrm>
              <a:off x="5648960" y="4431011"/>
              <a:ext cx="2631440" cy="714268"/>
              <a:chOff x="5648960" y="4431011"/>
              <a:chExt cx="2631440" cy="714268"/>
            </a:xfrm>
          </p:grpSpPr>
          <p:sp>
            <p:nvSpPr>
              <p:cNvPr id="20" name="3">
                <a:extLst>
                  <a:ext uri="{FF2B5EF4-FFF2-40B4-BE49-F238E27FC236}">
                    <a16:creationId xmlns:a16="http://schemas.microsoft.com/office/drawing/2014/main" id="{61A09732-CB43-A24C-BD7C-FCB48CE94E20}"/>
                  </a:ext>
                </a:extLst>
              </p:cNvPr>
              <p:cNvSpPr/>
              <p:nvPr/>
            </p:nvSpPr>
            <p:spPr>
              <a:xfrm>
                <a:off x="5648960" y="4431011"/>
                <a:ext cx="2631440" cy="714268"/>
              </a:xfrm>
              <a:prstGeom prst="roundRect">
                <a:avLst>
                  <a:gd name="adj" fmla="val 50000"/>
                </a:avLst>
              </a:prstGeom>
              <a:noFill/>
              <a:ln w="12700">
                <a:solidFill>
                  <a:schemeClr val="accent4">
                    <a:lumMod val="40000"/>
                    <a:lumOff val="6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21" name="3">
                <a:extLst>
                  <a:ext uri="{FF2B5EF4-FFF2-40B4-BE49-F238E27FC236}">
                    <a16:creationId xmlns:a16="http://schemas.microsoft.com/office/drawing/2014/main" id="{FBF624A0-3737-7EAC-08CF-07F057FE13CD}"/>
                  </a:ext>
                </a:extLst>
              </p:cNvPr>
              <p:cNvSpPr/>
              <p:nvPr/>
            </p:nvSpPr>
            <p:spPr>
              <a:xfrm>
                <a:off x="5772617" y="4523278"/>
                <a:ext cx="531028" cy="531028"/>
              </a:xfrm>
              <a:prstGeom prst="ellipse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rIns="0" rtlCol="0" anchor="ctr"/>
              <a:lstStyle/>
              <a:p>
                <a:pPr algn="ctr"/>
                <a:endParaRPr lang="zh-CN" altLang="en-US" sz="1600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22" name="Index-3">
                <a:extLst>
                  <a:ext uri="{FF2B5EF4-FFF2-40B4-BE49-F238E27FC236}">
                    <a16:creationId xmlns:a16="http://schemas.microsoft.com/office/drawing/2014/main" id="{57224932-8359-17A3-E57D-92B41FBA83F0}"/>
                  </a:ext>
                </a:extLst>
              </p:cNvPr>
              <p:cNvSpPr/>
              <p:nvPr>
                <p:custDataLst>
                  <p:tags r:id="rId3"/>
                </p:custDataLst>
              </p:nvPr>
            </p:nvSpPr>
            <p:spPr>
              <a:xfrm>
                <a:off x="5824343" y="4575004"/>
                <a:ext cx="427576" cy="427576"/>
              </a:xfrm>
              <a:prstGeom prst="ellipse">
                <a:avLst/>
              </a:prstGeom>
              <a:gradFill flip="none" rotWithShape="1">
                <a:gsLst>
                  <a:gs pos="97000">
                    <a:schemeClr val="accent4">
                      <a:alpha val="35000"/>
                    </a:schemeClr>
                  </a:gs>
                  <a:gs pos="35000">
                    <a:schemeClr val="accent4"/>
                  </a:gs>
                </a:gsLst>
                <a:lin ang="13500000" scaled="1"/>
                <a:tileRect/>
              </a:gradFill>
              <a:ln>
                <a:noFill/>
              </a:ln>
              <a:effectLst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none" lIns="0" rIns="0" rtlCol="0" anchor="ctr"/>
              <a:lstStyle/>
              <a:p>
                <a:pPr algn="ctr"/>
                <a:r>
                  <a:rPr lang="en-US" altLang="zh-CN" sz="1600" dirty="0">
                    <a:solidFill>
                      <a:schemeClr val="bg1"/>
                    </a:solidFill>
                    <a:latin typeface="+mn-ea"/>
                  </a:rPr>
                  <a:t>03</a:t>
                </a:r>
                <a:endParaRPr lang="zh-CN" altLang="en-US" sz="1600" dirty="0">
                  <a:solidFill>
                    <a:schemeClr val="bg1"/>
                  </a:solidFill>
                  <a:latin typeface="+mn-ea"/>
                </a:endParaRPr>
              </a:p>
            </p:txBody>
          </p:sp>
          <p:sp>
            <p:nvSpPr>
              <p:cNvPr id="23" name="Title-3">
                <a:extLst>
                  <a:ext uri="{FF2B5EF4-FFF2-40B4-BE49-F238E27FC236}">
                    <a16:creationId xmlns:a16="http://schemas.microsoft.com/office/drawing/2014/main" id="{ABB4263A-760A-9E21-6C7F-0DDF5EC44DF7}"/>
                  </a:ext>
                </a:extLst>
              </p:cNvPr>
              <p:cNvSpPr txBox="1"/>
              <p:nvPr>
                <p:custDataLst>
                  <p:tags r:id="rId4"/>
                </p:custDataLst>
              </p:nvPr>
            </p:nvSpPr>
            <p:spPr>
              <a:xfrm>
                <a:off x="6440127" y="4523278"/>
                <a:ext cx="1210588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600" b="1" dirty="0">
                    <a:solidFill>
                      <a:schemeClr val="accent3"/>
                    </a:solidFill>
                    <a:latin typeface="+mn-ea"/>
                    <a:cs typeface="+mj-cs"/>
                  </a:rPr>
                  <a:t>可信化检测</a:t>
                </a:r>
              </a:p>
            </p:txBody>
          </p:sp>
          <p:sp>
            <p:nvSpPr>
              <p:cNvPr id="24" name="Body-3">
                <a:extLst>
                  <a:ext uri="{FF2B5EF4-FFF2-40B4-BE49-F238E27FC236}">
                    <a16:creationId xmlns:a16="http://schemas.microsoft.com/office/drawing/2014/main" id="{DAD0DFE2-E622-D0D7-4B1B-1D38CC6C4782}"/>
                  </a:ext>
                </a:extLst>
              </p:cNvPr>
              <p:cNvSpPr txBox="1"/>
              <p:nvPr>
                <p:custDataLst>
                  <p:tags r:id="rId5"/>
                </p:custDataLst>
              </p:nvPr>
            </p:nvSpPr>
            <p:spPr>
              <a:xfrm>
                <a:off x="6427302" y="4814815"/>
                <a:ext cx="1454244" cy="2616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1100" dirty="0">
                    <a:solidFill>
                      <a:schemeClr val="tx2"/>
                    </a:solidFill>
                    <a:latin typeface="+mn-ea"/>
                  </a:rPr>
                  <a:t>模型能力的可靠证明</a:t>
                </a:r>
              </a:p>
            </p:txBody>
          </p:sp>
        </p:grpSp>
      </p:grpSp>
      <p:sp>
        <p:nvSpPr>
          <p:cNvPr id="67" name="文本框 66">
            <a:extLst>
              <a:ext uri="{FF2B5EF4-FFF2-40B4-BE49-F238E27FC236}">
                <a16:creationId xmlns:a16="http://schemas.microsoft.com/office/drawing/2014/main" id="{F81DC995-3DF6-7FC3-0572-4C84F73EA2BA}"/>
              </a:ext>
            </a:extLst>
          </p:cNvPr>
          <p:cNvSpPr txBox="1"/>
          <p:nvPr/>
        </p:nvSpPr>
        <p:spPr>
          <a:xfrm>
            <a:off x="595687" y="5872212"/>
            <a:ext cx="625310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latin typeface="+mn-ea"/>
              </a:rPr>
              <a:t>Argus 是一个具备自进化创造能力的自主研究引擎。</a:t>
            </a:r>
            <a:endParaRPr lang="en-US" altLang="zh-CN" dirty="0">
              <a:latin typeface="+mn-ea"/>
            </a:endParaRPr>
          </a:p>
          <a:p>
            <a:pPr algn="ctr"/>
            <a:r>
              <a:rPr lang="zh-CN" altLang="en-US" dirty="0">
                <a:latin typeface="+mn-ea"/>
              </a:rPr>
              <a:t>它能够稳定执行长程任务</a:t>
            </a:r>
            <a:r>
              <a:rPr lang="en-US" altLang="zh-CN" dirty="0">
                <a:latin typeface="+mn-ea"/>
              </a:rPr>
              <a:t>,</a:t>
            </a:r>
            <a:r>
              <a:rPr lang="zh-CN" altLang="en-US" dirty="0">
                <a:latin typeface="+mn-ea"/>
              </a:rPr>
              <a:t>同时在过程中产出稀缺的优质数据</a:t>
            </a:r>
            <a:r>
              <a:rPr lang="en-US" altLang="zh-CN" dirty="0">
                <a:latin typeface="+mn-ea"/>
              </a:rPr>
              <a:t>.</a:t>
            </a:r>
            <a:endParaRPr lang="zh-CN" altLang="en-US" dirty="0">
              <a:latin typeface="+mn-ea"/>
            </a:endParaRPr>
          </a:p>
        </p:txBody>
      </p:sp>
      <p:grpSp>
        <p:nvGrpSpPr>
          <p:cNvPr id="109" name="组合 1">
            <a:extLst>
              <a:ext uri="{FF2B5EF4-FFF2-40B4-BE49-F238E27FC236}">
                <a16:creationId xmlns:a16="http://schemas.microsoft.com/office/drawing/2014/main" id="{0E4C6BE7-0E58-177E-7BB9-19C2A98A0B9E}"/>
              </a:ext>
            </a:extLst>
          </p:cNvPr>
          <p:cNvGrpSpPr/>
          <p:nvPr>
            <p:custDataLst>
              <p:tags r:id="rId2"/>
            </p:custDataLst>
          </p:nvPr>
        </p:nvGrpSpPr>
        <p:grpSpPr>
          <a:xfrm>
            <a:off x="9018065" y="1029985"/>
            <a:ext cx="2231971" cy="5107767"/>
            <a:chOff x="5264150" y="2286001"/>
            <a:chExt cx="1663700" cy="2217420"/>
          </a:xfrm>
        </p:grpSpPr>
        <p:grpSp>
          <p:nvGrpSpPr>
            <p:cNvPr id="110" name="组合 2">
              <a:extLst>
                <a:ext uri="{FF2B5EF4-FFF2-40B4-BE49-F238E27FC236}">
                  <a16:creationId xmlns:a16="http://schemas.microsoft.com/office/drawing/2014/main" id="{E6F3728F-4C2E-1C2E-F857-5E76BB2DAFFB}"/>
                </a:ext>
              </a:extLst>
            </p:cNvPr>
            <p:cNvGrpSpPr/>
            <p:nvPr/>
          </p:nvGrpSpPr>
          <p:grpSpPr>
            <a:xfrm>
              <a:off x="5264150" y="2286001"/>
              <a:ext cx="1663700" cy="2217420"/>
              <a:chOff x="5264150" y="2286001"/>
              <a:chExt cx="1663700" cy="2217420"/>
            </a:xfrm>
          </p:grpSpPr>
          <p:sp>
            <p:nvSpPr>
              <p:cNvPr id="113" name="图形5">
                <a:extLst>
                  <a:ext uri="{FF2B5EF4-FFF2-40B4-BE49-F238E27FC236}">
                    <a16:creationId xmlns:a16="http://schemas.microsoft.com/office/drawing/2014/main" id="{75567531-8DC7-FC8B-985D-2982F7245001}"/>
                  </a:ext>
                </a:extLst>
              </p:cNvPr>
              <p:cNvSpPr/>
              <p:nvPr/>
            </p:nvSpPr>
            <p:spPr>
              <a:xfrm>
                <a:off x="5264150" y="2286001"/>
                <a:ext cx="1663700" cy="2217420"/>
              </a:xfrm>
              <a:prstGeom prst="roundRect">
                <a:avLst>
                  <a:gd name="adj" fmla="val 2927"/>
                </a:avLst>
              </a:prstGeom>
              <a:noFill/>
              <a:ln w="12700">
                <a:solidFill>
                  <a:schemeClr val="accent4">
                    <a:lumMod val="75000"/>
                    <a:lumOff val="25000"/>
                  </a:schemeClr>
                </a:solidFill>
              </a:ln>
              <a:effectLst>
                <a:outerShdw blurRad="177800" dist="38100" dir="16200000" sx="98000" sy="98000" rotWithShape="0">
                  <a:srgbClr val="5189F7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rtlCol="0" anchor="ctr">
                <a:noAutofit/>
              </a:bodyPr>
              <a:lstStyle/>
              <a:p>
                <a:pPr algn="ctr"/>
                <a:endParaRPr lang="zh-CN" altLang="en-US" dirty="0">
                  <a:latin typeface="+mn-ea"/>
                </a:endParaRPr>
              </a:p>
            </p:txBody>
          </p:sp>
          <p:sp>
            <p:nvSpPr>
              <p:cNvPr id="114" name="图形4">
                <a:extLst>
                  <a:ext uri="{FF2B5EF4-FFF2-40B4-BE49-F238E27FC236}">
                    <a16:creationId xmlns:a16="http://schemas.microsoft.com/office/drawing/2014/main" id="{AB7E5B9D-5F3F-AD9C-5EC2-9693CF6FAC4F}"/>
                  </a:ext>
                </a:extLst>
              </p:cNvPr>
              <p:cNvSpPr/>
              <p:nvPr/>
            </p:nvSpPr>
            <p:spPr>
              <a:xfrm>
                <a:off x="5275262" y="4457701"/>
                <a:ext cx="1641476" cy="45720"/>
              </a:xfrm>
              <a:prstGeom prst="rect">
                <a:avLst/>
              </a:prstGeom>
              <a:solidFill>
                <a:srgbClr val="1D4FD0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n-ea"/>
                </a:endParaRPr>
              </a:p>
            </p:txBody>
          </p:sp>
          <p:sp>
            <p:nvSpPr>
              <p:cNvPr id="117" name="图形1">
                <a:extLst>
                  <a:ext uri="{FF2B5EF4-FFF2-40B4-BE49-F238E27FC236}">
                    <a16:creationId xmlns:a16="http://schemas.microsoft.com/office/drawing/2014/main" id="{19127169-44E3-4CF6-947B-5384DDCAD7FD}"/>
                  </a:ext>
                </a:extLst>
              </p:cNvPr>
              <p:cNvSpPr/>
              <p:nvPr/>
            </p:nvSpPr>
            <p:spPr>
              <a:xfrm>
                <a:off x="5402580" y="2367667"/>
                <a:ext cx="1386840" cy="251460"/>
              </a:xfrm>
              <a:prstGeom prst="roundRect">
                <a:avLst>
                  <a:gd name="adj" fmla="val 50000"/>
                </a:avLst>
              </a:prstGeom>
              <a:noFill/>
              <a:ln>
                <a:solidFill>
                  <a:schemeClr val="accent4">
                    <a:lumMod val="75000"/>
                    <a:lumOff val="25000"/>
                  </a:schemeClr>
                </a:solidFill>
              </a:ln>
              <a:effectLst>
                <a:outerShdw blurRad="50800" dist="38100" dir="2700000" sx="98000" sy="98000" algn="tl" rotWithShape="0">
                  <a:srgbClr val="1D4FD0">
                    <a:alpha val="40000"/>
                  </a:srgbClr>
                </a:outerShdw>
              </a:effectLst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+mn-ea"/>
                </a:endParaRPr>
              </a:p>
            </p:txBody>
          </p:sp>
        </p:grpSp>
        <p:sp>
          <p:nvSpPr>
            <p:cNvPr id="111" name="文本框 2">
              <a:extLst>
                <a:ext uri="{FF2B5EF4-FFF2-40B4-BE49-F238E27FC236}">
                  <a16:creationId xmlns:a16="http://schemas.microsoft.com/office/drawing/2014/main" id="{513A710D-3798-A3F5-E6E4-843C69302ADA}"/>
                </a:ext>
              </a:extLst>
            </p:cNvPr>
            <p:cNvSpPr txBox="1"/>
            <p:nvPr/>
          </p:nvSpPr>
          <p:spPr>
            <a:xfrm>
              <a:off x="5339717" y="2699001"/>
              <a:ext cx="1512568" cy="18461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sz="1600" dirty="0">
                  <a:latin typeface="+mn-ea"/>
                </a:rPr>
                <a:t>金额：￥</a:t>
              </a:r>
              <a:r>
                <a:rPr lang="en-US" altLang="zh-CN" sz="1600" dirty="0">
                  <a:latin typeface="+mn-ea"/>
                </a:rPr>
                <a:t>25-40</a:t>
              </a:r>
              <a:r>
                <a:rPr lang="zh-CN" altLang="en-US" sz="1600" dirty="0">
                  <a:latin typeface="+mn-ea"/>
                </a:rPr>
                <a:t>万</a:t>
              </a:r>
            </a:p>
          </p:txBody>
        </p:sp>
        <p:sp>
          <p:nvSpPr>
            <p:cNvPr id="112" name="文本框 1">
              <a:extLst>
                <a:ext uri="{FF2B5EF4-FFF2-40B4-BE49-F238E27FC236}">
                  <a16:creationId xmlns:a16="http://schemas.microsoft.com/office/drawing/2014/main" id="{92692478-CF4E-CD41-CA76-4513B2CD2BE5}"/>
                </a:ext>
              </a:extLst>
            </p:cNvPr>
            <p:cNvSpPr txBox="1"/>
            <p:nvPr/>
          </p:nvSpPr>
          <p:spPr>
            <a:xfrm>
              <a:off x="5507352" y="2404650"/>
              <a:ext cx="1177295" cy="1766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2000" b="1" dirty="0">
                  <a:solidFill>
                    <a:schemeClr val="accent3"/>
                  </a:solidFill>
                  <a:latin typeface="+mn-ea"/>
                  <a:cs typeface="+mj-cs"/>
                </a:rPr>
                <a:t>融资请求</a:t>
              </a:r>
            </a:p>
          </p:txBody>
        </p:sp>
      </p:grpSp>
      <p:sp>
        <p:nvSpPr>
          <p:cNvPr id="118" name="文本框 2">
            <a:extLst>
              <a:ext uri="{FF2B5EF4-FFF2-40B4-BE49-F238E27FC236}">
                <a16:creationId xmlns:a16="http://schemas.microsoft.com/office/drawing/2014/main" id="{F466F8A8-1CC3-DDAC-9DFD-D2F4DA949EA8}"/>
              </a:ext>
            </a:extLst>
          </p:cNvPr>
          <p:cNvSpPr txBox="1"/>
          <p:nvPr/>
        </p:nvSpPr>
        <p:spPr>
          <a:xfrm>
            <a:off x="9119443" y="2474684"/>
            <a:ext cx="2029216" cy="7875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latin typeface="+mn-ea"/>
              </a:rPr>
              <a:t>用途：产品化开发</a:t>
            </a:r>
            <a:br>
              <a:rPr lang="en-US" altLang="zh-CN" sz="1600" dirty="0">
                <a:latin typeface="+mn-ea"/>
              </a:rPr>
            </a:br>
            <a:r>
              <a:rPr lang="en-US" altLang="zh-CN" sz="1600" dirty="0">
                <a:latin typeface="+mn-ea"/>
              </a:rPr>
              <a:t>         </a:t>
            </a:r>
            <a:r>
              <a:rPr lang="zh-CN" altLang="en-US" sz="1600" dirty="0">
                <a:latin typeface="+mn-ea"/>
              </a:rPr>
              <a:t>开源社区运营</a:t>
            </a:r>
          </a:p>
        </p:txBody>
      </p:sp>
      <p:sp>
        <p:nvSpPr>
          <p:cNvPr id="119" name="文本框 118">
            <a:extLst>
              <a:ext uri="{FF2B5EF4-FFF2-40B4-BE49-F238E27FC236}">
                <a16:creationId xmlns:a16="http://schemas.microsoft.com/office/drawing/2014/main" id="{98C33021-DD24-36C0-7680-2F1FF34BC344}"/>
              </a:ext>
            </a:extLst>
          </p:cNvPr>
          <p:cNvSpPr txBox="1"/>
          <p:nvPr/>
        </p:nvSpPr>
        <p:spPr>
          <a:xfrm>
            <a:off x="9203779" y="3546260"/>
            <a:ext cx="1804319" cy="19082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>
                <a:solidFill>
                  <a:schemeClr val="accent3"/>
                </a:solidFill>
                <a:latin typeface="+mn-ea"/>
                <a:cs typeface="+mj-cs"/>
              </a:rPr>
              <a:t>本轮目标：</a:t>
            </a:r>
            <a:endParaRPr lang="en-US" altLang="zh-CN" sz="2000" b="1" dirty="0">
              <a:solidFill>
                <a:schemeClr val="accent3"/>
              </a:solidFill>
              <a:latin typeface="+mn-ea"/>
              <a:cs typeface="+mj-cs"/>
            </a:endParaRPr>
          </a:p>
          <a:p>
            <a:pPr algn="ctr"/>
            <a:endParaRPr lang="en-US" altLang="zh-CN" dirty="0">
              <a:latin typeface="+mn-ea"/>
            </a:endParaRPr>
          </a:p>
          <a:p>
            <a:r>
              <a:rPr lang="zh-CN" altLang="en-US" sz="1600" dirty="0">
                <a:latin typeface="+mn-ea"/>
              </a:rPr>
              <a:t>做好开源社区，同时把已在真机运行、结果可信的引擎初步转化为产品</a:t>
            </a:r>
          </a:p>
        </p:txBody>
      </p:sp>
    </p:spTree>
    <p:extLst>
      <p:ext uri="{BB962C8B-B14F-4D97-AF65-F5344CB8AC3E}">
        <p14:creationId xmlns:p14="http://schemas.microsoft.com/office/powerpoint/2010/main" val="88121231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F2A2960-A104-4257-AF87-F1ADAC822F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14441" y="6082576"/>
            <a:ext cx="3204458" cy="230832"/>
          </a:xfrm>
        </p:spPr>
        <p:txBody>
          <a:bodyPr/>
          <a:lstStyle/>
          <a:p>
            <a:pPr marL="0" indent="0" algn="r">
              <a:buNone/>
            </a:pPr>
            <a:r>
              <a:rPr lang="en-US" altLang="zh-CN" dirty="0"/>
              <a:t>Speaker name and title</a:t>
            </a:r>
          </a:p>
        </p:txBody>
      </p:sp>
      <p:sp>
        <p:nvSpPr>
          <p:cNvPr id="10" name="文本占位符 9">
            <a:extLst>
              <a:ext uri="{FF2B5EF4-FFF2-40B4-BE49-F238E27FC236}">
                <a16:creationId xmlns:a16="http://schemas.microsoft.com/office/drawing/2014/main" id="{DB83E9D6-0C9A-4DDE-9CE9-F265BE4BE16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175000" y="2737247"/>
            <a:ext cx="5842001" cy="1383506"/>
          </a:xfrm>
        </p:spPr>
        <p:txBody>
          <a:bodyPr/>
          <a:lstStyle/>
          <a:p>
            <a:pPr marL="0" indent="0">
              <a:buNone/>
            </a:pPr>
            <a:r>
              <a:rPr lang="en-US" altLang="zh-CN" dirty="0"/>
              <a:t>Thank you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3623E65B-9124-4410-B0FB-686C8C06ABB7}"/>
              </a:ext>
            </a:extLst>
          </p:cNvPr>
          <p:cNvSpPr txBox="1"/>
          <p:nvPr/>
        </p:nvSpPr>
        <p:spPr>
          <a:xfrm>
            <a:off x="660400" y="600473"/>
            <a:ext cx="15744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LOGO H</a:t>
            </a:r>
            <a:r>
              <a:rPr lang="en-US" altLang="zh-CN" sz="133" b="1" dirty="0"/>
              <a:t> </a:t>
            </a:r>
            <a:r>
              <a:rPr lang="en-US" altLang="zh-CN" b="1" dirty="0"/>
              <a:t>ERE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77932614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Kind&quot;:&quot;System&quot;,&quot;OldGuidesSetting&quot;:{&quot;HeaderHeight&quot;:15.0,&quot;FooterHeight&quot;:9.0,&quot;SideMargin&quot;:5.5,&quot;TopMargin&quot;:0.0,&quot;BottomMargin&quot;:0.0,&quot;IntervalMargin&quot;:1.5}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VECTOR" val="#569076;"/>
  <p:tag name="ISLIDE.PICTURE" val="#VCG41525126413;#VCG41165696026;#VCG41N867002494;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654132;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589995;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230"/>
  <p:tag name="OP_SCP_COMPONENT_INFO" val="{&quot;title&quot;:&quot;渐变2项列表PPT组件&quot;,&quot;description&quot;:&quot;渐变2项列表PPT组件&quot;,&quot;keywords&quot;:[&quot;渐变&quot;,&quot;2项&quot;,&quot;列表&quot;,&quot;PPT组件&quot;],&quot;labels&quot;:[]}"/>
  <p:tag name="OP_SCP_GROUP_ID" val="a98e64a8-f5dd-5a2f-ba65-f5ebfb2cd4f6"/>
  <p:tag name="OP_SCP_ITEM_COUNT" val="2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2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2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添加文本，单击此处添加文本，单击此处添加文本，单击此处添加文本，单击此处添加文本，单击此处添加文本。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添加标题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ITEM_INDEX" val="1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，单击此处添加文本，单击此处添加文本，单击此处添加文本，单击此处添加文本，单击此处添加文本。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添加标题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541777;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590008;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541777;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537810;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541777;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DIAGRAM" val="#541777;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DATA_TYPE" val="OfficePlusSmartComponent"/>
  <p:tag name="OP_SCP_TAG_VERSION" val="1.0"/>
  <p:tag name="OP_SCP_CHANGE_COLOR" val="N"/>
  <p:tag name="OP_SCP_COMPONENT_TYPE" val="Relation"/>
  <p:tag name="OP_SCP_CONTENT_ID" val="MatlComponentContent-2219"/>
  <p:tag name="OP_SCP_COMPONENT_INFO" val="{&quot;title&quot;:&quot;圆环总分结构_3&quot;,&quot;description&quot;:&quot;蓝色,圆环,3项&quot;,&quot;keywords&quot;:[&quot;蓝色&quot;,&quot;圆环&quot;,&quot;3项&quot;],&quot;labels&quot;:[]}"/>
  <p:tag name="OP_SCP_GROUP_ID" val="5b689022-6cd5-f8f6-7fe1-11be546485d5"/>
  <p:tag name="OP_SCP_ITEM_COUNT" val="3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OPTEXTBOXGROUP" val="tru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3"/>
  <p:tag name="OP_SCP_DEFAULT_TEXT" val="03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3"/>
  <p:tag name="OP_SCP_DEFAULT_TEXT" val="输入标题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3"/>
  <p:tag name="OP_SCP_DEFAULT_TEXT" val="单击此处添加文本内容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2"/>
  <p:tag name="OP_SCP_DEFAULT_TEXT" val="02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2"/>
  <p:tag name="OP_SCP_DEFAULT_TEXT" val="输入标题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2"/>
  <p:tag name="OP_SCP_DEFAULT_TEXT" val="单击此处添加文本内容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Index"/>
  <p:tag name="OP_SCP_ITEM_INDEX" val="1"/>
  <p:tag name="OP_SCP_DEFAULT_TEXT" val="01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1"/>
  <p:tag name="OP_SCP_DEFAULT_TEXT" val="输入标题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1"/>
  <p:tag name="OP_SCP_DEFAULT_TEXT" val="单击此处添加文本内容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Title"/>
  <p:tag name="OP_SCP_ITEM_INDEX" val="0"/>
  <p:tag name="OP_SCP_DEFAULT_TEXT" val="输入标题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_SCP_SHAPE_TYPE" val="Body"/>
  <p:tag name="OP_SCP_ITEM_INDEX" val="0"/>
  <p:tag name="OP_SCP_DEFAULT_TEXT" val="点击添加内容"/>
</p:tagLst>
</file>

<file path=ppt/theme/theme1.xml><?xml version="1.0" encoding="utf-8"?>
<a:theme xmlns:a="http://schemas.openxmlformats.org/drawingml/2006/main" name="主题1">
  <a:themeElements>
    <a:clrScheme name="Office">
      <a:dk1>
        <a:srgbClr val="000000"/>
      </a:dk1>
      <a:lt1>
        <a:srgbClr val="FFFFFF"/>
      </a:lt1>
      <a:dk2>
        <a:srgbClr val="778495"/>
      </a:dk2>
      <a:lt2>
        <a:srgbClr val="F0F0F0"/>
      </a:lt2>
      <a:accent1>
        <a:srgbClr val="1E4DCD"/>
      </a:accent1>
      <a:accent2>
        <a:srgbClr val="FFFF00"/>
      </a:accent2>
      <a:accent3>
        <a:srgbClr val="01CDFE"/>
      </a:accent3>
      <a:accent4>
        <a:srgbClr val="014163"/>
      </a:accent4>
      <a:accent5>
        <a:srgbClr val="52D8B9"/>
      </a:accent5>
      <a:accent6>
        <a:srgbClr val="4276AA"/>
      </a:accent6>
      <a:hlink>
        <a:srgbClr val="4472C4"/>
      </a:hlink>
      <a:folHlink>
        <a:srgbClr val="BFBFBF"/>
      </a:folHlink>
    </a:clrScheme>
    <a:fontScheme name="主题标准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1" id="{FADC06E5-F6FD-43B6-A7FC-2E0633EE67FF}" vid="{FAB90306-471B-4F28-9DEE-1D9FBB0A2625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1E4DCD"/>
    </a:accent1>
    <a:accent2>
      <a:srgbClr val="FFFF00"/>
    </a:accent2>
    <a:accent3>
      <a:srgbClr val="01CDFE"/>
    </a:accent3>
    <a:accent4>
      <a:srgbClr val="014163"/>
    </a:accent4>
    <a:accent5>
      <a:srgbClr val="52D8B9"/>
    </a:accent5>
    <a:accent6>
      <a:srgbClr val="4276AA"/>
    </a:accent6>
    <a:hlink>
      <a:srgbClr val="4472C4"/>
    </a:hlink>
    <a:folHlink>
      <a:srgbClr val="BFBFBF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1E4DCD"/>
    </a:accent1>
    <a:accent2>
      <a:srgbClr val="FFFF00"/>
    </a:accent2>
    <a:accent3>
      <a:srgbClr val="01CDFE"/>
    </a:accent3>
    <a:accent4>
      <a:srgbClr val="014163"/>
    </a:accent4>
    <a:accent5>
      <a:srgbClr val="52D8B9"/>
    </a:accent5>
    <a:accent6>
      <a:srgbClr val="4276AA"/>
    </a:accent6>
    <a:hlink>
      <a:srgbClr val="4472C4"/>
    </a:hlink>
    <a:folHlink>
      <a:srgbClr val="BFBFBF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1E4DCD"/>
    </a:accent1>
    <a:accent2>
      <a:srgbClr val="FFFF00"/>
    </a:accent2>
    <a:accent3>
      <a:srgbClr val="01CDFE"/>
    </a:accent3>
    <a:accent4>
      <a:srgbClr val="014163"/>
    </a:accent4>
    <a:accent5>
      <a:srgbClr val="52D8B9"/>
    </a:accent5>
    <a:accent6>
      <a:srgbClr val="4276AA"/>
    </a:accent6>
    <a:hlink>
      <a:srgbClr val="4472C4"/>
    </a:hlink>
    <a:folHlink>
      <a:srgbClr val="BFBFBF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1E4DCD"/>
    </a:accent1>
    <a:accent2>
      <a:srgbClr val="FFFF00"/>
    </a:accent2>
    <a:accent3>
      <a:srgbClr val="01CDFE"/>
    </a:accent3>
    <a:accent4>
      <a:srgbClr val="014163"/>
    </a:accent4>
    <a:accent5>
      <a:srgbClr val="52D8B9"/>
    </a:accent5>
    <a:accent6>
      <a:srgbClr val="4276AA"/>
    </a:accent6>
    <a:hlink>
      <a:srgbClr val="4472C4"/>
    </a:hlink>
    <a:folHlink>
      <a:srgbClr val="BFBFBF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1E4DCD"/>
    </a:accent1>
    <a:accent2>
      <a:srgbClr val="FFFF00"/>
    </a:accent2>
    <a:accent3>
      <a:srgbClr val="01CDFE"/>
    </a:accent3>
    <a:accent4>
      <a:srgbClr val="014163"/>
    </a:accent4>
    <a:accent5>
      <a:srgbClr val="52D8B9"/>
    </a:accent5>
    <a:accent6>
      <a:srgbClr val="4276AA"/>
    </a:accent6>
    <a:hlink>
      <a:srgbClr val="4472C4"/>
    </a:hlink>
    <a:folHlink>
      <a:srgbClr val="BFBFBF"/>
    </a:folHlink>
  </a:clrScheme>
</a:themeOverride>
</file>

<file path=ppt/theme/themeOverride6.xml><?xml version="1.0" encoding="utf-8"?>
<a:themeOverride xmlns:a="http://schemas.openxmlformats.org/drawingml/2006/main">
  <a:clrScheme name="景色-冰湖">
    <a:dk1>
      <a:sysClr val="windowText" lastClr="000000"/>
    </a:dk1>
    <a:lt1>
      <a:sysClr val="window" lastClr="FFFFFF"/>
    </a:lt1>
    <a:dk2>
      <a:srgbClr val="000000"/>
    </a:dk2>
    <a:lt2>
      <a:srgbClr val="FFFFFF"/>
    </a:lt2>
    <a:accent1>
      <a:srgbClr val="69839E"/>
    </a:accent1>
    <a:accent2>
      <a:srgbClr val="6597CA"/>
    </a:accent2>
    <a:accent3>
      <a:srgbClr val="9CA8B8"/>
    </a:accent3>
    <a:accent4>
      <a:srgbClr val="87B6E2"/>
    </a:accent4>
    <a:accent5>
      <a:srgbClr val="B6BECB"/>
    </a:accent5>
    <a:accent6>
      <a:srgbClr val="B29385"/>
    </a:accent6>
    <a:hlink>
      <a:srgbClr val="0563C1"/>
    </a:hlink>
    <a:folHlink>
      <a:srgbClr val="954F72"/>
    </a:folHlink>
  </a:clrScheme>
  <a:fontScheme name="自定义 2">
    <a:majorFont>
      <a:latin typeface="Arial"/>
      <a:ea typeface="微软雅黑"/>
      <a:cs typeface=""/>
    </a:majorFont>
    <a:minorFont>
      <a:latin typeface="Arial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7.xml><?xml version="1.0" encoding="utf-8"?>
<a:themeOverride xmlns:a="http://schemas.openxmlformats.org/drawingml/2006/main">
  <a:clrScheme name="景色-冰湖">
    <a:dk1>
      <a:sysClr val="windowText" lastClr="000000"/>
    </a:dk1>
    <a:lt1>
      <a:sysClr val="window" lastClr="FFFFFF"/>
    </a:lt1>
    <a:dk2>
      <a:srgbClr val="000000"/>
    </a:dk2>
    <a:lt2>
      <a:srgbClr val="FFFFFF"/>
    </a:lt2>
    <a:accent1>
      <a:srgbClr val="69839E"/>
    </a:accent1>
    <a:accent2>
      <a:srgbClr val="6597CA"/>
    </a:accent2>
    <a:accent3>
      <a:srgbClr val="9CA8B8"/>
    </a:accent3>
    <a:accent4>
      <a:srgbClr val="87B6E2"/>
    </a:accent4>
    <a:accent5>
      <a:srgbClr val="B6BECB"/>
    </a:accent5>
    <a:accent6>
      <a:srgbClr val="B29385"/>
    </a:accent6>
    <a:hlink>
      <a:srgbClr val="0563C1"/>
    </a:hlink>
    <a:folHlink>
      <a:srgbClr val="954F72"/>
    </a:folHlink>
  </a:clrScheme>
  <a:fontScheme name="自定义 2">
    <a:majorFont>
      <a:latin typeface="Arial"/>
      <a:ea typeface="微软雅黑"/>
      <a:cs typeface=""/>
    </a:majorFont>
    <a:minorFont>
      <a:latin typeface="Arial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8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1E4DCD"/>
    </a:accent1>
    <a:accent2>
      <a:srgbClr val="FFFF00"/>
    </a:accent2>
    <a:accent3>
      <a:srgbClr val="01CDFE"/>
    </a:accent3>
    <a:accent4>
      <a:srgbClr val="014163"/>
    </a:accent4>
    <a:accent5>
      <a:srgbClr val="52D8B9"/>
    </a:accent5>
    <a:accent6>
      <a:srgbClr val="4276AA"/>
    </a:accent6>
    <a:hlink>
      <a:srgbClr val="4472C4"/>
    </a:hlink>
    <a:folHlink>
      <a:srgbClr val="BFBFBF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1E4DCD"/>
    </a:accent1>
    <a:accent2>
      <a:srgbClr val="FFFF00"/>
    </a:accent2>
    <a:accent3>
      <a:srgbClr val="01CDFE"/>
    </a:accent3>
    <a:accent4>
      <a:srgbClr val="014163"/>
    </a:accent4>
    <a:accent5>
      <a:srgbClr val="52D8B9"/>
    </a:accent5>
    <a:accent6>
      <a:srgbClr val="4276AA"/>
    </a:accent6>
    <a:hlink>
      <a:srgbClr val="4472C4"/>
    </a:hlink>
    <a:folHlink>
      <a:srgbClr val="BFBFBF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1E4DCD"/>
    </a:accent1>
    <a:accent2>
      <a:srgbClr val="FFFF00"/>
    </a:accent2>
    <a:accent3>
      <a:srgbClr val="01CDFE"/>
    </a:accent3>
    <a:accent4>
      <a:srgbClr val="014163"/>
    </a:accent4>
    <a:accent5>
      <a:srgbClr val="52D8B9"/>
    </a:accent5>
    <a:accent6>
      <a:srgbClr val="4276AA"/>
    </a:accent6>
    <a:hlink>
      <a:srgbClr val="4472C4"/>
    </a:hlink>
    <a:folHlink>
      <a:srgbClr val="BFBFBF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778495"/>
    </a:dk2>
    <a:lt2>
      <a:srgbClr val="F0F0F0"/>
    </a:lt2>
    <a:accent1>
      <a:srgbClr val="1E4DCD"/>
    </a:accent1>
    <a:accent2>
      <a:srgbClr val="FFFF00"/>
    </a:accent2>
    <a:accent3>
      <a:srgbClr val="01CDFE"/>
    </a:accent3>
    <a:accent4>
      <a:srgbClr val="014163"/>
    </a:accent4>
    <a:accent5>
      <a:srgbClr val="52D8B9"/>
    </a:accent5>
    <a:accent6>
      <a:srgbClr val="4276AA"/>
    </a:accent6>
    <a:hlink>
      <a:srgbClr val="4472C4"/>
    </a:hlink>
    <a:folHlink>
      <a:srgbClr val="BFBFBF"/>
    </a:folHlink>
  </a:clrScheme>
</a:themeOverride>
</file>

<file path=docMetadata/LabelInfo.xml><?xml version="1.0" encoding="utf-8"?>
<clbl:labelList xmlns:clbl="http://schemas.microsoft.com/office/2020/mipLabelMetadata">
  <clbl:label id="{f42aa342-8706-4288-bd11-ebb85995028c}" enabled="1" method="Standar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23272</TotalTime>
  <Words>1230</Words>
  <Application>Microsoft Office PowerPoint</Application>
  <PresentationFormat>宽屏</PresentationFormat>
  <Paragraphs>151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9" baseType="lpstr">
      <vt:lpstr>quote-cjk-patch</vt:lpstr>
      <vt:lpstr>等线</vt:lpstr>
      <vt:lpstr>Arial</vt:lpstr>
      <vt:lpstr>主题1</vt:lpstr>
      <vt:lpstr>ARGUS 商业计划书 全天候 全领域AI研究引擎</vt:lpstr>
      <vt:lpstr>PowerPoint 演示文稿</vt:lpstr>
      <vt:lpstr>痛点与机会</vt:lpstr>
      <vt:lpstr>PowerPoint 演示文稿</vt:lpstr>
      <vt:lpstr>PowerPoint 演示文稿</vt:lpstr>
      <vt:lpstr>产品与项目进展</vt:lpstr>
      <vt:lpstr>PowerPoint 演示文稿</vt:lpstr>
      <vt:lpstr>PowerPoint 演示文稿</vt:lpstr>
      <vt:lpstr>团队</vt:lpstr>
      <vt:lpstr>PowerPoint 演示文稿</vt:lpstr>
      <vt:lpstr>财务计划与预测</vt:lpstr>
      <vt:lpstr>资金用途总览：钱会花在哪</vt:lpstr>
      <vt:lpstr>详细成本拆解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iSlide PowerPoint  Standard Template</dc:title>
  <dc:creator>牟姝彦</dc:creator>
  <cp:lastModifiedBy>dou comma</cp:lastModifiedBy>
  <cp:revision>176</cp:revision>
  <dcterms:created xsi:type="dcterms:W3CDTF">2021-01-18T05:36:37Z</dcterms:created>
  <dcterms:modified xsi:type="dcterms:W3CDTF">2026-07-06T06:37:42Z</dcterms:modified>
</cp:coreProperties>
</file>